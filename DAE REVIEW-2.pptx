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73" r:id="rId6"/>
    <p:sldId id="260" r:id="rId7"/>
    <p:sldId id="261" r:id="rId8"/>
    <p:sldId id="263" r:id="rId9"/>
    <p:sldId id="274" r:id="rId10"/>
    <p:sldId id="275" r:id="rId11"/>
    <p:sldId id="265" r:id="rId12"/>
    <p:sldId id="266" r:id="rId13"/>
    <p:sldId id="267" r:id="rId14"/>
    <p:sldId id="268"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1"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showGuides="1">
      <p:cViewPr varScale="1">
        <p:scale>
          <a:sx n="78" d="100"/>
          <a:sy n="78" d="100"/>
        </p:scale>
        <p:origin x="850" y="62"/>
      </p:cViewPr>
      <p:guideLst>
        <p:guide orient="horz" pos="2111"/>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00947" y="1143000"/>
            <a:ext cx="7159625" cy="1922145"/>
          </a:xfrm>
          <a:prstGeom prst="rect">
            <a:avLst/>
          </a:prstGeom>
          <a:noFill/>
        </p:spPr>
        <p:txBody>
          <a:bodyPr wrap="none">
            <a:spAutoFit/>
          </a:bodyPr>
          <a:lstStyle/>
          <a:p>
            <a:pPr algn="ctr">
              <a:defRPr sz="3400" b="1">
                <a:solidFill>
                  <a:srgbClr val="1F3756"/>
                </a:solidFill>
              </a:defRPr>
            </a:pPr>
            <a:r>
              <a:t>Data Analysis Essentials</a:t>
            </a:r>
            <a:br/>
            <a:r>
              <a:t>Cornerstone Project — Second Review</a:t>
            </a:r>
            <a:br/>
            <a:br/>
            <a:r>
              <a:t>WEB BASED PRODUCT TRACKING SYSTEM</a:t>
            </a:r>
            <a:endParaRPr dirty="0"/>
          </a:p>
        </p:txBody>
      </p:sp>
      <p:sp>
        <p:nvSpPr>
          <p:cNvPr id="4" name="Rounded Rectangle 3"/>
          <p:cNvSpPr/>
          <p:nvPr/>
        </p:nvSpPr>
        <p:spPr>
          <a:xfrm>
            <a:off x="777240" y="3749039"/>
            <a:ext cx="5212080" cy="123444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41832" y="3877055"/>
            <a:ext cx="4882896" cy="900246"/>
          </a:xfrm>
          <a:prstGeom prst="rect">
            <a:avLst/>
          </a:prstGeom>
          <a:noFill/>
        </p:spPr>
        <p:txBody>
          <a:bodyPr wrap="square">
            <a:spAutoFit/>
          </a:bodyPr>
          <a:lstStyle/>
          <a:p>
            <a:pPr>
              <a:defRPr sz="1500" b="1">
                <a:solidFill>
                  <a:srgbClr val="1F3756"/>
                </a:solidFill>
              </a:defRPr>
            </a:pPr>
            <a:r>
              <a:rPr dirty="0"/>
              <a:t>Presented by</a:t>
            </a:r>
          </a:p>
          <a:p>
            <a:pPr>
              <a:defRPr sz="1250">
                <a:solidFill>
                  <a:srgbClr val="2D2D2D"/>
                </a:solidFill>
              </a:defRPr>
            </a:pPr>
            <a:r>
              <a:rPr dirty="0"/>
              <a:t>[</a:t>
            </a:r>
            <a:r>
              <a:rPr lang="en-US" dirty="0"/>
              <a:t>R. Thanuja</a:t>
            </a:r>
            <a:r>
              <a:rPr dirty="0"/>
              <a:t> – Roll No.</a:t>
            </a:r>
            <a:r>
              <a:rPr lang="en-IN" dirty="0"/>
              <a:t> 25B11AIA34</a:t>
            </a:r>
            <a:r>
              <a:rPr dirty="0"/>
              <a:t>]</a:t>
            </a:r>
            <a:br>
              <a:rPr dirty="0"/>
            </a:br>
            <a:r>
              <a:rPr dirty="0"/>
              <a:t>[</a:t>
            </a:r>
            <a:r>
              <a:rPr lang="en-US" dirty="0"/>
              <a:t>G. Akshaya</a:t>
            </a:r>
            <a:r>
              <a:rPr dirty="0"/>
              <a:t> – Roll No.</a:t>
            </a:r>
            <a:r>
              <a:rPr lang="en-IN" dirty="0">
                <a:sym typeface="+mn-ea"/>
              </a:rPr>
              <a:t>25B11AI</a:t>
            </a:r>
            <a:r>
              <a:rPr lang="en-IN" dirty="0"/>
              <a:t>328</a:t>
            </a:r>
            <a:r>
              <a:rPr dirty="0"/>
              <a:t>]</a:t>
            </a:r>
            <a:br>
              <a:rPr dirty="0"/>
            </a:br>
            <a:r>
              <a:rPr dirty="0"/>
              <a:t>[</a:t>
            </a:r>
            <a:r>
              <a:rPr lang="en-US" dirty="0"/>
              <a:t>Y. </a:t>
            </a:r>
            <a:r>
              <a:rPr lang="en-US" dirty="0" err="1"/>
              <a:t>Aasmitha</a:t>
            </a:r>
            <a:r>
              <a:rPr dirty="0"/>
              <a:t> – Roll No.</a:t>
            </a:r>
            <a:r>
              <a:rPr lang="en-IN" dirty="0">
                <a:sym typeface="+mn-ea"/>
              </a:rPr>
              <a:t>25B11AI</a:t>
            </a:r>
            <a:r>
              <a:rPr lang="en-IN" dirty="0"/>
              <a:t>D10</a:t>
            </a:r>
            <a:r>
              <a:rPr dirty="0"/>
              <a:t>]</a:t>
            </a:r>
          </a:p>
        </p:txBody>
      </p:sp>
      <p:sp>
        <p:nvSpPr>
          <p:cNvPr id="6" name="Rounded Rectangle 5"/>
          <p:cNvSpPr/>
          <p:nvPr/>
        </p:nvSpPr>
        <p:spPr>
          <a:xfrm>
            <a:off x="6263640" y="3749039"/>
            <a:ext cx="4937760" cy="123444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28231" y="3877055"/>
            <a:ext cx="4608576" cy="746358"/>
          </a:xfrm>
          <a:prstGeom prst="rect">
            <a:avLst/>
          </a:prstGeom>
          <a:noFill/>
        </p:spPr>
        <p:txBody>
          <a:bodyPr wrap="square">
            <a:spAutoFit/>
          </a:bodyPr>
          <a:lstStyle/>
          <a:p>
            <a:pPr>
              <a:defRPr sz="1500" b="1">
                <a:solidFill>
                  <a:srgbClr val="1F3756"/>
                </a:solidFill>
              </a:defRPr>
            </a:pPr>
            <a:r>
              <a:rPr dirty="0"/>
              <a:t>Department</a:t>
            </a:r>
            <a:endParaRPr lang="en-IN" dirty="0"/>
          </a:p>
          <a:p>
            <a:pPr>
              <a:defRPr sz="1500" b="1">
                <a:solidFill>
                  <a:srgbClr val="1F3756"/>
                </a:solidFill>
              </a:defRPr>
            </a:pPr>
            <a:endParaRPr dirty="0"/>
          </a:p>
          <a:p>
            <a:pPr>
              <a:defRPr sz="1250">
                <a:solidFill>
                  <a:srgbClr val="2D2D2D"/>
                </a:solidFill>
              </a:defRPr>
            </a:pPr>
            <a:r>
              <a:rPr dirty="0"/>
              <a:t>Department of Artificial Intelligence &amp; Machine Learning</a:t>
            </a:r>
          </a:p>
        </p:txBody>
      </p:sp>
      <p:pic>
        <p:nvPicPr>
          <p:cNvPr id="9" name="object 2"/>
          <p:cNvPicPr/>
          <p:nvPr/>
        </p:nvPicPr>
        <p:blipFill>
          <a:blip r:embed="rId2" cstate="print"/>
          <a:stretch>
            <a:fillRect/>
          </a:stretch>
        </p:blipFill>
        <p:spPr>
          <a:xfrm>
            <a:off x="3383280" y="270433"/>
            <a:ext cx="4610910" cy="62864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1636" y="1032827"/>
            <a:ext cx="10215104" cy="984885"/>
          </a:xfrm>
          <a:prstGeom prst="rect">
            <a:avLst/>
          </a:prstGeom>
          <a:noFill/>
        </p:spPr>
        <p:txBody>
          <a:bodyPr wrap="none">
            <a:spAutoFit/>
          </a:bodyPr>
          <a:lstStyle/>
          <a:p>
            <a:pPr>
              <a:defRPr sz="2600" b="1">
                <a:solidFill>
                  <a:srgbClr val="1F3756"/>
                </a:solidFill>
              </a:defRPr>
            </a:pPr>
            <a:r>
              <a:rPr lang="en-IN" sz="3200" b="1" dirty="0">
                <a:solidFill>
                  <a:srgbClr val="1F3756"/>
                </a:solidFill>
              </a:rPr>
              <a:t>Second Review – Project Implementation &amp; Demonstration</a:t>
            </a:r>
          </a:p>
          <a:p>
            <a:pPr>
              <a:defRPr sz="2600" b="1">
                <a:solidFill>
                  <a:srgbClr val="1F3756"/>
                </a:solidFill>
              </a:defRPr>
            </a:pPr>
            <a:endParaRPr dirty="0"/>
          </a:p>
        </p:txBody>
      </p:sp>
      <p:sp>
        <p:nvSpPr>
          <p:cNvPr id="5" name="Rounded Rectangle 4"/>
          <p:cNvSpPr/>
          <p:nvPr/>
        </p:nvSpPr>
        <p:spPr>
          <a:xfrm>
            <a:off x="640080" y="2263140"/>
            <a:ext cx="3474720" cy="1792098"/>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62431" y="2422172"/>
            <a:ext cx="3513455" cy="1560195"/>
          </a:xfrm>
          <a:prstGeom prst="rect">
            <a:avLst/>
          </a:prstGeom>
          <a:noFill/>
        </p:spPr>
        <p:txBody>
          <a:bodyPr wrap="square">
            <a:noAutofit/>
          </a:bodyPr>
          <a:lstStyle/>
          <a:p>
            <a:pPr>
              <a:defRPr sz="1500" b="1">
                <a:solidFill>
                  <a:srgbClr val="1F3756"/>
                </a:solidFill>
              </a:defRPr>
            </a:pPr>
            <a:r>
              <a:rPr sz="1600" b="1" dirty="0"/>
              <a:t>1. Python System Implementation</a:t>
            </a:r>
            <a:endParaRPr lang="en-IN" sz="1600" b="1" dirty="0"/>
          </a:p>
          <a:p>
            <a:pPr>
              <a:defRPr sz="1500" b="1">
                <a:solidFill>
                  <a:srgbClr val="1F3756"/>
                </a:solidFill>
              </a:defRPr>
            </a:pPr>
            <a:endParaRPr lang="en-US" altLang="en-US" sz="1600" dirty="0"/>
          </a:p>
          <a:p>
            <a:pPr algn="just"/>
            <a:r>
              <a:rPr sz="1450" b="0" dirty="0"/>
              <a:t>Developed a working Python-based web product tracking system.</a:t>
            </a:r>
            <a:r>
              <a:rPr lang="en-IN" sz="1450" b="0" dirty="0"/>
              <a:t> </a:t>
            </a:r>
          </a:p>
          <a:p>
            <a:pPr algn="just"/>
            <a:r>
              <a:rPr sz="1450" dirty="0"/>
              <a:t>Implemented product search</a:t>
            </a:r>
            <a:r>
              <a:rPr lang="en-IN" sz="1450" dirty="0"/>
              <a:t>,</a:t>
            </a:r>
            <a:r>
              <a:rPr sz="1450" dirty="0"/>
              <a:t>tracking and status handling.</a:t>
            </a:r>
          </a:p>
        </p:txBody>
      </p:sp>
      <p:sp>
        <p:nvSpPr>
          <p:cNvPr id="7" name="Rounded Rectangle 6"/>
          <p:cNvSpPr/>
          <p:nvPr/>
        </p:nvSpPr>
        <p:spPr>
          <a:xfrm>
            <a:off x="4343400" y="2263140"/>
            <a:ext cx="3474720" cy="1792098"/>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p:cNvSpPr txBox="1"/>
          <p:nvPr/>
        </p:nvSpPr>
        <p:spPr>
          <a:xfrm>
            <a:off x="4405249" y="2175670"/>
            <a:ext cx="3145536" cy="1708160"/>
          </a:xfrm>
          <a:prstGeom prst="rect">
            <a:avLst/>
          </a:prstGeom>
          <a:noFill/>
        </p:spPr>
        <p:txBody>
          <a:bodyPr wrap="square">
            <a:spAutoFit/>
          </a:bodyPr>
          <a:lstStyle/>
          <a:p>
            <a:pPr>
              <a:defRPr sz="1500" b="1">
                <a:solidFill>
                  <a:srgbClr val="1F3756"/>
                </a:solidFill>
              </a:defRPr>
            </a:pPr>
            <a:endParaRPr lang="en-US" b="1" dirty="0"/>
          </a:p>
          <a:p>
            <a:pPr>
              <a:defRPr sz="1500" b="1">
                <a:solidFill>
                  <a:srgbClr val="1F3756"/>
                </a:solidFill>
              </a:defRPr>
            </a:pPr>
            <a:r>
              <a:rPr b="1" dirty="0"/>
              <a:t>2. Python Data Handling</a:t>
            </a:r>
            <a:endParaRPr lang="en-IN" b="1" dirty="0"/>
          </a:p>
          <a:p>
            <a:pPr>
              <a:defRPr sz="1500" b="1">
                <a:solidFill>
                  <a:srgbClr val="1F3756"/>
                </a:solidFill>
              </a:defRPr>
            </a:pPr>
            <a:endParaRPr lang="en-US" altLang="en-US" sz="1500" dirty="0"/>
          </a:p>
          <a:p>
            <a:pPr algn="just"/>
            <a:r>
              <a:rPr sz="1450" b="0" dirty="0"/>
              <a:t>Used Python and Pandas to load, clean, organize and analyze product-tracking records.</a:t>
            </a:r>
            <a:r>
              <a:rPr lang="en-IN" sz="1450" dirty="0"/>
              <a:t> </a:t>
            </a:r>
            <a:r>
              <a:rPr sz="1450" dirty="0"/>
              <a:t>Prepared structured data for analysis and visualization.</a:t>
            </a:r>
          </a:p>
        </p:txBody>
      </p:sp>
      <p:sp>
        <p:nvSpPr>
          <p:cNvPr id="9" name="Rounded Rectangle 8"/>
          <p:cNvSpPr/>
          <p:nvPr/>
        </p:nvSpPr>
        <p:spPr>
          <a:xfrm>
            <a:off x="8028305" y="2263140"/>
            <a:ext cx="3474720" cy="1800351"/>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0" y="2338669"/>
            <a:ext cx="3474719" cy="1727200"/>
          </a:xfrm>
          <a:prstGeom prst="rect">
            <a:avLst/>
          </a:prstGeom>
          <a:noFill/>
        </p:spPr>
        <p:txBody>
          <a:bodyPr wrap="square">
            <a:noAutofit/>
          </a:bodyPr>
          <a:lstStyle/>
          <a:p>
            <a:pPr>
              <a:defRPr sz="1500" b="1">
                <a:solidFill>
                  <a:srgbClr val="1F3756"/>
                </a:solidFill>
              </a:defRPr>
            </a:pPr>
            <a:r>
              <a:rPr sz="1600" b="1" dirty="0"/>
              <a:t>3. </a:t>
            </a:r>
            <a:r>
              <a:rPr lang="en-IN" sz="1600" b="1" dirty="0"/>
              <a:t>Analysis</a:t>
            </a:r>
          </a:p>
          <a:p>
            <a:pPr>
              <a:defRPr sz="1500" b="1">
                <a:solidFill>
                  <a:srgbClr val="1F3756"/>
                </a:solidFill>
              </a:defRPr>
            </a:pPr>
            <a:endParaRPr lang="en-IN" sz="1600" b="1" dirty="0"/>
          </a:p>
          <a:p>
            <a:pPr algn="just"/>
            <a:r>
              <a:rPr lang="en-IN" sz="1400" dirty="0"/>
              <a:t>Identifies patterns in product categories, prices, ratings, stock status, payment methods, and order trends, helping understand product performance and customer activity</a:t>
            </a:r>
            <a:r>
              <a:rPr lang="en-IN" sz="1400" b="1" dirty="0"/>
              <a:t>.</a:t>
            </a:r>
            <a:r>
              <a:rPr lang="en-US" sz="1400" dirty="0"/>
              <a:t>.</a:t>
            </a:r>
            <a:endParaRPr sz="1400" dirty="0"/>
          </a:p>
        </p:txBody>
      </p:sp>
      <p:sp>
        <p:nvSpPr>
          <p:cNvPr id="11" name="Rounded Rectangle 10"/>
          <p:cNvSpPr/>
          <p:nvPr/>
        </p:nvSpPr>
        <p:spPr>
          <a:xfrm>
            <a:off x="640080" y="4534812"/>
            <a:ext cx="3474720" cy="1581508"/>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0560" y="4408187"/>
            <a:ext cx="2915920" cy="1500411"/>
          </a:xfrm>
          <a:prstGeom prst="rect">
            <a:avLst/>
          </a:prstGeom>
          <a:noFill/>
        </p:spPr>
        <p:txBody>
          <a:bodyPr wrap="square">
            <a:spAutoFit/>
          </a:bodyPr>
          <a:lstStyle/>
          <a:p>
            <a:pPr>
              <a:defRPr sz="1500" b="1">
                <a:solidFill>
                  <a:srgbClr val="1F3756"/>
                </a:solidFill>
              </a:defRPr>
            </a:pPr>
            <a:r>
              <a:rPr lang="en-US" sz="1600" b="1" dirty="0"/>
              <a:t>  </a:t>
            </a:r>
          </a:p>
          <a:p>
            <a:pPr>
              <a:defRPr sz="1500" b="1">
                <a:solidFill>
                  <a:srgbClr val="1F3756"/>
                </a:solidFill>
              </a:defRPr>
            </a:pPr>
            <a:r>
              <a:rPr sz="1600" b="1" dirty="0"/>
              <a:t>4. </a:t>
            </a:r>
            <a:r>
              <a:rPr lang="en-IN" sz="1600" b="1" dirty="0"/>
              <a:t>visualization</a:t>
            </a:r>
            <a:endParaRPr lang="en-US" sz="1600" b="1" dirty="0"/>
          </a:p>
          <a:p>
            <a:pPr>
              <a:defRPr sz="1500" b="1">
                <a:solidFill>
                  <a:srgbClr val="1F3756"/>
                </a:solidFill>
              </a:defRPr>
            </a:pPr>
            <a:endParaRPr lang="en-US" altLang="en-US" sz="1600" dirty="0"/>
          </a:p>
          <a:p>
            <a:pPr algn="just"/>
            <a:r>
              <a:rPr lang="en-IN" sz="1450" dirty="0"/>
              <a:t>Visual representation of product categories, stock status, pricing, ratings, and order trends</a:t>
            </a:r>
            <a:r>
              <a:rPr sz="1450" dirty="0"/>
              <a:t>.</a:t>
            </a:r>
          </a:p>
        </p:txBody>
      </p:sp>
      <p:sp>
        <p:nvSpPr>
          <p:cNvPr id="13" name="Rounded Rectangle 12"/>
          <p:cNvSpPr/>
          <p:nvPr/>
        </p:nvSpPr>
        <p:spPr>
          <a:xfrm>
            <a:off x="4343400" y="4496899"/>
            <a:ext cx="3474720" cy="1644253"/>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78262" y="4386827"/>
            <a:ext cx="3439858" cy="1500411"/>
          </a:xfrm>
          <a:prstGeom prst="rect">
            <a:avLst/>
          </a:prstGeom>
          <a:noFill/>
        </p:spPr>
        <p:txBody>
          <a:bodyPr wrap="square">
            <a:spAutoFit/>
          </a:bodyPr>
          <a:lstStyle/>
          <a:p>
            <a:pPr>
              <a:defRPr sz="1500" b="1">
                <a:solidFill>
                  <a:srgbClr val="1F3756"/>
                </a:solidFill>
              </a:defRPr>
            </a:pPr>
            <a:endParaRPr lang="en-IN" sz="1600" b="1" dirty="0"/>
          </a:p>
          <a:p>
            <a:pPr>
              <a:defRPr sz="1500" b="1">
                <a:solidFill>
                  <a:srgbClr val="1F3756"/>
                </a:solidFill>
              </a:defRPr>
            </a:pPr>
            <a:r>
              <a:rPr sz="1600" b="1" dirty="0"/>
              <a:t>5. Data Analysis Results</a:t>
            </a:r>
            <a:endParaRPr lang="en-IN" sz="1600" b="1" dirty="0"/>
          </a:p>
          <a:p>
            <a:pPr>
              <a:defRPr sz="1500" b="1">
                <a:solidFill>
                  <a:srgbClr val="1F3756"/>
                </a:solidFill>
              </a:defRPr>
            </a:pPr>
            <a:endParaRPr sz="1600" dirty="0"/>
          </a:p>
          <a:p>
            <a:pPr algn="just"/>
            <a:r>
              <a:rPr sz="1450" b="0" dirty="0"/>
              <a:t>Product records were cleaned and analyzed using Python.</a:t>
            </a:r>
            <a:r>
              <a:rPr lang="en-IN" sz="1450" b="0" dirty="0"/>
              <a:t> </a:t>
            </a:r>
            <a:r>
              <a:rPr sz="1450" dirty="0"/>
              <a:t>Charts reveal category, order and tracking-status patterns.</a:t>
            </a:r>
          </a:p>
        </p:txBody>
      </p:sp>
      <p:sp>
        <p:nvSpPr>
          <p:cNvPr id="15" name="Rounded Rectangle 14"/>
          <p:cNvSpPr/>
          <p:nvPr/>
        </p:nvSpPr>
        <p:spPr>
          <a:xfrm>
            <a:off x="8046720" y="4489450"/>
            <a:ext cx="3474720" cy="1626235"/>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046720" y="4627962"/>
            <a:ext cx="3145536" cy="1292662"/>
          </a:xfrm>
          <a:prstGeom prst="rect">
            <a:avLst/>
          </a:prstGeom>
          <a:noFill/>
        </p:spPr>
        <p:txBody>
          <a:bodyPr wrap="square">
            <a:spAutoFit/>
          </a:bodyPr>
          <a:lstStyle/>
          <a:p>
            <a:pPr>
              <a:defRPr sz="1500" b="1">
                <a:solidFill>
                  <a:srgbClr val="1F3756"/>
                </a:solidFill>
              </a:defRPr>
            </a:pPr>
            <a:r>
              <a:rPr sz="1600" b="1" dirty="0"/>
              <a:t>6. Presentation</a:t>
            </a:r>
            <a:endParaRPr sz="1600" dirty="0"/>
          </a:p>
          <a:p>
            <a:endParaRPr sz="1600" dirty="0"/>
          </a:p>
          <a:p>
            <a:pPr algn="just"/>
            <a:r>
              <a:rPr sz="1450" b="0" dirty="0"/>
              <a:t>Working Python application, code, analysis charts and system workflow are demonstrated.</a:t>
            </a:r>
          </a:p>
        </p:txBody>
      </p:sp>
      <p:pic>
        <p:nvPicPr>
          <p:cNvPr id="54" name="object 3"/>
          <p:cNvPicPr/>
          <p:nvPr/>
        </p:nvPicPr>
        <p:blipFill>
          <a:blip r:embed="rId2" cstate="print"/>
          <a:stretch>
            <a:fillRect/>
          </a:stretch>
        </p:blipFill>
        <p:spPr>
          <a:xfrm>
            <a:off x="290749" y="280510"/>
            <a:ext cx="1488889" cy="59435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90749" y="1195508"/>
            <a:ext cx="9081770" cy="491490"/>
          </a:xfrm>
          <a:prstGeom prst="rect">
            <a:avLst/>
          </a:prstGeom>
          <a:noFill/>
        </p:spPr>
        <p:txBody>
          <a:bodyPr wrap="none">
            <a:spAutoFit/>
          </a:bodyPr>
          <a:lstStyle/>
          <a:p>
            <a:pPr>
              <a:defRPr sz="2600" b="1">
                <a:solidFill>
                  <a:srgbClr val="1F3756"/>
                </a:solidFill>
              </a:defRPr>
            </a:pPr>
            <a:r>
              <a:t>Product Tracking</a:t>
            </a:r>
            <a:endParaRPr lang="en-IN" dirty="0"/>
          </a:p>
        </p:txBody>
      </p:sp>
      <p:sp>
        <p:nvSpPr>
          <p:cNvPr id="4" name="TextBox 3"/>
          <p:cNvSpPr txBox="1"/>
          <p:nvPr/>
        </p:nvSpPr>
        <p:spPr>
          <a:xfrm>
            <a:off x="359538" y="1948755"/>
            <a:ext cx="6681342" cy="4190891"/>
          </a:xfrm>
          <a:prstGeom prst="rect">
            <a:avLst/>
          </a:prstGeom>
          <a:noFill/>
        </p:spPr>
        <p:txBody>
          <a:bodyPr wrap="square">
            <a:spAutoFit/>
          </a:bodyPr>
          <a:lstStyle/>
          <a:p>
            <a:pPr>
              <a:spcAft>
                <a:spcPts val="1000"/>
              </a:spcAft>
              <a:defRPr sz="1500">
                <a:solidFill>
                  <a:srgbClr val="2D2D2D"/>
                </a:solidFill>
              </a:defRPr>
            </a:pPr>
            <a:r>
              <a:rPr lang="en-US" sz="1600" b="1" dirty="0"/>
              <a:t>Problem :  </a:t>
            </a:r>
            <a:r>
              <a:rPr lang="en-US" altLang="en-US" sz="1600" dirty="0"/>
              <a:t>In traditional product management, tracking product information manually can be difficult. Users may not know the current status or location of their product, while administrators may find it difficult to maintain updated product records</a:t>
            </a:r>
            <a:r>
              <a:rPr lang="en-US" altLang="en-US" sz="1600" b="1" dirty="0"/>
              <a:t>.</a:t>
            </a:r>
          </a:p>
          <a:p>
            <a:pPr>
              <a:spcAft>
                <a:spcPts val="1000"/>
              </a:spcAft>
              <a:defRPr sz="1500">
                <a:solidFill>
                  <a:srgbClr val="2D2D2D"/>
                </a:solidFill>
              </a:defRPr>
            </a:pPr>
            <a:r>
              <a:rPr lang="en-US" sz="1600" b="1" dirty="0"/>
              <a:t>Objective : </a:t>
            </a:r>
            <a:r>
              <a:rPr lang="en-US" altLang="en-US" sz="1600" dirty="0"/>
              <a:t>To develop a web-based system that allows users and administrators to manage, track and monitor products efficiently.</a:t>
            </a:r>
          </a:p>
          <a:p>
            <a:pPr>
              <a:spcAft>
                <a:spcPts val="1000"/>
              </a:spcAft>
              <a:defRPr sz="1500">
                <a:solidFill>
                  <a:srgbClr val="2D2D2D"/>
                </a:solidFill>
              </a:defRPr>
            </a:pPr>
            <a:r>
              <a:rPr lang="en-US" sz="1600" b="1" dirty="0"/>
              <a:t>Domain :</a:t>
            </a:r>
          </a:p>
          <a:p>
            <a:pPr>
              <a:spcAft>
                <a:spcPts val="1000"/>
              </a:spcAft>
              <a:defRPr sz="1500">
                <a:solidFill>
                  <a:srgbClr val="2D2D2D"/>
                </a:solidFill>
              </a:defRPr>
            </a:pPr>
            <a:r>
              <a:rPr lang="en-US" altLang="en-US" sz="1600" dirty="0"/>
              <a:t>E-Commerce / Product Management / Web Application</a:t>
            </a:r>
          </a:p>
          <a:p>
            <a:pPr>
              <a:spcAft>
                <a:spcPts val="1000"/>
              </a:spcAft>
              <a:defRPr sz="1500">
                <a:solidFill>
                  <a:srgbClr val="2D2D2D"/>
                </a:solidFill>
              </a:defRPr>
            </a:pPr>
            <a:r>
              <a:rPr lang="en-US" sz="1600" dirty="0"/>
              <a:t>Dataset used in this example: 170 raw records, 9 columns; 170 records after duplicate removal.</a:t>
            </a:r>
          </a:p>
          <a:p>
            <a:pPr>
              <a:spcAft>
                <a:spcPts val="1000"/>
              </a:spcAft>
              <a:defRPr sz="1500">
                <a:solidFill>
                  <a:srgbClr val="2D2D2D"/>
                </a:solidFill>
              </a:defRPr>
            </a:pPr>
            <a:endParaRPr lang="en-US" sz="1600" dirty="0"/>
          </a:p>
          <a:p>
            <a:pPr>
              <a:spcAft>
                <a:spcPts val="1000"/>
              </a:spcAft>
              <a:defRPr sz="1500">
                <a:solidFill>
                  <a:srgbClr val="2D2D2D"/>
                </a:solidFill>
              </a:defRPr>
            </a:pPr>
            <a:r>
              <a:rPr lang="en-US" altLang="en-US" sz="1600" b="1" dirty="0"/>
              <a:t>Main Outcome</a:t>
            </a:r>
          </a:p>
          <a:p>
            <a:pPr>
              <a:spcAft>
                <a:spcPts val="1000"/>
              </a:spcAft>
              <a:defRPr sz="1500">
                <a:solidFill>
                  <a:srgbClr val="2D2D2D"/>
                </a:solidFill>
              </a:defRPr>
            </a:pPr>
            <a:r>
              <a:rPr lang="en-US" altLang="en-US" sz="1600" dirty="0"/>
              <a:t>A working web application that provides:</a:t>
            </a:r>
          </a:p>
        </p:txBody>
      </p:sp>
      <p:sp>
        <p:nvSpPr>
          <p:cNvPr id="5" name="Rounded Rectangle 4"/>
          <p:cNvSpPr/>
          <p:nvPr/>
        </p:nvSpPr>
        <p:spPr>
          <a:xfrm>
            <a:off x="7242175" y="1983740"/>
            <a:ext cx="4069080" cy="72136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092566" y="2182181"/>
            <a:ext cx="3739896" cy="645160"/>
          </a:xfrm>
          <a:prstGeom prst="rect">
            <a:avLst/>
          </a:prstGeom>
          <a:noFill/>
        </p:spPr>
        <p:txBody>
          <a:bodyPr wrap="square">
            <a:spAutoFit/>
          </a:bodyPr>
          <a:lstStyle/>
          <a:p>
            <a:pPr>
              <a:defRPr sz="1250">
                <a:solidFill>
                  <a:srgbClr val="2D2D2D"/>
                </a:solidFill>
              </a:defRPr>
            </a:pPr>
            <a:r>
              <a:rPr sz="1800" b="1"/>
              <a:t>Product Registration</a:t>
            </a:r>
            <a:endParaRPr lang="en-US" altLang="en-US" sz="1800" b="1" dirty="0" err="1">
              <a:solidFill>
                <a:schemeClr val="tx1"/>
              </a:solidFill>
            </a:endParaRPr>
          </a:p>
        </p:txBody>
      </p:sp>
      <p:sp>
        <p:nvSpPr>
          <p:cNvPr id="7" name="Rounded Rectangle 6"/>
          <p:cNvSpPr/>
          <p:nvPr/>
        </p:nvSpPr>
        <p:spPr>
          <a:xfrm>
            <a:off x="7242175" y="3208655"/>
            <a:ext cx="4069080" cy="666115"/>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34806" y="3356296"/>
            <a:ext cx="3739896" cy="645160"/>
          </a:xfrm>
          <a:prstGeom prst="rect">
            <a:avLst/>
          </a:prstGeom>
          <a:noFill/>
        </p:spPr>
        <p:txBody>
          <a:bodyPr wrap="square">
            <a:spAutoFit/>
          </a:bodyPr>
          <a:lstStyle/>
          <a:p>
            <a:pPr>
              <a:defRPr sz="1500" b="1">
                <a:solidFill>
                  <a:srgbClr val="1F3756"/>
                </a:solidFill>
              </a:defRPr>
            </a:pPr>
            <a:r>
              <a:rPr lang="en-US" altLang="en-US" sz="1800">
                <a:solidFill>
                  <a:schemeClr val="tx1"/>
                </a:solidFill>
              </a:rPr>
              <a:t>Product Tracking</a:t>
            </a:r>
            <a:endParaRPr sz="1800">
              <a:solidFill>
                <a:schemeClr val="tx1"/>
              </a:solidFill>
            </a:endParaRPr>
          </a:p>
          <a:p>
            <a:pPr>
              <a:defRPr sz="1250">
                <a:solidFill>
                  <a:srgbClr val="2D2D2D"/>
                </a:solidFill>
              </a:defRPr>
            </a:pPr>
            <a:endParaRPr sz="1800">
              <a:solidFill>
                <a:schemeClr val="tx1"/>
              </a:solidFill>
            </a:endParaRPr>
          </a:p>
        </p:txBody>
      </p:sp>
      <p:sp>
        <p:nvSpPr>
          <p:cNvPr id="9" name="Rounded Rectangle 8"/>
          <p:cNvSpPr/>
          <p:nvPr/>
        </p:nvSpPr>
        <p:spPr>
          <a:xfrm>
            <a:off x="7242175" y="4337685"/>
            <a:ext cx="4069080" cy="608965"/>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305926" y="4444051"/>
            <a:ext cx="3739896" cy="368300"/>
          </a:xfrm>
          <a:prstGeom prst="rect">
            <a:avLst/>
          </a:prstGeom>
          <a:noFill/>
        </p:spPr>
        <p:txBody>
          <a:bodyPr wrap="square">
            <a:spAutoFit/>
          </a:bodyPr>
          <a:lstStyle/>
          <a:p>
            <a:pPr>
              <a:defRPr sz="1500" b="1">
                <a:solidFill>
                  <a:srgbClr val="1F3756"/>
                </a:solidFill>
              </a:defRPr>
            </a:pPr>
            <a:r>
              <a:rPr sz="1800"/>
              <a:t>Status Updates</a:t>
            </a:r>
            <a:endParaRPr lang="en-US" altLang="en-US" sz="1800" dirty="0">
              <a:gradFill>
                <a:gsLst>
                  <a:gs pos="50000">
                    <a:schemeClr val="tx1"/>
                  </a:gs>
                  <a:gs pos="0">
                    <a:schemeClr val="tx1">
                      <a:lumMod val="25000"/>
                      <a:lumOff val="75000"/>
                    </a:schemeClr>
                  </a:gs>
                  <a:gs pos="100000">
                    <a:schemeClr val="tx1">
                      <a:lumMod val="85000"/>
                    </a:schemeClr>
                  </a:gs>
                </a:gsLst>
                <a:lin ang="5400000" scaled="1"/>
              </a:gradFill>
            </a:endParaRPr>
          </a:p>
        </p:txBody>
      </p:sp>
      <p:pic>
        <p:nvPicPr>
          <p:cNvPr id="12" name="object 3"/>
          <p:cNvPicPr/>
          <p:nvPr/>
        </p:nvPicPr>
        <p:blipFill>
          <a:blip r:embed="rId2" cstate="print"/>
          <a:stretch>
            <a:fillRect/>
          </a:stretch>
        </p:blipFill>
        <p:spPr>
          <a:xfrm>
            <a:off x="290749" y="204310"/>
            <a:ext cx="1488889" cy="594359"/>
          </a:xfrm>
          <a:prstGeom prst="rect">
            <a:avLst/>
          </a:prstGeom>
        </p:spPr>
      </p:pic>
      <p:sp>
        <p:nvSpPr>
          <p:cNvPr id="13" name="Rounded Rectangle 12"/>
          <p:cNvSpPr/>
          <p:nvPr/>
        </p:nvSpPr>
        <p:spPr>
          <a:xfrm>
            <a:off x="7242175" y="5282565"/>
            <a:ext cx="4069080" cy="666115"/>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en-US" b="1">
                <a:solidFill>
                  <a:schemeClr val="tx1"/>
                </a:solidFill>
              </a:rPr>
              <a:t>Product Information</a:t>
            </a:r>
          </a:p>
        </p:txBody>
      </p:sp>
      <p:sp>
        <p:nvSpPr>
          <p:cNvPr id="14" name="Text Box 13"/>
          <p:cNvSpPr txBox="1"/>
          <p:nvPr/>
        </p:nvSpPr>
        <p:spPr>
          <a:xfrm rot="5400000">
            <a:off x="8824595" y="2629535"/>
            <a:ext cx="187325" cy="420370"/>
          </a:xfrm>
          <a:prstGeom prst="rect">
            <a:avLst/>
          </a:prstGeom>
        </p:spPr>
        <p:txBody>
          <a:bodyPr>
            <a:noAutofit/>
          </a:bodyPr>
          <a:lstStyle/>
          <a:p>
            <a:r>
              <a:rPr sz="1600">
                <a:sym typeface="+mn-ea"/>
              </a:rPr>
              <a:t>→</a:t>
            </a:r>
            <a:endParaRPr sz="1600"/>
          </a:p>
        </p:txBody>
      </p:sp>
      <p:sp>
        <p:nvSpPr>
          <p:cNvPr id="15" name="Text Box 14"/>
          <p:cNvSpPr txBox="1"/>
          <p:nvPr/>
        </p:nvSpPr>
        <p:spPr>
          <a:xfrm rot="5100000">
            <a:off x="8630285" y="4048760"/>
            <a:ext cx="633730" cy="309880"/>
          </a:xfrm>
          <a:prstGeom prst="rect">
            <a:avLst/>
          </a:prstGeom>
          <a:noFill/>
        </p:spPr>
        <p:txBody>
          <a:bodyPr wrap="square" rtlCol="0" anchor="t">
            <a:noAutofit/>
          </a:bodyPr>
          <a:lstStyle/>
          <a:p>
            <a:r>
              <a:rPr sz="1600">
                <a:sym typeface="+mn-ea"/>
              </a:rPr>
              <a:t>→</a:t>
            </a:r>
            <a:endParaRPr lang="en-US" sz="1600">
              <a:sym typeface="+mn-ea"/>
            </a:endParaRPr>
          </a:p>
        </p:txBody>
      </p:sp>
      <p:sp>
        <p:nvSpPr>
          <p:cNvPr id="11" name="Text Box 10"/>
          <p:cNvSpPr txBox="1"/>
          <p:nvPr/>
        </p:nvSpPr>
        <p:spPr>
          <a:xfrm rot="5160000">
            <a:off x="8741410" y="5019675"/>
            <a:ext cx="420370" cy="326390"/>
          </a:xfrm>
          <a:prstGeom prst="rect">
            <a:avLst/>
          </a:prstGeom>
          <a:noFill/>
        </p:spPr>
        <p:txBody>
          <a:bodyPr wrap="square" rtlCol="0" anchor="t">
            <a:noAutofit/>
          </a:bodyPr>
          <a:lstStyle/>
          <a:p>
            <a:r>
              <a:rPr sz="1600">
                <a:sym typeface="+mn-ea"/>
              </a:rPr>
              <a:t>→</a:t>
            </a:r>
            <a:endParaRPr lang="en-US" sz="1600">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1132793"/>
            <a:ext cx="10972800" cy="594360"/>
          </a:xfrm>
          <a:prstGeom prst="rect">
            <a:avLst/>
          </a:prstGeom>
          <a:noFill/>
        </p:spPr>
        <p:txBody>
          <a:bodyPr wrap="none">
            <a:spAutoFit/>
          </a:bodyPr>
          <a:lstStyle/>
          <a:p>
            <a:pPr>
              <a:defRPr sz="2600" b="1">
                <a:solidFill>
                  <a:srgbClr val="1F3756"/>
                </a:solidFill>
              </a:defRPr>
            </a:pPr>
            <a:r>
              <a:t>DATASET SNAPSHOT — BEFORE &amp; AFTER CLEANING</a:t>
            </a:r>
            <a:endParaRPr dirty="0"/>
          </a:p>
        </p:txBody>
      </p:sp>
      <p:graphicFrame>
        <p:nvGraphicFramePr>
          <p:cNvPr id="4" name="Table 3"/>
          <p:cNvGraphicFramePr>
            <a:graphicFrameLocks noGrp="1"/>
          </p:cNvGraphicFramePr>
          <p:nvPr>
            <p:extLst>
              <p:ext uri="{D42A27DB-BD31-4B8C-83A1-F6EECF244321}">
                <p14:modId xmlns:p14="http://schemas.microsoft.com/office/powerpoint/2010/main" val="2355862263"/>
              </p:ext>
            </p:extLst>
          </p:nvPr>
        </p:nvGraphicFramePr>
        <p:xfrm>
          <a:off x="1042219" y="2084436"/>
          <a:ext cx="8190271" cy="3470785"/>
        </p:xfrm>
        <a:graphic>
          <a:graphicData uri="http://schemas.openxmlformats.org/drawingml/2006/table">
            <a:tbl>
              <a:tblPr firstRow="1" bandRow="1">
                <a:tableStyleId>{5C22544A-7EE6-4342-B048-85BDC9FD1C3A}</a:tableStyleId>
              </a:tblPr>
              <a:tblGrid>
                <a:gridCol w="2866596">
                  <a:extLst>
                    <a:ext uri="{9D8B030D-6E8A-4147-A177-3AD203B41FA5}">
                      <a16:colId xmlns:a16="http://schemas.microsoft.com/office/drawing/2014/main" val="20000"/>
                    </a:ext>
                  </a:extLst>
                </a:gridCol>
                <a:gridCol w="2593585">
                  <a:extLst>
                    <a:ext uri="{9D8B030D-6E8A-4147-A177-3AD203B41FA5}">
                      <a16:colId xmlns:a16="http://schemas.microsoft.com/office/drawing/2014/main" val="20001"/>
                    </a:ext>
                  </a:extLst>
                </a:gridCol>
                <a:gridCol w="2730090">
                  <a:extLst>
                    <a:ext uri="{9D8B030D-6E8A-4147-A177-3AD203B41FA5}">
                      <a16:colId xmlns:a16="http://schemas.microsoft.com/office/drawing/2014/main" val="20002"/>
                    </a:ext>
                  </a:extLst>
                </a:gridCol>
              </a:tblGrid>
              <a:tr h="727440">
                <a:tc>
                  <a:txBody>
                    <a:bodyPr/>
                    <a:lstStyle/>
                    <a:p>
                      <a:r>
                        <a:rPr dirty="0"/>
                        <a:t>Check</a:t>
                      </a:r>
                    </a:p>
                  </a:txBody>
                  <a:tcPr>
                    <a:solidFill>
                      <a:srgbClr val="1F3756"/>
                    </a:solidFill>
                  </a:tcPr>
                </a:tc>
                <a:tc>
                  <a:txBody>
                    <a:bodyPr/>
                    <a:lstStyle/>
                    <a:p>
                      <a:r>
                        <a:rPr dirty="0"/>
                        <a:t>Before</a:t>
                      </a:r>
                    </a:p>
                  </a:txBody>
                  <a:tcPr>
                    <a:solidFill>
                      <a:srgbClr val="1F3756"/>
                    </a:solidFill>
                  </a:tcPr>
                </a:tc>
                <a:tc>
                  <a:txBody>
                    <a:bodyPr/>
                    <a:lstStyle/>
                    <a:p>
                      <a:r>
                        <a:rPr dirty="0"/>
                        <a:t>After</a:t>
                      </a:r>
                    </a:p>
                  </a:txBody>
                  <a:tcPr>
                    <a:solidFill>
                      <a:srgbClr val="1F3756"/>
                    </a:solidFill>
                  </a:tcPr>
                </a:tc>
                <a:extLst>
                  <a:ext uri="{0D108BD9-81ED-4DB2-BD59-A6C34878D82A}">
                    <a16:rowId xmlns:a16="http://schemas.microsoft.com/office/drawing/2014/main" val="10000"/>
                  </a:ext>
                </a:extLst>
              </a:tr>
              <a:tr h="548669">
                <a:tc>
                  <a:txBody>
                    <a:bodyPr/>
                    <a:lstStyle/>
                    <a:p>
                      <a:r>
                        <a:rPr dirty="0"/>
                        <a:t>Product Records</a:t>
                      </a:r>
                    </a:p>
                  </a:txBody>
                  <a:tcPr/>
                </a:tc>
                <a:tc>
                  <a:txBody>
                    <a:bodyPr/>
                    <a:lstStyle/>
                    <a:p>
                      <a:r>
                        <a:rPr lang="en-US" dirty="0"/>
                        <a:t>170</a:t>
                      </a:r>
                      <a:endParaRPr dirty="0"/>
                    </a:p>
                  </a:txBody>
                  <a:tcPr/>
                </a:tc>
                <a:tc>
                  <a:txBody>
                    <a:bodyPr/>
                    <a:lstStyle/>
                    <a:p>
                      <a:r>
                        <a:rPr lang="en-US" dirty="0"/>
                        <a:t>170</a:t>
                      </a:r>
                      <a:endParaRPr dirty="0"/>
                    </a:p>
                  </a:txBody>
                  <a:tcPr/>
                </a:tc>
                <a:extLst>
                  <a:ext uri="{0D108BD9-81ED-4DB2-BD59-A6C34878D82A}">
                    <a16:rowId xmlns:a16="http://schemas.microsoft.com/office/drawing/2014/main" val="10001"/>
                  </a:ext>
                </a:extLst>
              </a:tr>
              <a:tr h="548669">
                <a:tc>
                  <a:txBody>
                    <a:bodyPr/>
                    <a:lstStyle/>
                    <a:p>
                      <a:r>
                        <a:rPr dirty="0"/>
                        <a:t>Data Columns</a:t>
                      </a:r>
                    </a:p>
                  </a:txBody>
                  <a:tcPr/>
                </a:tc>
                <a:tc>
                  <a:txBody>
                    <a:bodyPr/>
                    <a:lstStyle/>
                    <a:p>
                      <a:r>
                        <a:rPr lang="en-US" dirty="0"/>
                        <a:t>9</a:t>
                      </a:r>
                      <a:endParaRPr dirty="0"/>
                    </a:p>
                  </a:txBody>
                  <a:tcPr/>
                </a:tc>
                <a:tc>
                  <a:txBody>
                    <a:bodyPr/>
                    <a:lstStyle/>
                    <a:p>
                      <a:r>
                        <a:rPr lang="en-US" dirty="0"/>
                        <a:t>9</a:t>
                      </a:r>
                      <a:endParaRPr dirty="0"/>
                    </a:p>
                  </a:txBody>
                  <a:tcPr/>
                </a:tc>
                <a:extLst>
                  <a:ext uri="{0D108BD9-81ED-4DB2-BD59-A6C34878D82A}">
                    <a16:rowId xmlns:a16="http://schemas.microsoft.com/office/drawing/2014/main" val="10002"/>
                  </a:ext>
                </a:extLst>
              </a:tr>
              <a:tr h="548669">
                <a:tc>
                  <a:txBody>
                    <a:bodyPr/>
                    <a:lstStyle/>
                    <a:p>
                      <a:r>
                        <a:rPr dirty="0"/>
                        <a:t>Missing values</a:t>
                      </a:r>
                    </a:p>
                  </a:txBody>
                  <a:tcPr/>
                </a:tc>
                <a:tc>
                  <a:txBody>
                    <a:bodyPr/>
                    <a:lstStyle/>
                    <a:p>
                      <a:r>
                        <a:rPr lang="en-US" dirty="0"/>
                        <a:t>0</a:t>
                      </a:r>
                      <a:endParaRPr dirty="0"/>
                    </a:p>
                  </a:txBody>
                  <a:tcPr/>
                </a:tc>
                <a:tc>
                  <a:txBody>
                    <a:bodyPr/>
                    <a:lstStyle/>
                    <a:p>
                      <a:r>
                        <a:t>0</a:t>
                      </a:r>
                    </a:p>
                  </a:txBody>
                  <a:tcPr/>
                </a:tc>
                <a:extLst>
                  <a:ext uri="{0D108BD9-81ED-4DB2-BD59-A6C34878D82A}">
                    <a16:rowId xmlns:a16="http://schemas.microsoft.com/office/drawing/2014/main" val="10003"/>
                  </a:ext>
                </a:extLst>
              </a:tr>
              <a:tr h="548669">
                <a:tc>
                  <a:txBody>
                    <a:bodyPr/>
                    <a:lstStyle/>
                    <a:p>
                      <a:r>
                        <a:t>Duplicate rows</a:t>
                      </a:r>
                    </a:p>
                  </a:txBody>
                  <a:tcPr/>
                </a:tc>
                <a:tc>
                  <a:txBody>
                    <a:bodyPr/>
                    <a:lstStyle/>
                    <a:p>
                      <a:r>
                        <a:rPr lang="en-US" dirty="0"/>
                        <a:t>0</a:t>
                      </a:r>
                      <a:endParaRPr dirty="0"/>
                    </a:p>
                  </a:txBody>
                  <a:tcPr/>
                </a:tc>
                <a:tc>
                  <a:txBody>
                    <a:bodyPr/>
                    <a:lstStyle/>
                    <a:p>
                      <a:r>
                        <a:t>0</a:t>
                      </a:r>
                    </a:p>
                  </a:txBody>
                  <a:tcPr/>
                </a:tc>
                <a:extLst>
                  <a:ext uri="{0D108BD9-81ED-4DB2-BD59-A6C34878D82A}">
                    <a16:rowId xmlns:a16="http://schemas.microsoft.com/office/drawing/2014/main" val="10004"/>
                  </a:ext>
                </a:extLst>
              </a:tr>
              <a:tr h="548669">
                <a:tc>
                  <a:txBody>
                    <a:bodyPr/>
                    <a:lstStyle/>
                    <a:p>
                      <a:r>
                        <a:t>Data quality</a:t>
                      </a:r>
                    </a:p>
                  </a:txBody>
                  <a:tcPr/>
                </a:tc>
                <a:tc>
                  <a:txBody>
                    <a:bodyPr/>
                    <a:lstStyle/>
                    <a:p>
                      <a:r>
                        <a:rPr dirty="0"/>
                        <a:t>Raw</a:t>
                      </a:r>
                    </a:p>
                  </a:txBody>
                  <a:tcPr/>
                </a:tc>
                <a:tc>
                  <a:txBody>
                    <a:bodyPr/>
                    <a:lstStyle/>
                    <a:p>
                      <a:r>
                        <a:rPr dirty="0"/>
                        <a:t>Cleaned</a:t>
                      </a:r>
                    </a:p>
                  </a:txBody>
                  <a:tcPr/>
                </a:tc>
                <a:extLst>
                  <a:ext uri="{0D108BD9-81ED-4DB2-BD59-A6C34878D82A}">
                    <a16:rowId xmlns:a16="http://schemas.microsoft.com/office/drawing/2014/main" val="10005"/>
                  </a:ext>
                </a:extLst>
              </a:tr>
            </a:tbl>
          </a:graphicData>
        </a:graphic>
      </p:graphicFrame>
      <p:pic>
        <p:nvPicPr>
          <p:cNvPr id="7" name="object 3"/>
          <p:cNvPicPr/>
          <p:nvPr/>
        </p:nvPicPr>
        <p:blipFill>
          <a:blip r:embed="rId2" cstate="print"/>
          <a:stretch>
            <a:fillRect/>
          </a:stretch>
        </p:blipFill>
        <p:spPr>
          <a:xfrm>
            <a:off x="290749" y="204310"/>
            <a:ext cx="1488889" cy="594359"/>
          </a:xfrm>
          <a:prstGeom prst="rect">
            <a:avLst/>
          </a:prstGeom>
        </p:spPr>
      </p:pic>
      <p:sp>
        <p:nvSpPr>
          <p:cNvPr id="11" name="TextBox 10">
            <a:extLst>
              <a:ext uri="{FF2B5EF4-FFF2-40B4-BE49-F238E27FC236}">
                <a16:creationId xmlns:a16="http://schemas.microsoft.com/office/drawing/2014/main" id="{D85EA932-D2BD-3506-83E2-BA426784F824}"/>
              </a:ext>
            </a:extLst>
          </p:cNvPr>
          <p:cNvSpPr txBox="1"/>
          <p:nvPr/>
        </p:nvSpPr>
        <p:spPr>
          <a:xfrm>
            <a:off x="6857999" y="2659302"/>
            <a:ext cx="3460955" cy="369332"/>
          </a:xfrm>
          <a:prstGeom prst="rect">
            <a:avLst/>
          </a:prstGeom>
          <a:noFill/>
        </p:spPr>
        <p:txBody>
          <a:bodyPr wrap="square" rtlCol="0">
            <a:spAutoFit/>
          </a:bodyPr>
          <a:lstStyle/>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D3BE6-BBAA-7B39-D46A-8B87EED0B62D}"/>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827BC87C-8B70-690C-9A1E-A2103A51EFA8}"/>
              </a:ext>
            </a:extLst>
          </p:cNvPr>
          <p:cNvPicPr>
            <a:picLocks noChangeAspect="1"/>
          </p:cNvPicPr>
          <p:nvPr/>
        </p:nvPicPr>
        <p:blipFill>
          <a:blip r:embed="rId2"/>
          <a:stretch>
            <a:fillRect/>
          </a:stretch>
        </p:blipFill>
        <p:spPr>
          <a:xfrm>
            <a:off x="0" y="143796"/>
            <a:ext cx="6305550" cy="6343650"/>
          </a:xfrm>
          <a:prstGeom prst="rect">
            <a:avLst/>
          </a:prstGeom>
        </p:spPr>
      </p:pic>
      <p:pic>
        <p:nvPicPr>
          <p:cNvPr id="9" name="Picture 8">
            <a:extLst>
              <a:ext uri="{FF2B5EF4-FFF2-40B4-BE49-F238E27FC236}">
                <a16:creationId xmlns:a16="http://schemas.microsoft.com/office/drawing/2014/main" id="{3E8B8977-BDD6-013B-331D-8021B80184CD}"/>
              </a:ext>
            </a:extLst>
          </p:cNvPr>
          <p:cNvPicPr>
            <a:picLocks noChangeAspect="1"/>
          </p:cNvPicPr>
          <p:nvPr/>
        </p:nvPicPr>
        <p:blipFill>
          <a:blip r:embed="rId3"/>
          <a:stretch>
            <a:fillRect/>
          </a:stretch>
        </p:blipFill>
        <p:spPr>
          <a:xfrm>
            <a:off x="6305550" y="215233"/>
            <a:ext cx="5353050" cy="6200775"/>
          </a:xfrm>
          <a:prstGeom prst="rect">
            <a:avLst/>
          </a:prstGeom>
        </p:spPr>
      </p:pic>
    </p:spTree>
    <p:extLst>
      <p:ext uri="{BB962C8B-B14F-4D97-AF65-F5344CB8AC3E}">
        <p14:creationId xmlns:p14="http://schemas.microsoft.com/office/powerpoint/2010/main" val="39768105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194602" y="257671"/>
            <a:ext cx="7132915" cy="492443"/>
          </a:xfrm>
          <a:prstGeom prst="rect">
            <a:avLst/>
          </a:prstGeom>
          <a:noFill/>
        </p:spPr>
        <p:txBody>
          <a:bodyPr wrap="none">
            <a:spAutoFit/>
          </a:bodyPr>
          <a:lstStyle/>
          <a:p>
            <a:pPr>
              <a:defRPr sz="2600" b="1">
                <a:solidFill>
                  <a:srgbClr val="1F3756"/>
                </a:solidFill>
              </a:defRPr>
            </a:pPr>
            <a:r>
              <a:rPr dirty="0"/>
              <a:t>IMPLEMENTATION PYTHON DATA PREPROCESSING</a:t>
            </a:r>
          </a:p>
        </p:txBody>
      </p:sp>
      <p:sp>
        <p:nvSpPr>
          <p:cNvPr id="5" name="Rounded Rectangle 4"/>
          <p:cNvSpPr/>
          <p:nvPr/>
        </p:nvSpPr>
        <p:spPr>
          <a:xfrm>
            <a:off x="7437120" y="774585"/>
            <a:ext cx="4076454" cy="1182424"/>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 name="TextBox 5"/>
          <p:cNvSpPr txBox="1"/>
          <p:nvPr/>
        </p:nvSpPr>
        <p:spPr>
          <a:xfrm>
            <a:off x="7601712" y="862643"/>
            <a:ext cx="3831335" cy="1046440"/>
          </a:xfrm>
          <a:prstGeom prst="rect">
            <a:avLst/>
          </a:prstGeom>
          <a:noFill/>
        </p:spPr>
        <p:txBody>
          <a:bodyPr wrap="square">
            <a:spAutoFit/>
          </a:bodyPr>
          <a:lstStyle/>
          <a:p>
            <a:pPr>
              <a:defRPr sz="1500" b="1">
                <a:solidFill>
                  <a:srgbClr val="1F3756"/>
                </a:solidFill>
              </a:defRPr>
            </a:pPr>
            <a:r>
              <a:rPr sz="1400" b="1" dirty="0"/>
              <a:t>Step 1 — Data Loading</a:t>
            </a:r>
          </a:p>
          <a:p>
            <a:r>
              <a:rPr sz="1600" b="0" dirty="0"/>
              <a:t>Loaded product-tracking records using Pandas.</a:t>
            </a:r>
            <a:r>
              <a:rPr lang="en-IN" sz="1600" b="0" dirty="0"/>
              <a:t> </a:t>
            </a:r>
            <a:r>
              <a:rPr sz="1600" dirty="0"/>
              <a:t>Checked columns, data types and missing values.</a:t>
            </a:r>
          </a:p>
        </p:txBody>
      </p:sp>
      <p:sp>
        <p:nvSpPr>
          <p:cNvPr id="7" name="Rounded Rectangle 6"/>
          <p:cNvSpPr/>
          <p:nvPr/>
        </p:nvSpPr>
        <p:spPr>
          <a:xfrm>
            <a:off x="7437120" y="2184667"/>
            <a:ext cx="4076454" cy="1224056"/>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585717" y="2237008"/>
            <a:ext cx="3831335" cy="1046440"/>
          </a:xfrm>
          <a:prstGeom prst="rect">
            <a:avLst/>
          </a:prstGeom>
          <a:noFill/>
        </p:spPr>
        <p:txBody>
          <a:bodyPr wrap="square">
            <a:spAutoFit/>
          </a:bodyPr>
          <a:lstStyle/>
          <a:p>
            <a:pPr>
              <a:defRPr sz="1500" b="1">
                <a:solidFill>
                  <a:srgbClr val="1F3756"/>
                </a:solidFill>
              </a:defRPr>
            </a:pPr>
            <a:r>
              <a:rPr sz="1400" b="1" dirty="0"/>
              <a:t>Step 2 — Data Cleaning</a:t>
            </a:r>
          </a:p>
          <a:p>
            <a:r>
              <a:rPr sz="1600" b="0" dirty="0"/>
              <a:t>Removed duplicate rows.</a:t>
            </a:r>
            <a:br>
              <a:rPr sz="1600" dirty="0"/>
            </a:br>
            <a:r>
              <a:rPr sz="1600" dirty="0"/>
              <a:t>Handled missing values and converted date fields into usable formats.</a:t>
            </a:r>
          </a:p>
        </p:txBody>
      </p:sp>
      <p:sp>
        <p:nvSpPr>
          <p:cNvPr id="9" name="Rounded Rectangle 8"/>
          <p:cNvSpPr/>
          <p:nvPr/>
        </p:nvSpPr>
        <p:spPr>
          <a:xfrm>
            <a:off x="7424924" y="3636381"/>
            <a:ext cx="4082552" cy="1233424"/>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85717" y="3879542"/>
            <a:ext cx="3831335" cy="800219"/>
          </a:xfrm>
          <a:prstGeom prst="rect">
            <a:avLst/>
          </a:prstGeom>
          <a:noFill/>
        </p:spPr>
        <p:txBody>
          <a:bodyPr wrap="square">
            <a:spAutoFit/>
          </a:bodyPr>
          <a:lstStyle/>
          <a:p>
            <a:pPr>
              <a:defRPr sz="1500" b="1">
                <a:solidFill>
                  <a:srgbClr val="1F3756"/>
                </a:solidFill>
              </a:defRPr>
            </a:pPr>
            <a:r>
              <a:rPr sz="1400" b="1" dirty="0"/>
              <a:t>Step 3 — </a:t>
            </a:r>
            <a:r>
              <a:rPr lang="en-IN" sz="1400" b="1" dirty="0"/>
              <a:t> Final Check </a:t>
            </a:r>
            <a:endParaRPr sz="1400" b="1" dirty="0"/>
          </a:p>
          <a:p>
            <a:r>
              <a:rPr lang="en-IN" sz="1600" b="0" dirty="0"/>
              <a:t>verified the cleaned dataset shape and column information after processing </a:t>
            </a:r>
            <a:r>
              <a:rPr sz="1600" dirty="0"/>
              <a:t>.</a:t>
            </a:r>
          </a:p>
        </p:txBody>
      </p:sp>
      <p:sp>
        <p:nvSpPr>
          <p:cNvPr id="11" name="Rounded Rectangle 10"/>
          <p:cNvSpPr/>
          <p:nvPr/>
        </p:nvSpPr>
        <p:spPr>
          <a:xfrm>
            <a:off x="7431022" y="5059848"/>
            <a:ext cx="4076454" cy="1233424"/>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TextBox 11"/>
          <p:cNvSpPr txBox="1"/>
          <p:nvPr/>
        </p:nvSpPr>
        <p:spPr>
          <a:xfrm>
            <a:off x="7601712" y="5252418"/>
            <a:ext cx="3831335" cy="830997"/>
          </a:xfrm>
          <a:prstGeom prst="rect">
            <a:avLst/>
          </a:prstGeom>
          <a:noFill/>
        </p:spPr>
        <p:txBody>
          <a:bodyPr wrap="square">
            <a:spAutoFit/>
          </a:bodyPr>
          <a:lstStyle/>
          <a:p>
            <a:pPr>
              <a:defRPr sz="1500" b="1">
                <a:solidFill>
                  <a:srgbClr val="1F3756"/>
                </a:solidFill>
              </a:defRPr>
            </a:pPr>
            <a:r>
              <a:rPr sz="1600" b="1" dirty="0"/>
              <a:t>Result</a:t>
            </a:r>
          </a:p>
          <a:p>
            <a:r>
              <a:rPr sz="1600" b="0" dirty="0"/>
              <a:t>Clean product-tracking dataset ready for exploratory analysis and visualization.</a:t>
            </a:r>
          </a:p>
        </p:txBody>
      </p:sp>
      <p:pic>
        <p:nvPicPr>
          <p:cNvPr id="14" name="object 3"/>
          <p:cNvPicPr/>
          <p:nvPr/>
        </p:nvPicPr>
        <p:blipFill>
          <a:blip r:embed="rId2" cstate="print"/>
          <a:stretch>
            <a:fillRect/>
          </a:stretch>
        </p:blipFill>
        <p:spPr>
          <a:xfrm>
            <a:off x="290749" y="204310"/>
            <a:ext cx="1488889" cy="594359"/>
          </a:xfrm>
          <a:prstGeom prst="rect">
            <a:avLst/>
          </a:prstGeom>
        </p:spPr>
      </p:pic>
      <p:sp>
        <p:nvSpPr>
          <p:cNvPr id="21" name="TextBox 20">
            <a:extLst>
              <a:ext uri="{FF2B5EF4-FFF2-40B4-BE49-F238E27FC236}">
                <a16:creationId xmlns:a16="http://schemas.microsoft.com/office/drawing/2014/main" id="{28B4DC5C-7F7E-5877-48E7-5A252C04E873}"/>
              </a:ext>
            </a:extLst>
          </p:cNvPr>
          <p:cNvSpPr txBox="1"/>
          <p:nvPr/>
        </p:nvSpPr>
        <p:spPr>
          <a:xfrm>
            <a:off x="1365520" y="889305"/>
            <a:ext cx="6153896" cy="338554"/>
          </a:xfrm>
          <a:prstGeom prst="rect">
            <a:avLst/>
          </a:prstGeom>
          <a:noFill/>
        </p:spPr>
        <p:txBody>
          <a:bodyPr wrap="square">
            <a:spAutoFit/>
          </a:bodyPr>
          <a:lstStyle/>
          <a:p>
            <a:pPr>
              <a:defRPr sz="2600" b="1">
                <a:solidFill>
                  <a:srgbClr val="1F3756"/>
                </a:solidFill>
              </a:defRPr>
            </a:pPr>
            <a:r>
              <a:rPr lang="en-IN" sz="1600" dirty="0"/>
              <a:t>Output for data loading and cleaning</a:t>
            </a:r>
            <a:endParaRPr sz="1600" dirty="0"/>
          </a:p>
        </p:txBody>
      </p:sp>
      <p:pic>
        <p:nvPicPr>
          <p:cNvPr id="23" name="Picture 22">
            <a:extLst>
              <a:ext uri="{FF2B5EF4-FFF2-40B4-BE49-F238E27FC236}">
                <a16:creationId xmlns:a16="http://schemas.microsoft.com/office/drawing/2014/main" id="{5AA7CB45-8097-F629-F163-2CCF8C3DDEFE}"/>
              </a:ext>
            </a:extLst>
          </p:cNvPr>
          <p:cNvPicPr>
            <a:picLocks noChangeAspect="1"/>
          </p:cNvPicPr>
          <p:nvPr/>
        </p:nvPicPr>
        <p:blipFill>
          <a:blip r:embed="rId3"/>
          <a:stretch>
            <a:fillRect/>
          </a:stretch>
        </p:blipFill>
        <p:spPr>
          <a:xfrm>
            <a:off x="0" y="1227859"/>
            <a:ext cx="7170821" cy="55021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object 3"/>
          <p:cNvPicPr/>
          <p:nvPr/>
        </p:nvPicPr>
        <p:blipFill>
          <a:blip r:embed="rId2" cstate="print"/>
          <a:stretch>
            <a:fillRect/>
          </a:stretch>
        </p:blipFill>
        <p:spPr>
          <a:xfrm>
            <a:off x="290750" y="204310"/>
            <a:ext cx="1361070" cy="499189"/>
          </a:xfrm>
          <a:prstGeom prst="rect">
            <a:avLst/>
          </a:prstGeom>
        </p:spPr>
      </p:pic>
      <p:pic>
        <p:nvPicPr>
          <p:cNvPr id="4" name="Picture 3">
            <a:extLst>
              <a:ext uri="{FF2B5EF4-FFF2-40B4-BE49-F238E27FC236}">
                <a16:creationId xmlns:a16="http://schemas.microsoft.com/office/drawing/2014/main" id="{552E3154-6FEA-8671-6842-B6E12CAE51D8}"/>
              </a:ext>
            </a:extLst>
          </p:cNvPr>
          <p:cNvPicPr>
            <a:picLocks noChangeAspect="1"/>
          </p:cNvPicPr>
          <p:nvPr/>
        </p:nvPicPr>
        <p:blipFill>
          <a:blip r:embed="rId3"/>
          <a:stretch>
            <a:fillRect/>
          </a:stretch>
        </p:blipFill>
        <p:spPr>
          <a:xfrm>
            <a:off x="2371462" y="298964"/>
            <a:ext cx="8382726" cy="363207"/>
          </a:xfrm>
          <a:prstGeom prst="rect">
            <a:avLst/>
          </a:prstGeom>
        </p:spPr>
      </p:pic>
      <p:pic>
        <p:nvPicPr>
          <p:cNvPr id="7" name="Picture 6">
            <a:extLst>
              <a:ext uri="{FF2B5EF4-FFF2-40B4-BE49-F238E27FC236}">
                <a16:creationId xmlns:a16="http://schemas.microsoft.com/office/drawing/2014/main" id="{C28BC68B-E578-F1B0-AEFB-1743C09DA8E2}"/>
              </a:ext>
            </a:extLst>
          </p:cNvPr>
          <p:cNvPicPr>
            <a:picLocks noChangeAspect="1"/>
          </p:cNvPicPr>
          <p:nvPr/>
        </p:nvPicPr>
        <p:blipFill>
          <a:blip r:embed="rId4"/>
          <a:stretch>
            <a:fillRect/>
          </a:stretch>
        </p:blipFill>
        <p:spPr>
          <a:xfrm>
            <a:off x="7879543" y="779794"/>
            <a:ext cx="3981450" cy="5963230"/>
          </a:xfrm>
          <a:prstGeom prst="rect">
            <a:avLst/>
          </a:prstGeom>
        </p:spPr>
      </p:pic>
      <p:pic>
        <p:nvPicPr>
          <p:cNvPr id="13" name="Picture 12">
            <a:extLst>
              <a:ext uri="{FF2B5EF4-FFF2-40B4-BE49-F238E27FC236}">
                <a16:creationId xmlns:a16="http://schemas.microsoft.com/office/drawing/2014/main" id="{03D876D3-170F-0C71-F37E-B5D30F1730B7}"/>
              </a:ext>
            </a:extLst>
          </p:cNvPr>
          <p:cNvPicPr>
            <a:picLocks noChangeAspect="1"/>
          </p:cNvPicPr>
          <p:nvPr/>
        </p:nvPicPr>
        <p:blipFill>
          <a:blip r:embed="rId5"/>
          <a:stretch>
            <a:fillRect/>
          </a:stretch>
        </p:blipFill>
        <p:spPr>
          <a:xfrm>
            <a:off x="224694" y="779794"/>
            <a:ext cx="7456266" cy="602208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413000" y="160979"/>
            <a:ext cx="4413885" cy="491490"/>
          </a:xfrm>
          <a:prstGeom prst="rect">
            <a:avLst/>
          </a:prstGeom>
          <a:noFill/>
        </p:spPr>
        <p:txBody>
          <a:bodyPr wrap="none">
            <a:spAutoFit/>
          </a:bodyPr>
          <a:lstStyle/>
          <a:p>
            <a:pPr>
              <a:defRPr sz="2600" b="1">
                <a:solidFill>
                  <a:srgbClr val="1F3756"/>
                </a:solidFill>
              </a:defRPr>
            </a:pPr>
            <a:r>
              <a:rPr dirty="0"/>
              <a:t>PROJECT IMPLEMENTATION — PYTHON</a:t>
            </a:r>
            <a:endParaRPr lang="en-IN" dirty="0"/>
          </a:p>
        </p:txBody>
      </p:sp>
      <p:sp>
        <p:nvSpPr>
          <p:cNvPr id="5" name="Rounded Rectangle 4"/>
          <p:cNvSpPr/>
          <p:nvPr/>
        </p:nvSpPr>
        <p:spPr>
          <a:xfrm>
            <a:off x="7340597" y="1259478"/>
            <a:ext cx="3977639" cy="96012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21877" y="1260529"/>
            <a:ext cx="3648456" cy="815608"/>
          </a:xfrm>
          <a:prstGeom prst="rect">
            <a:avLst/>
          </a:prstGeom>
          <a:noFill/>
        </p:spPr>
        <p:txBody>
          <a:bodyPr wrap="square">
            <a:spAutoFit/>
          </a:bodyPr>
          <a:lstStyle/>
          <a:p>
            <a:pPr>
              <a:defRPr sz="1500" b="1">
                <a:solidFill>
                  <a:srgbClr val="1F3756"/>
                </a:solidFill>
              </a:defRPr>
            </a:pPr>
            <a:r>
              <a:rPr lang="en-IN" b="1" dirty="0"/>
              <a:t>Python Architecture</a:t>
            </a:r>
            <a:endParaRPr b="1" dirty="0"/>
          </a:p>
          <a:p>
            <a:r>
              <a:rPr sz="1600" b="0" dirty="0"/>
              <a:t>Web Browser → Python Web Application → Pandas Processing → Analysis / Output</a:t>
            </a:r>
          </a:p>
        </p:txBody>
      </p:sp>
      <p:sp>
        <p:nvSpPr>
          <p:cNvPr id="7" name="Rounded Rectangle 6"/>
          <p:cNvSpPr/>
          <p:nvPr/>
        </p:nvSpPr>
        <p:spPr>
          <a:xfrm>
            <a:off x="7340597" y="2519876"/>
            <a:ext cx="3977639" cy="1061829"/>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505186" y="2506024"/>
            <a:ext cx="3648456" cy="1061829"/>
          </a:xfrm>
          <a:prstGeom prst="rect">
            <a:avLst/>
          </a:prstGeom>
          <a:noFill/>
        </p:spPr>
        <p:txBody>
          <a:bodyPr wrap="square">
            <a:spAutoFit/>
          </a:bodyPr>
          <a:lstStyle/>
          <a:p>
            <a:pPr>
              <a:defRPr sz="1500" b="1">
                <a:solidFill>
                  <a:srgbClr val="1F3756"/>
                </a:solidFill>
              </a:defRPr>
            </a:pPr>
            <a:r>
              <a:rPr lang="en-IN" b="1" dirty="0"/>
              <a:t>Python Modules</a:t>
            </a:r>
          </a:p>
          <a:p>
            <a:pPr marL="285750" indent="-285750">
              <a:buFont typeface="Arial" panose="020B0604020202020204" pitchFamily="34" charset="0"/>
              <a:buChar char="•"/>
            </a:pPr>
            <a:r>
              <a:rPr sz="1600" b="0" dirty="0"/>
              <a:t>Pandas  </a:t>
            </a:r>
            <a:endParaRPr lang="en-IN" sz="1600" b="0" dirty="0"/>
          </a:p>
          <a:p>
            <a:pPr marL="285750" indent="-285750">
              <a:buFont typeface="Arial" panose="020B0604020202020204" pitchFamily="34" charset="0"/>
              <a:buChar char="•"/>
            </a:pPr>
            <a:r>
              <a:rPr sz="1600" b="0" dirty="0"/>
              <a:t>NumPy </a:t>
            </a:r>
            <a:endParaRPr lang="en-IN" sz="1600" b="0" dirty="0"/>
          </a:p>
          <a:p>
            <a:pPr marL="285750" indent="-285750">
              <a:buFont typeface="Arial" panose="020B0604020202020204" pitchFamily="34" charset="0"/>
              <a:buChar char="•"/>
            </a:pPr>
            <a:r>
              <a:rPr sz="1600" b="0" dirty="0"/>
              <a:t>Matplotlib </a:t>
            </a:r>
          </a:p>
        </p:txBody>
      </p:sp>
      <p:sp>
        <p:nvSpPr>
          <p:cNvPr id="9" name="Rounded Rectangle 8"/>
          <p:cNvSpPr/>
          <p:nvPr/>
        </p:nvSpPr>
        <p:spPr>
          <a:xfrm>
            <a:off x="7340595" y="3971524"/>
            <a:ext cx="3977639" cy="1065194"/>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TextBox 9"/>
          <p:cNvSpPr txBox="1"/>
          <p:nvPr/>
        </p:nvSpPr>
        <p:spPr>
          <a:xfrm>
            <a:off x="7505187" y="3971524"/>
            <a:ext cx="3648456" cy="1061829"/>
          </a:xfrm>
          <a:prstGeom prst="rect">
            <a:avLst/>
          </a:prstGeom>
          <a:noFill/>
        </p:spPr>
        <p:txBody>
          <a:bodyPr wrap="square">
            <a:spAutoFit/>
          </a:bodyPr>
          <a:lstStyle/>
          <a:p>
            <a:pPr>
              <a:defRPr sz="1500" b="1">
                <a:solidFill>
                  <a:srgbClr val="1F3756"/>
                </a:solidFill>
              </a:defRPr>
            </a:pPr>
            <a:r>
              <a:rPr b="1" dirty="0"/>
              <a:t>D</a:t>
            </a:r>
            <a:r>
              <a:rPr lang="en-IN" b="1" dirty="0" err="1"/>
              <a:t>ata</a:t>
            </a:r>
            <a:r>
              <a:rPr lang="en-IN" b="1" dirty="0"/>
              <a:t> Processing</a:t>
            </a:r>
            <a:endParaRPr b="1" dirty="0"/>
          </a:p>
          <a:p>
            <a:pPr algn="just"/>
            <a:r>
              <a:rPr sz="1600" b="0" dirty="0"/>
              <a:t>CSV/structured product records → Pandas </a:t>
            </a:r>
            <a:r>
              <a:rPr sz="1600" b="0" dirty="0" err="1"/>
              <a:t>DataFrame</a:t>
            </a:r>
            <a:r>
              <a:rPr sz="1600" b="0" dirty="0"/>
              <a:t> → Cleaning → EDA → Visualization</a:t>
            </a:r>
          </a:p>
        </p:txBody>
      </p:sp>
      <p:sp>
        <p:nvSpPr>
          <p:cNvPr id="11" name="Rounded Rectangle 10"/>
          <p:cNvSpPr/>
          <p:nvPr/>
        </p:nvSpPr>
        <p:spPr>
          <a:xfrm>
            <a:off x="7340597" y="5287506"/>
            <a:ext cx="3977639" cy="1121805"/>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05187" y="5279430"/>
            <a:ext cx="3648456" cy="1061829"/>
          </a:xfrm>
          <a:prstGeom prst="rect">
            <a:avLst/>
          </a:prstGeom>
          <a:noFill/>
        </p:spPr>
        <p:txBody>
          <a:bodyPr wrap="square">
            <a:spAutoFit/>
          </a:bodyPr>
          <a:lstStyle/>
          <a:p>
            <a:pPr>
              <a:defRPr sz="1500" b="1">
                <a:solidFill>
                  <a:srgbClr val="1F3756"/>
                </a:solidFill>
              </a:defRPr>
            </a:pPr>
            <a:r>
              <a:rPr b="1" dirty="0"/>
              <a:t>Execution</a:t>
            </a:r>
          </a:p>
          <a:p>
            <a:pPr algn="just"/>
            <a:r>
              <a:rPr sz="1600" b="0" dirty="0"/>
              <a:t>User searches product → Python processes the request → product status is retrieved → result is displayed.</a:t>
            </a:r>
          </a:p>
        </p:txBody>
      </p:sp>
      <p:pic>
        <p:nvPicPr>
          <p:cNvPr id="14" name="object 3"/>
          <p:cNvPicPr/>
          <p:nvPr/>
        </p:nvPicPr>
        <p:blipFill>
          <a:blip r:embed="rId2" cstate="print"/>
          <a:stretch>
            <a:fillRect/>
          </a:stretch>
        </p:blipFill>
        <p:spPr>
          <a:xfrm>
            <a:off x="290750" y="204310"/>
            <a:ext cx="1361070" cy="499189"/>
          </a:xfrm>
          <a:prstGeom prst="rect">
            <a:avLst/>
          </a:prstGeom>
        </p:spPr>
      </p:pic>
      <p:pic>
        <p:nvPicPr>
          <p:cNvPr id="15" name="Picture 14">
            <a:extLst>
              <a:ext uri="{FF2B5EF4-FFF2-40B4-BE49-F238E27FC236}">
                <a16:creationId xmlns:a16="http://schemas.microsoft.com/office/drawing/2014/main" id="{E7DB07ED-1F2F-FC7A-2809-CB01D602BAF3}"/>
              </a:ext>
            </a:extLst>
          </p:cNvPr>
          <p:cNvPicPr>
            <a:picLocks noChangeAspect="1"/>
          </p:cNvPicPr>
          <p:nvPr/>
        </p:nvPicPr>
        <p:blipFill>
          <a:blip r:embed="rId3"/>
          <a:stretch>
            <a:fillRect/>
          </a:stretch>
        </p:blipFill>
        <p:spPr>
          <a:xfrm>
            <a:off x="290750" y="728763"/>
            <a:ext cx="6308170" cy="579449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9902BE7-300D-8385-FDBA-2602778EDA8A}"/>
              </a:ext>
            </a:extLst>
          </p:cNvPr>
          <p:cNvPicPr>
            <a:picLocks noChangeAspect="1"/>
          </p:cNvPicPr>
          <p:nvPr/>
        </p:nvPicPr>
        <p:blipFill>
          <a:blip r:embed="rId2"/>
          <a:stretch>
            <a:fillRect/>
          </a:stretch>
        </p:blipFill>
        <p:spPr>
          <a:xfrm>
            <a:off x="467677" y="261937"/>
            <a:ext cx="4886325" cy="6334125"/>
          </a:xfrm>
          <a:prstGeom prst="rect">
            <a:avLst/>
          </a:prstGeom>
        </p:spPr>
      </p:pic>
      <p:pic>
        <p:nvPicPr>
          <p:cNvPr id="7" name="Picture 6">
            <a:extLst>
              <a:ext uri="{FF2B5EF4-FFF2-40B4-BE49-F238E27FC236}">
                <a16:creationId xmlns:a16="http://schemas.microsoft.com/office/drawing/2014/main" id="{A58C1B12-AC2A-558C-E20B-07D713E1A6E0}"/>
              </a:ext>
            </a:extLst>
          </p:cNvPr>
          <p:cNvPicPr>
            <a:picLocks noChangeAspect="1"/>
          </p:cNvPicPr>
          <p:nvPr/>
        </p:nvPicPr>
        <p:blipFill>
          <a:blip r:embed="rId3"/>
          <a:stretch>
            <a:fillRect/>
          </a:stretch>
        </p:blipFill>
        <p:spPr>
          <a:xfrm>
            <a:off x="6278880" y="261937"/>
            <a:ext cx="4419600" cy="6296025"/>
          </a:xfrm>
          <a:prstGeom prst="rect">
            <a:avLst/>
          </a:prstGeom>
        </p:spPr>
      </p:pic>
    </p:spTree>
    <p:extLst>
      <p:ext uri="{BB962C8B-B14F-4D97-AF65-F5344CB8AC3E}">
        <p14:creationId xmlns:p14="http://schemas.microsoft.com/office/powerpoint/2010/main" val="2380398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9684A5D-7A11-A0EE-D149-FA3BD07C9DA3}"/>
              </a:ext>
            </a:extLst>
          </p:cNvPr>
          <p:cNvPicPr>
            <a:picLocks noChangeAspect="1"/>
          </p:cNvPicPr>
          <p:nvPr/>
        </p:nvPicPr>
        <p:blipFill>
          <a:blip r:embed="rId2"/>
          <a:stretch>
            <a:fillRect/>
          </a:stretch>
        </p:blipFill>
        <p:spPr>
          <a:xfrm>
            <a:off x="7025641" y="53340"/>
            <a:ext cx="4389728" cy="6751320"/>
          </a:xfrm>
          <a:prstGeom prst="rect">
            <a:avLst/>
          </a:prstGeom>
        </p:spPr>
      </p:pic>
      <p:pic>
        <p:nvPicPr>
          <p:cNvPr id="10" name="Picture 9">
            <a:extLst>
              <a:ext uri="{FF2B5EF4-FFF2-40B4-BE49-F238E27FC236}">
                <a16:creationId xmlns:a16="http://schemas.microsoft.com/office/drawing/2014/main" id="{747369B7-7499-3FC1-5071-661F751FEC7E}"/>
              </a:ext>
            </a:extLst>
          </p:cNvPr>
          <p:cNvPicPr>
            <a:picLocks noChangeAspect="1"/>
          </p:cNvPicPr>
          <p:nvPr/>
        </p:nvPicPr>
        <p:blipFill>
          <a:blip r:embed="rId3"/>
          <a:stretch>
            <a:fillRect/>
          </a:stretch>
        </p:blipFill>
        <p:spPr>
          <a:xfrm>
            <a:off x="0" y="53340"/>
            <a:ext cx="6734175" cy="6322067"/>
          </a:xfrm>
          <a:prstGeom prst="rect">
            <a:avLst/>
          </a:prstGeom>
        </p:spPr>
      </p:pic>
    </p:spTree>
    <p:extLst>
      <p:ext uri="{BB962C8B-B14F-4D97-AF65-F5344CB8AC3E}">
        <p14:creationId xmlns:p14="http://schemas.microsoft.com/office/powerpoint/2010/main" val="231807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1096791"/>
            <a:ext cx="10972800" cy="594360"/>
          </a:xfrm>
          <a:prstGeom prst="rect">
            <a:avLst/>
          </a:prstGeom>
          <a:noFill/>
        </p:spPr>
        <p:txBody>
          <a:bodyPr wrap="none">
            <a:spAutoFit/>
          </a:bodyPr>
          <a:lstStyle/>
          <a:p>
            <a:pPr>
              <a:defRPr sz="2600" b="1">
                <a:solidFill>
                  <a:srgbClr val="1F3756"/>
                </a:solidFill>
              </a:defRPr>
            </a:pPr>
            <a:r>
              <a:rPr dirty="0"/>
              <a:t>VISUALIZATION &amp; INTERPRETATION</a:t>
            </a:r>
          </a:p>
        </p:txBody>
      </p:sp>
      <p:sp>
        <p:nvSpPr>
          <p:cNvPr id="4" name="Rounded Rectangle 3"/>
          <p:cNvSpPr/>
          <p:nvPr/>
        </p:nvSpPr>
        <p:spPr>
          <a:xfrm>
            <a:off x="640080" y="1856822"/>
            <a:ext cx="3474720" cy="123444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04671" y="1984837"/>
            <a:ext cx="3145536" cy="1061829"/>
          </a:xfrm>
          <a:prstGeom prst="rect">
            <a:avLst/>
          </a:prstGeom>
          <a:noFill/>
        </p:spPr>
        <p:txBody>
          <a:bodyPr wrap="square">
            <a:spAutoFit/>
          </a:bodyPr>
          <a:lstStyle/>
          <a:p>
            <a:pPr>
              <a:defRPr sz="1500" b="1">
                <a:solidFill>
                  <a:srgbClr val="1F3756"/>
                </a:solidFill>
              </a:defRPr>
            </a:pPr>
            <a:r>
              <a:rPr b="1" dirty="0"/>
              <a:t>Product Category Distribution</a:t>
            </a:r>
          </a:p>
          <a:p>
            <a:r>
              <a:rPr sz="1600" b="0" dirty="0"/>
              <a:t>Pandas and Matplotlib show how products are distributed across categories.</a:t>
            </a:r>
          </a:p>
        </p:txBody>
      </p:sp>
      <p:sp>
        <p:nvSpPr>
          <p:cNvPr id="6" name="Rounded Rectangle 5"/>
          <p:cNvSpPr/>
          <p:nvPr/>
        </p:nvSpPr>
        <p:spPr>
          <a:xfrm>
            <a:off x="4343400" y="1856822"/>
            <a:ext cx="3474720" cy="123444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07992" y="1984837"/>
            <a:ext cx="3145536" cy="1061829"/>
          </a:xfrm>
          <a:prstGeom prst="rect">
            <a:avLst/>
          </a:prstGeom>
          <a:noFill/>
        </p:spPr>
        <p:txBody>
          <a:bodyPr wrap="square">
            <a:spAutoFit/>
          </a:bodyPr>
          <a:lstStyle/>
          <a:p>
            <a:pPr>
              <a:defRPr sz="1500" b="1">
                <a:solidFill>
                  <a:srgbClr val="1F3756"/>
                </a:solidFill>
              </a:defRPr>
            </a:pPr>
            <a:r>
              <a:rPr b="1" dirty="0"/>
              <a:t>Tracking Status</a:t>
            </a:r>
          </a:p>
          <a:p>
            <a:r>
              <a:rPr sz="1600" b="0" dirty="0"/>
              <a:t>Co</a:t>
            </a:r>
            <a:r>
              <a:rPr lang="en-IN" sz="1600" dirty="0"/>
              <a:t>o</a:t>
            </a:r>
            <a:r>
              <a:rPr sz="1600" b="0" dirty="0" err="1"/>
              <a:t>par</a:t>
            </a:r>
            <a:r>
              <a:rPr lang="en-US" sz="1600" b="0" dirty="0" err="1"/>
              <a:t>at</a:t>
            </a:r>
            <a:r>
              <a:rPr sz="1600" b="0" dirty="0" err="1"/>
              <a:t>es</a:t>
            </a:r>
            <a:r>
              <a:rPr sz="1600" b="0" dirty="0"/>
              <a:t> orders across Ordered, Processing, Shipped and Delivered stages.</a:t>
            </a:r>
          </a:p>
        </p:txBody>
      </p:sp>
      <p:sp>
        <p:nvSpPr>
          <p:cNvPr id="8" name="Rounded Rectangle 7"/>
          <p:cNvSpPr/>
          <p:nvPr/>
        </p:nvSpPr>
        <p:spPr>
          <a:xfrm>
            <a:off x="8046720" y="1856822"/>
            <a:ext cx="3474720" cy="123444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11312" y="1984837"/>
            <a:ext cx="3145536" cy="815608"/>
          </a:xfrm>
          <a:prstGeom prst="rect">
            <a:avLst/>
          </a:prstGeom>
          <a:noFill/>
        </p:spPr>
        <p:txBody>
          <a:bodyPr wrap="square">
            <a:spAutoFit/>
          </a:bodyPr>
          <a:lstStyle/>
          <a:p>
            <a:pPr>
              <a:defRPr sz="1500" b="1">
                <a:solidFill>
                  <a:srgbClr val="1F3756"/>
                </a:solidFill>
              </a:defRPr>
            </a:pPr>
            <a:r>
              <a:rPr b="1" dirty="0"/>
              <a:t>Order Trend</a:t>
            </a:r>
          </a:p>
          <a:p>
            <a:r>
              <a:rPr sz="1600" b="0" dirty="0"/>
              <a:t>Shows monthly order activity and helps identify changes over time.</a:t>
            </a:r>
          </a:p>
        </p:txBody>
      </p:sp>
      <p:sp>
        <p:nvSpPr>
          <p:cNvPr id="10" name="Rounded Rectangle 9"/>
          <p:cNvSpPr/>
          <p:nvPr/>
        </p:nvSpPr>
        <p:spPr>
          <a:xfrm>
            <a:off x="640080" y="3429000"/>
            <a:ext cx="3474720" cy="123444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4671" y="3585038"/>
            <a:ext cx="3145536" cy="815608"/>
          </a:xfrm>
          <a:prstGeom prst="rect">
            <a:avLst/>
          </a:prstGeom>
          <a:noFill/>
        </p:spPr>
        <p:txBody>
          <a:bodyPr wrap="square">
            <a:spAutoFit/>
          </a:bodyPr>
          <a:lstStyle/>
          <a:p>
            <a:pPr>
              <a:defRPr sz="1500" b="1">
                <a:solidFill>
                  <a:srgbClr val="1F3756"/>
                </a:solidFill>
              </a:defRPr>
            </a:pPr>
            <a:r>
              <a:rPr b="1" dirty="0"/>
              <a:t>Delivery Analysis</a:t>
            </a:r>
          </a:p>
          <a:p>
            <a:r>
              <a:rPr sz="1600" b="0" dirty="0"/>
              <a:t>Compares delivered, in-progress and pending orders.</a:t>
            </a:r>
          </a:p>
        </p:txBody>
      </p:sp>
      <p:sp>
        <p:nvSpPr>
          <p:cNvPr id="14" name="Rounded Rectangle 13"/>
          <p:cNvSpPr/>
          <p:nvPr/>
        </p:nvSpPr>
        <p:spPr>
          <a:xfrm>
            <a:off x="4358487" y="3457022"/>
            <a:ext cx="3474720" cy="1280028"/>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5" name="TextBox 14"/>
          <p:cNvSpPr txBox="1"/>
          <p:nvPr/>
        </p:nvSpPr>
        <p:spPr>
          <a:xfrm>
            <a:off x="4499864" y="3393471"/>
            <a:ext cx="3145536" cy="1308050"/>
          </a:xfrm>
          <a:prstGeom prst="rect">
            <a:avLst/>
          </a:prstGeom>
          <a:noFill/>
        </p:spPr>
        <p:txBody>
          <a:bodyPr wrap="square">
            <a:spAutoFit/>
          </a:bodyPr>
          <a:lstStyle/>
          <a:p>
            <a:pPr>
              <a:defRPr sz="1500" b="1">
                <a:solidFill>
                  <a:srgbClr val="1F3756"/>
                </a:solidFill>
              </a:defRPr>
            </a:pPr>
            <a:r>
              <a:rPr lang="en-IN" b="1" dirty="0"/>
              <a:t>Importance</a:t>
            </a:r>
            <a:endParaRPr b="1" dirty="0"/>
          </a:p>
          <a:p>
            <a:r>
              <a:rPr lang="en-IN" sz="1600" dirty="0"/>
              <a:t>It helps ensure accurate data processing, meaningful analysis, and clear presentation of product-tracking information</a:t>
            </a:r>
            <a:endParaRPr sz="1600" b="0" dirty="0"/>
          </a:p>
        </p:txBody>
      </p:sp>
      <p:sp>
        <p:nvSpPr>
          <p:cNvPr id="16" name="TextBox 15"/>
          <p:cNvSpPr txBox="1"/>
          <p:nvPr/>
        </p:nvSpPr>
        <p:spPr>
          <a:xfrm>
            <a:off x="868680" y="5148662"/>
            <a:ext cx="10424160" cy="1087477"/>
          </a:xfrm>
          <a:prstGeom prst="rect">
            <a:avLst/>
          </a:prstGeom>
          <a:noFill/>
        </p:spPr>
        <p:txBody>
          <a:bodyPr wrap="square">
            <a:spAutoFit/>
          </a:bodyPr>
          <a:lstStyle/>
          <a:p>
            <a:pPr>
              <a:spcAft>
                <a:spcPts val="1000"/>
              </a:spcAft>
              <a:defRPr sz="1300">
                <a:solidFill>
                  <a:srgbClr val="2D2D2D"/>
                </a:solidFill>
              </a:defRPr>
            </a:pPr>
            <a:r>
              <a:rPr sz="1600" b="1" dirty="0"/>
              <a:t>Example interpretation: </a:t>
            </a:r>
          </a:p>
          <a:p>
            <a:pPr>
              <a:spcAft>
                <a:spcPts val="1000"/>
              </a:spcAft>
            </a:pPr>
            <a:r>
              <a:rPr sz="1600" b="0" dirty="0"/>
              <a:t>Python-based EDA makes product and order patterns easier to identify and explain.</a:t>
            </a:r>
          </a:p>
          <a:p>
            <a:pPr>
              <a:spcAft>
                <a:spcPts val="1000"/>
              </a:spcAft>
            </a:pPr>
            <a:r>
              <a:rPr sz="1600" b="0" dirty="0"/>
              <a:t>Visual findings support the project objective and help demonstrate the value of data analysis.</a:t>
            </a:r>
          </a:p>
        </p:txBody>
      </p:sp>
      <p:pic>
        <p:nvPicPr>
          <p:cNvPr id="18" name="object 3"/>
          <p:cNvPicPr/>
          <p:nvPr/>
        </p:nvPicPr>
        <p:blipFill>
          <a:blip r:embed="rId2" cstate="print"/>
          <a:stretch>
            <a:fillRect/>
          </a:stretch>
        </p:blipFill>
        <p:spPr>
          <a:xfrm>
            <a:off x="290750" y="204310"/>
            <a:ext cx="1361070" cy="49918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929641"/>
            <a:ext cx="10972800" cy="594360"/>
          </a:xfrm>
          <a:prstGeom prst="rect">
            <a:avLst/>
          </a:prstGeom>
          <a:noFill/>
        </p:spPr>
        <p:txBody>
          <a:bodyPr wrap="none">
            <a:spAutoFit/>
          </a:bodyPr>
          <a:lstStyle/>
          <a:p>
            <a:pPr>
              <a:defRPr sz="2600" b="1">
                <a:solidFill>
                  <a:srgbClr val="1F3756"/>
                </a:solidFill>
              </a:defRPr>
            </a:pPr>
            <a:r>
              <a:rPr dirty="0"/>
              <a:t>RESULTS &amp; KEY INSIGHTS</a:t>
            </a:r>
          </a:p>
        </p:txBody>
      </p:sp>
      <p:sp>
        <p:nvSpPr>
          <p:cNvPr id="4" name="Rounded Rectangle 3"/>
          <p:cNvSpPr/>
          <p:nvPr/>
        </p:nvSpPr>
        <p:spPr>
          <a:xfrm>
            <a:off x="640080" y="1978252"/>
            <a:ext cx="3474720" cy="114300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70560" y="1912557"/>
            <a:ext cx="3145536" cy="1061829"/>
          </a:xfrm>
          <a:prstGeom prst="rect">
            <a:avLst/>
          </a:prstGeom>
          <a:noFill/>
        </p:spPr>
        <p:txBody>
          <a:bodyPr wrap="square">
            <a:spAutoFit/>
          </a:bodyPr>
          <a:lstStyle/>
          <a:p>
            <a:pPr>
              <a:defRPr sz="1500" b="1">
                <a:solidFill>
                  <a:srgbClr val="1F3756"/>
                </a:solidFill>
              </a:defRPr>
            </a:pPr>
            <a:endParaRPr b="1" dirty="0"/>
          </a:p>
          <a:p>
            <a:r>
              <a:rPr sz="1600" b="0" dirty="0"/>
              <a:t>Python successfully loads, cleans and organizes product-tracking records.</a:t>
            </a:r>
          </a:p>
        </p:txBody>
      </p:sp>
      <p:sp>
        <p:nvSpPr>
          <p:cNvPr id="6" name="Rounded Rectangle 5"/>
          <p:cNvSpPr/>
          <p:nvPr/>
        </p:nvSpPr>
        <p:spPr>
          <a:xfrm>
            <a:off x="4343400" y="1978252"/>
            <a:ext cx="3474720" cy="114300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07992" y="1912556"/>
            <a:ext cx="3145536" cy="1061829"/>
          </a:xfrm>
          <a:prstGeom prst="rect">
            <a:avLst/>
          </a:prstGeom>
          <a:noFill/>
        </p:spPr>
        <p:txBody>
          <a:bodyPr wrap="square">
            <a:spAutoFit/>
          </a:bodyPr>
          <a:lstStyle/>
          <a:p>
            <a:pPr>
              <a:defRPr sz="1500" b="1">
                <a:solidFill>
                  <a:srgbClr val="1F3756"/>
                </a:solidFill>
              </a:defRPr>
            </a:pPr>
            <a:endParaRPr b="1" dirty="0"/>
          </a:p>
          <a:p>
            <a:r>
              <a:rPr sz="1600" b="0" dirty="0"/>
              <a:t>EDA identifies useful patterns in product categories, order activity and tracking status.</a:t>
            </a:r>
          </a:p>
        </p:txBody>
      </p:sp>
      <p:sp>
        <p:nvSpPr>
          <p:cNvPr id="8" name="Rounded Rectangle 7"/>
          <p:cNvSpPr/>
          <p:nvPr/>
        </p:nvSpPr>
        <p:spPr>
          <a:xfrm>
            <a:off x="8046720" y="1978252"/>
            <a:ext cx="3474720" cy="114300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93024" y="1912555"/>
            <a:ext cx="3145536" cy="1061829"/>
          </a:xfrm>
          <a:prstGeom prst="rect">
            <a:avLst/>
          </a:prstGeom>
          <a:noFill/>
        </p:spPr>
        <p:txBody>
          <a:bodyPr wrap="square">
            <a:spAutoFit/>
          </a:bodyPr>
          <a:lstStyle/>
          <a:p>
            <a:pPr>
              <a:defRPr sz="1500" b="1">
                <a:solidFill>
                  <a:srgbClr val="1F3756"/>
                </a:solidFill>
              </a:defRPr>
            </a:pPr>
            <a:endParaRPr b="1" dirty="0"/>
          </a:p>
          <a:p>
            <a:r>
              <a:rPr sz="1600" b="0" dirty="0"/>
              <a:t>The Python web module allows users to search for a product and view its current status.</a:t>
            </a:r>
          </a:p>
        </p:txBody>
      </p:sp>
      <p:sp>
        <p:nvSpPr>
          <p:cNvPr id="10" name="Rounded Rectangle 9"/>
          <p:cNvSpPr/>
          <p:nvPr/>
        </p:nvSpPr>
        <p:spPr>
          <a:xfrm>
            <a:off x="640080" y="3441292"/>
            <a:ext cx="3474720" cy="114300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4671" y="3569308"/>
            <a:ext cx="3145536" cy="886968"/>
          </a:xfrm>
          <a:prstGeom prst="rect">
            <a:avLst/>
          </a:prstGeom>
          <a:noFill/>
        </p:spPr>
        <p:txBody>
          <a:bodyPr wrap="square">
            <a:spAutoFit/>
          </a:bodyPr>
          <a:lstStyle/>
          <a:p>
            <a:pPr>
              <a:defRPr sz="1500" b="1">
                <a:solidFill>
                  <a:srgbClr val="1F3756"/>
                </a:solidFill>
              </a:defRPr>
            </a:pPr>
            <a:r>
              <a:rPr b="1"/>
              <a:t>Python Processing</a:t>
            </a:r>
          </a:p>
          <a:p>
            <a:endParaRPr b="1"/>
          </a:p>
          <a:p>
            <a:r>
              <a:rPr b="0"/>
              <a:t>Pandas</a:t>
            </a:r>
          </a:p>
        </p:txBody>
      </p:sp>
      <p:sp>
        <p:nvSpPr>
          <p:cNvPr id="12" name="Rounded Rectangle 11"/>
          <p:cNvSpPr/>
          <p:nvPr/>
        </p:nvSpPr>
        <p:spPr>
          <a:xfrm>
            <a:off x="4343400" y="3441292"/>
            <a:ext cx="3474720" cy="114300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07992" y="3569308"/>
            <a:ext cx="3145536" cy="886968"/>
          </a:xfrm>
          <a:prstGeom prst="rect">
            <a:avLst/>
          </a:prstGeom>
          <a:noFill/>
        </p:spPr>
        <p:txBody>
          <a:bodyPr wrap="square">
            <a:spAutoFit/>
          </a:bodyPr>
          <a:lstStyle/>
          <a:p>
            <a:pPr>
              <a:defRPr sz="1500" b="1">
                <a:solidFill>
                  <a:srgbClr val="1F3756"/>
                </a:solidFill>
              </a:defRPr>
            </a:pPr>
            <a:r>
              <a:rPr b="1"/>
              <a:t>Visualization</a:t>
            </a:r>
          </a:p>
          <a:p>
            <a:endParaRPr b="1"/>
          </a:p>
          <a:p>
            <a:r>
              <a:rPr b="0"/>
              <a:t>Matplotlib</a:t>
            </a:r>
          </a:p>
        </p:txBody>
      </p:sp>
      <p:sp>
        <p:nvSpPr>
          <p:cNvPr id="14" name="Rounded Rectangle 13"/>
          <p:cNvSpPr/>
          <p:nvPr/>
        </p:nvSpPr>
        <p:spPr>
          <a:xfrm>
            <a:off x="8046720" y="3441292"/>
            <a:ext cx="3474720" cy="114300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11312" y="3569308"/>
            <a:ext cx="3145536" cy="886968"/>
          </a:xfrm>
          <a:prstGeom prst="rect">
            <a:avLst/>
          </a:prstGeom>
          <a:noFill/>
        </p:spPr>
        <p:txBody>
          <a:bodyPr wrap="square">
            <a:spAutoFit/>
          </a:bodyPr>
          <a:lstStyle/>
          <a:p>
            <a:pPr>
              <a:defRPr sz="1500" b="1">
                <a:solidFill>
                  <a:srgbClr val="1F3756"/>
                </a:solidFill>
              </a:defRPr>
            </a:pPr>
            <a:r>
              <a:rPr b="1" dirty="0"/>
              <a:t>Web Application</a:t>
            </a:r>
          </a:p>
          <a:p>
            <a:endParaRPr b="1" dirty="0"/>
          </a:p>
          <a:p>
            <a:r>
              <a:rPr b="0" dirty="0"/>
              <a:t>Working</a:t>
            </a:r>
          </a:p>
        </p:txBody>
      </p:sp>
      <p:sp>
        <p:nvSpPr>
          <p:cNvPr id="16" name="TextBox 15"/>
          <p:cNvSpPr txBox="1"/>
          <p:nvPr/>
        </p:nvSpPr>
        <p:spPr>
          <a:xfrm>
            <a:off x="822960" y="5041492"/>
            <a:ext cx="10515600" cy="1463040"/>
          </a:xfrm>
          <a:prstGeom prst="rect">
            <a:avLst/>
          </a:prstGeom>
          <a:noFill/>
        </p:spPr>
        <p:txBody>
          <a:bodyPr wrap="square">
            <a:spAutoFit/>
          </a:bodyPr>
          <a:lstStyle/>
          <a:p>
            <a:pPr>
              <a:spcAft>
                <a:spcPts val="1000"/>
              </a:spcAft>
              <a:defRPr sz="1400">
                <a:solidFill>
                  <a:srgbClr val="2D2D2D"/>
                </a:solidFill>
              </a:defRPr>
            </a:pPr>
            <a:r>
              <a:rPr b="0" dirty="0"/>
              <a:t>The completed DAE pipeline moves from raw product records → Python data loading → cleaning → EDA → visualization → web output.</a:t>
            </a:r>
          </a:p>
          <a:p>
            <a:pPr>
              <a:spcAft>
                <a:spcPts val="1000"/>
              </a:spcAft>
            </a:pPr>
            <a:r>
              <a:rPr b="0" dirty="0"/>
              <a:t>The analysis provides evidence about product distribution, order activity and tracking progress.</a:t>
            </a:r>
          </a:p>
        </p:txBody>
      </p:sp>
      <p:pic>
        <p:nvPicPr>
          <p:cNvPr id="18" name="object 3"/>
          <p:cNvPicPr/>
          <p:nvPr/>
        </p:nvPicPr>
        <p:blipFill>
          <a:blip r:embed="rId2" cstate="print"/>
          <a:stretch>
            <a:fillRect/>
          </a:stretch>
        </p:blipFill>
        <p:spPr>
          <a:xfrm>
            <a:off x="290750" y="204310"/>
            <a:ext cx="1361070" cy="49918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1185280"/>
            <a:ext cx="10972800" cy="594360"/>
          </a:xfrm>
          <a:prstGeom prst="rect">
            <a:avLst/>
          </a:prstGeom>
          <a:noFill/>
        </p:spPr>
        <p:txBody>
          <a:bodyPr wrap="none">
            <a:spAutoFit/>
          </a:bodyPr>
          <a:lstStyle/>
          <a:p>
            <a:pPr>
              <a:defRPr sz="2600" b="1">
                <a:solidFill>
                  <a:srgbClr val="1F3756"/>
                </a:solidFill>
              </a:defRPr>
            </a:pPr>
            <a:r>
              <a:t>PROJECT REPORT &amp; PRESENTATION EVIDENCE</a:t>
            </a:r>
          </a:p>
        </p:txBody>
      </p:sp>
      <p:sp>
        <p:nvSpPr>
          <p:cNvPr id="4" name="Rounded Rectangle 3"/>
          <p:cNvSpPr/>
          <p:nvPr/>
        </p:nvSpPr>
        <p:spPr>
          <a:xfrm>
            <a:off x="475487" y="2183935"/>
            <a:ext cx="5212080" cy="114300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2196707"/>
            <a:ext cx="4882896" cy="1061829"/>
          </a:xfrm>
          <a:prstGeom prst="rect">
            <a:avLst/>
          </a:prstGeom>
          <a:noFill/>
        </p:spPr>
        <p:txBody>
          <a:bodyPr wrap="square">
            <a:spAutoFit/>
          </a:bodyPr>
          <a:lstStyle/>
          <a:p>
            <a:pPr>
              <a:defRPr sz="1500" b="1">
                <a:solidFill>
                  <a:srgbClr val="1F3756"/>
                </a:solidFill>
              </a:defRPr>
            </a:pPr>
            <a:r>
              <a:rPr lang="en-IN" b="1" dirty="0"/>
              <a:t>Data presentation</a:t>
            </a:r>
          </a:p>
          <a:p>
            <a:r>
              <a:rPr lang="en-IN" sz="1600" dirty="0"/>
              <a:t>The processed data is presented through clear tables and visualizations for easy understanding and interpretation</a:t>
            </a:r>
            <a:endParaRPr lang="en-US" sz="1600" b="0" dirty="0"/>
          </a:p>
        </p:txBody>
      </p:sp>
      <p:sp>
        <p:nvSpPr>
          <p:cNvPr id="6" name="Rounded Rectangle 5"/>
          <p:cNvSpPr/>
          <p:nvPr/>
        </p:nvSpPr>
        <p:spPr>
          <a:xfrm>
            <a:off x="475487" y="3654860"/>
            <a:ext cx="5212080" cy="114300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3818556"/>
            <a:ext cx="4789934" cy="815608"/>
          </a:xfrm>
          <a:prstGeom prst="rect">
            <a:avLst/>
          </a:prstGeom>
          <a:noFill/>
        </p:spPr>
        <p:txBody>
          <a:bodyPr wrap="square">
            <a:spAutoFit/>
          </a:bodyPr>
          <a:lstStyle/>
          <a:p>
            <a:pPr>
              <a:defRPr sz="1500" b="1">
                <a:solidFill>
                  <a:srgbClr val="1F3756"/>
                </a:solidFill>
              </a:defRPr>
            </a:pPr>
            <a:r>
              <a:rPr b="1" dirty="0"/>
              <a:t>Python Code</a:t>
            </a:r>
          </a:p>
          <a:p>
            <a:r>
              <a:rPr sz="1600" b="0" dirty="0"/>
              <a:t>Python code is organized into data loading,</a:t>
            </a:r>
            <a:endParaRPr lang="en-IN" sz="1600" dirty="0"/>
          </a:p>
          <a:p>
            <a:r>
              <a:rPr sz="1600" b="0" dirty="0"/>
              <a:t>cleaning, analysis and web-application sections.</a:t>
            </a:r>
          </a:p>
        </p:txBody>
      </p:sp>
      <p:sp>
        <p:nvSpPr>
          <p:cNvPr id="8" name="Rounded Rectangle 7"/>
          <p:cNvSpPr/>
          <p:nvPr/>
        </p:nvSpPr>
        <p:spPr>
          <a:xfrm>
            <a:off x="475487" y="5094491"/>
            <a:ext cx="5212080" cy="1198073"/>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 y="5215347"/>
            <a:ext cx="4882896" cy="815608"/>
          </a:xfrm>
          <a:prstGeom prst="rect">
            <a:avLst/>
          </a:prstGeom>
          <a:noFill/>
        </p:spPr>
        <p:txBody>
          <a:bodyPr wrap="square">
            <a:spAutoFit/>
          </a:bodyPr>
          <a:lstStyle/>
          <a:p>
            <a:pPr>
              <a:defRPr sz="1500" b="1">
                <a:solidFill>
                  <a:srgbClr val="1F3756"/>
                </a:solidFill>
              </a:defRPr>
            </a:pPr>
            <a:r>
              <a:rPr lang="en-IN" b="1" dirty="0"/>
              <a:t>Data set </a:t>
            </a:r>
            <a:endParaRPr b="1" dirty="0"/>
          </a:p>
          <a:p>
            <a:r>
              <a:rPr lang="en-IN" sz="1600" dirty="0"/>
              <a:t>The final dataset is clean, structured, and ready for analysis and visualization</a:t>
            </a:r>
            <a:endParaRPr sz="1600" b="0" dirty="0"/>
          </a:p>
        </p:txBody>
      </p:sp>
      <p:sp>
        <p:nvSpPr>
          <p:cNvPr id="10" name="Rounded Rectangle 9"/>
          <p:cNvSpPr/>
          <p:nvPr/>
        </p:nvSpPr>
        <p:spPr>
          <a:xfrm>
            <a:off x="6172200" y="2165440"/>
            <a:ext cx="5212080" cy="114300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36792" y="2288249"/>
            <a:ext cx="4882896" cy="815608"/>
          </a:xfrm>
          <a:prstGeom prst="rect">
            <a:avLst/>
          </a:prstGeom>
          <a:noFill/>
        </p:spPr>
        <p:txBody>
          <a:bodyPr wrap="square">
            <a:spAutoFit/>
          </a:bodyPr>
          <a:lstStyle/>
          <a:p>
            <a:pPr>
              <a:defRPr sz="1500" b="1">
                <a:solidFill>
                  <a:srgbClr val="1F3756"/>
                </a:solidFill>
              </a:defRPr>
            </a:pPr>
            <a:r>
              <a:rPr lang="en-IN" b="1" dirty="0"/>
              <a:t>Missing handling values</a:t>
            </a:r>
            <a:endParaRPr b="1" dirty="0"/>
          </a:p>
          <a:p>
            <a:r>
              <a:rPr lang="en-IN" sz="1600" dirty="0"/>
              <a:t>Missing values are identified and appropriately handled to maintain data quality and consistency</a:t>
            </a:r>
            <a:endParaRPr sz="1600" b="0" dirty="0"/>
          </a:p>
        </p:txBody>
      </p:sp>
      <p:sp>
        <p:nvSpPr>
          <p:cNvPr id="12" name="Rounded Rectangle 11"/>
          <p:cNvSpPr/>
          <p:nvPr/>
        </p:nvSpPr>
        <p:spPr>
          <a:xfrm>
            <a:off x="6172200" y="3654860"/>
            <a:ext cx="5212080" cy="114300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36792" y="3737793"/>
            <a:ext cx="4882896" cy="1061829"/>
          </a:xfrm>
          <a:prstGeom prst="rect">
            <a:avLst/>
          </a:prstGeom>
          <a:noFill/>
        </p:spPr>
        <p:txBody>
          <a:bodyPr wrap="square">
            <a:spAutoFit/>
          </a:bodyPr>
          <a:lstStyle/>
          <a:p>
            <a:pPr>
              <a:defRPr sz="1500" b="1">
                <a:solidFill>
                  <a:srgbClr val="1F3756"/>
                </a:solidFill>
              </a:defRPr>
            </a:pPr>
            <a:r>
              <a:rPr lang="en-IN" b="1" dirty="0"/>
              <a:t>Data cleaning </a:t>
            </a:r>
            <a:endParaRPr b="1" dirty="0"/>
          </a:p>
          <a:p>
            <a:r>
              <a:rPr lang="en-IN" sz="1600" dirty="0"/>
              <a:t>The dataset is cleaned by removing duplicates, handling missing values, and standardizing data for accurate analysis</a:t>
            </a:r>
            <a:endParaRPr sz="1600" b="0" dirty="0"/>
          </a:p>
        </p:txBody>
      </p:sp>
      <p:sp>
        <p:nvSpPr>
          <p:cNvPr id="14" name="Rounded Rectangle 13"/>
          <p:cNvSpPr/>
          <p:nvPr/>
        </p:nvSpPr>
        <p:spPr>
          <a:xfrm>
            <a:off x="6172200" y="5098015"/>
            <a:ext cx="5212080" cy="1198074"/>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36792" y="5154918"/>
            <a:ext cx="4882896" cy="1077218"/>
          </a:xfrm>
          <a:prstGeom prst="rect">
            <a:avLst/>
          </a:prstGeom>
          <a:noFill/>
        </p:spPr>
        <p:txBody>
          <a:bodyPr wrap="square">
            <a:spAutoFit/>
          </a:bodyPr>
          <a:lstStyle/>
          <a:p>
            <a:pPr>
              <a:defRPr sz="1500" b="1">
                <a:solidFill>
                  <a:srgbClr val="1F3756"/>
                </a:solidFill>
              </a:defRPr>
            </a:pPr>
            <a:r>
              <a:rPr lang="en-IN" sz="1600" b="1" dirty="0"/>
              <a:t>implementation evidence</a:t>
            </a:r>
          </a:p>
          <a:p>
            <a:r>
              <a:rPr lang="en-IN" sz="1600" dirty="0"/>
              <a:t>The implementation is demonstrated through the Python code, data processing steps, analysis outputs, and visualizations</a:t>
            </a:r>
            <a:endParaRPr lang="en-US" sz="1600" b="0" dirty="0"/>
          </a:p>
        </p:txBody>
      </p:sp>
      <p:pic>
        <p:nvPicPr>
          <p:cNvPr id="17" name="object 3"/>
          <p:cNvPicPr/>
          <p:nvPr/>
        </p:nvPicPr>
        <p:blipFill>
          <a:blip r:embed="rId2" cstate="print"/>
          <a:stretch>
            <a:fillRect/>
          </a:stretch>
        </p:blipFill>
        <p:spPr>
          <a:xfrm>
            <a:off x="290750" y="204310"/>
            <a:ext cx="1361070" cy="49918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2357" y="778444"/>
            <a:ext cx="10972800" cy="594360"/>
          </a:xfrm>
          <a:prstGeom prst="rect">
            <a:avLst/>
          </a:prstGeom>
          <a:noFill/>
        </p:spPr>
        <p:txBody>
          <a:bodyPr wrap="none">
            <a:spAutoFit/>
          </a:bodyPr>
          <a:lstStyle/>
          <a:p>
            <a:pPr>
              <a:defRPr sz="2600" b="1">
                <a:solidFill>
                  <a:srgbClr val="1F3756"/>
                </a:solidFill>
              </a:defRPr>
            </a:pPr>
            <a:r>
              <a:rPr dirty="0"/>
              <a:t>COMPLETED PROJECT WORKFLOW</a:t>
            </a:r>
          </a:p>
        </p:txBody>
      </p:sp>
      <p:pic>
        <p:nvPicPr>
          <p:cNvPr id="23" name="object 3"/>
          <p:cNvPicPr/>
          <p:nvPr/>
        </p:nvPicPr>
        <p:blipFill>
          <a:blip r:embed="rId2" cstate="print"/>
          <a:stretch>
            <a:fillRect/>
          </a:stretch>
        </p:blipFill>
        <p:spPr>
          <a:xfrm>
            <a:off x="290750" y="204310"/>
            <a:ext cx="1361070" cy="499189"/>
          </a:xfrm>
          <a:prstGeom prst="rect">
            <a:avLst/>
          </a:prstGeom>
        </p:spPr>
      </p:pic>
      <p:sp>
        <p:nvSpPr>
          <p:cNvPr id="37" name="Rounded Rectangle 3">
            <a:extLst>
              <a:ext uri="{FF2B5EF4-FFF2-40B4-BE49-F238E27FC236}">
                <a16:creationId xmlns:a16="http://schemas.microsoft.com/office/drawing/2014/main" id="{290C2960-D6A9-3950-2FEF-4D0D14E71FF2}"/>
              </a:ext>
            </a:extLst>
          </p:cNvPr>
          <p:cNvSpPr/>
          <p:nvPr/>
        </p:nvSpPr>
        <p:spPr>
          <a:xfrm>
            <a:off x="169170" y="1372804"/>
            <a:ext cx="1207008" cy="1009675"/>
          </a:xfrm>
          <a:prstGeom prst="roundRect">
            <a:avLst/>
          </a:prstGeom>
          <a:solidFill>
            <a:srgbClr val="F2F5F9"/>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F3756"/>
                </a:solidFill>
              </a:defRPr>
            </a:pPr>
            <a:r>
              <a:rPr dirty="0"/>
              <a:t>Raw Product Data</a:t>
            </a:r>
          </a:p>
        </p:txBody>
      </p:sp>
      <p:sp>
        <p:nvSpPr>
          <p:cNvPr id="39" name="Chevron 4">
            <a:extLst>
              <a:ext uri="{FF2B5EF4-FFF2-40B4-BE49-F238E27FC236}">
                <a16:creationId xmlns:a16="http://schemas.microsoft.com/office/drawing/2014/main" id="{E5A31F83-5F8F-8FA7-4FE5-C9F70E6F51BD}"/>
              </a:ext>
            </a:extLst>
          </p:cNvPr>
          <p:cNvSpPr/>
          <p:nvPr/>
        </p:nvSpPr>
        <p:spPr>
          <a:xfrm>
            <a:off x="1389890" y="1724127"/>
            <a:ext cx="341377" cy="365760"/>
          </a:xfrm>
          <a:prstGeom prst="chevron">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5">
            <a:extLst>
              <a:ext uri="{FF2B5EF4-FFF2-40B4-BE49-F238E27FC236}">
                <a16:creationId xmlns:a16="http://schemas.microsoft.com/office/drawing/2014/main" id="{74C24DD0-9D2E-5745-9AA7-7D2D7D766C75}"/>
              </a:ext>
            </a:extLst>
          </p:cNvPr>
          <p:cNvSpPr/>
          <p:nvPr/>
        </p:nvSpPr>
        <p:spPr>
          <a:xfrm>
            <a:off x="1717555" y="1372804"/>
            <a:ext cx="1207008" cy="1022103"/>
          </a:xfrm>
          <a:prstGeom prst="roundRect">
            <a:avLst/>
          </a:prstGeom>
          <a:solidFill>
            <a:srgbClr val="F2F5F9"/>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F3756"/>
                </a:solidFill>
              </a:defRPr>
            </a:pPr>
            <a:r>
              <a:rPr dirty="0"/>
              <a:t>Data Inspection</a:t>
            </a:r>
          </a:p>
        </p:txBody>
      </p:sp>
      <p:sp>
        <p:nvSpPr>
          <p:cNvPr id="43" name="Rounded Rectangle 9">
            <a:extLst>
              <a:ext uri="{FF2B5EF4-FFF2-40B4-BE49-F238E27FC236}">
                <a16:creationId xmlns:a16="http://schemas.microsoft.com/office/drawing/2014/main" id="{833ABEE0-0E9E-32A3-EBD9-7901EC36C3D3}"/>
              </a:ext>
            </a:extLst>
          </p:cNvPr>
          <p:cNvSpPr/>
          <p:nvPr/>
        </p:nvSpPr>
        <p:spPr>
          <a:xfrm>
            <a:off x="3265940" y="1388840"/>
            <a:ext cx="1207008" cy="1007872"/>
          </a:xfrm>
          <a:prstGeom prst="roundRect">
            <a:avLst/>
          </a:prstGeom>
          <a:solidFill>
            <a:srgbClr val="F2F5F9"/>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F3756"/>
                </a:solidFill>
              </a:defRPr>
            </a:pPr>
            <a:r>
              <a:t>Data Preparation</a:t>
            </a:r>
          </a:p>
        </p:txBody>
      </p:sp>
      <p:sp>
        <p:nvSpPr>
          <p:cNvPr id="45" name="Rounded Rectangle 11">
            <a:extLst>
              <a:ext uri="{FF2B5EF4-FFF2-40B4-BE49-F238E27FC236}">
                <a16:creationId xmlns:a16="http://schemas.microsoft.com/office/drawing/2014/main" id="{6E1AE3F4-3D61-C3FF-1EA8-503C592F9CE7}"/>
              </a:ext>
            </a:extLst>
          </p:cNvPr>
          <p:cNvSpPr/>
          <p:nvPr/>
        </p:nvSpPr>
        <p:spPr>
          <a:xfrm>
            <a:off x="4828037" y="1388840"/>
            <a:ext cx="1207008" cy="1007872"/>
          </a:xfrm>
          <a:prstGeom prst="roundRect">
            <a:avLst/>
          </a:prstGeom>
          <a:solidFill>
            <a:srgbClr val="F2F5F9"/>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F3756"/>
                </a:solidFill>
              </a:defRPr>
            </a:pPr>
            <a:r>
              <a:t>EDA</a:t>
            </a:r>
          </a:p>
        </p:txBody>
      </p:sp>
      <p:sp>
        <p:nvSpPr>
          <p:cNvPr id="47" name="Rounded Rectangle 13">
            <a:extLst>
              <a:ext uri="{FF2B5EF4-FFF2-40B4-BE49-F238E27FC236}">
                <a16:creationId xmlns:a16="http://schemas.microsoft.com/office/drawing/2014/main" id="{C849615E-971E-9B3A-90FA-436EEC02D852}"/>
              </a:ext>
            </a:extLst>
          </p:cNvPr>
          <p:cNvSpPr/>
          <p:nvPr/>
        </p:nvSpPr>
        <p:spPr>
          <a:xfrm>
            <a:off x="6362710" y="1374608"/>
            <a:ext cx="1207008" cy="1022104"/>
          </a:xfrm>
          <a:prstGeom prst="roundRect">
            <a:avLst/>
          </a:prstGeom>
          <a:solidFill>
            <a:srgbClr val="F2F5F9"/>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F3756"/>
                </a:solidFill>
              </a:defRPr>
            </a:pPr>
            <a:r>
              <a:rPr dirty="0"/>
              <a:t>Visualization</a:t>
            </a:r>
          </a:p>
        </p:txBody>
      </p:sp>
      <p:sp>
        <p:nvSpPr>
          <p:cNvPr id="49" name="Rounded Rectangle 15">
            <a:extLst>
              <a:ext uri="{FF2B5EF4-FFF2-40B4-BE49-F238E27FC236}">
                <a16:creationId xmlns:a16="http://schemas.microsoft.com/office/drawing/2014/main" id="{455B8DAA-2EB1-CF00-62C8-C4B2ACA6DB29}"/>
              </a:ext>
            </a:extLst>
          </p:cNvPr>
          <p:cNvSpPr/>
          <p:nvPr/>
        </p:nvSpPr>
        <p:spPr>
          <a:xfrm>
            <a:off x="7911095" y="1374608"/>
            <a:ext cx="1207008" cy="1043450"/>
          </a:xfrm>
          <a:prstGeom prst="roundRect">
            <a:avLst/>
          </a:prstGeom>
          <a:solidFill>
            <a:srgbClr val="F2F5F9"/>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F3756"/>
                </a:solidFill>
              </a:defRPr>
            </a:pPr>
            <a:r>
              <a:rPr dirty="0"/>
              <a:t>Python Web Output</a:t>
            </a:r>
          </a:p>
        </p:txBody>
      </p:sp>
      <p:sp>
        <p:nvSpPr>
          <p:cNvPr id="51" name="Rounded Rectangle 17">
            <a:extLst>
              <a:ext uri="{FF2B5EF4-FFF2-40B4-BE49-F238E27FC236}">
                <a16:creationId xmlns:a16="http://schemas.microsoft.com/office/drawing/2014/main" id="{F4E50864-20C9-5483-70A1-A78D6E0D7A31}"/>
              </a:ext>
            </a:extLst>
          </p:cNvPr>
          <p:cNvSpPr/>
          <p:nvPr/>
        </p:nvSpPr>
        <p:spPr>
          <a:xfrm>
            <a:off x="9473192" y="1395956"/>
            <a:ext cx="1207008" cy="993639"/>
          </a:xfrm>
          <a:prstGeom prst="roundRect">
            <a:avLst/>
          </a:prstGeom>
          <a:solidFill>
            <a:srgbClr val="F2F5F9"/>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F3756"/>
                </a:solidFill>
              </a:defRPr>
            </a:pPr>
            <a:r>
              <a:rPr dirty="0"/>
              <a:t>Tracking Result</a:t>
            </a:r>
          </a:p>
        </p:txBody>
      </p:sp>
      <p:sp>
        <p:nvSpPr>
          <p:cNvPr id="53" name="Rounded Rectangle 19">
            <a:extLst>
              <a:ext uri="{FF2B5EF4-FFF2-40B4-BE49-F238E27FC236}">
                <a16:creationId xmlns:a16="http://schemas.microsoft.com/office/drawing/2014/main" id="{B951055D-4857-720A-7668-A50B536AAFDA}"/>
              </a:ext>
            </a:extLst>
          </p:cNvPr>
          <p:cNvSpPr/>
          <p:nvPr/>
        </p:nvSpPr>
        <p:spPr>
          <a:xfrm>
            <a:off x="10949944" y="1395956"/>
            <a:ext cx="1207008" cy="1022102"/>
          </a:xfrm>
          <a:prstGeom prst="roundRect">
            <a:avLst/>
          </a:prstGeom>
          <a:solidFill>
            <a:srgbClr val="F2F5F9"/>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F3756"/>
                </a:solidFill>
              </a:defRPr>
            </a:pPr>
            <a:r>
              <a:t>Insights / Report</a:t>
            </a:r>
          </a:p>
        </p:txBody>
      </p:sp>
      <p:sp>
        <p:nvSpPr>
          <p:cNvPr id="55" name="Chevron 4">
            <a:extLst>
              <a:ext uri="{FF2B5EF4-FFF2-40B4-BE49-F238E27FC236}">
                <a16:creationId xmlns:a16="http://schemas.microsoft.com/office/drawing/2014/main" id="{C94DF6BD-7D8E-EDAF-1599-448D902645F7}"/>
              </a:ext>
            </a:extLst>
          </p:cNvPr>
          <p:cNvSpPr/>
          <p:nvPr/>
        </p:nvSpPr>
        <p:spPr>
          <a:xfrm>
            <a:off x="2938275" y="1702780"/>
            <a:ext cx="341377" cy="365760"/>
          </a:xfrm>
          <a:prstGeom prst="chevron">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Chevron 4">
            <a:extLst>
              <a:ext uri="{FF2B5EF4-FFF2-40B4-BE49-F238E27FC236}">
                <a16:creationId xmlns:a16="http://schemas.microsoft.com/office/drawing/2014/main" id="{39164890-428D-5CBA-EE7C-6A677BAB498D}"/>
              </a:ext>
            </a:extLst>
          </p:cNvPr>
          <p:cNvSpPr/>
          <p:nvPr/>
        </p:nvSpPr>
        <p:spPr>
          <a:xfrm>
            <a:off x="4516384" y="1724127"/>
            <a:ext cx="341377" cy="365760"/>
          </a:xfrm>
          <a:prstGeom prst="chevron">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Chevron 4">
            <a:extLst>
              <a:ext uri="{FF2B5EF4-FFF2-40B4-BE49-F238E27FC236}">
                <a16:creationId xmlns:a16="http://schemas.microsoft.com/office/drawing/2014/main" id="{3AEFDBED-21B5-6F74-7E58-69C9373E08D0}"/>
              </a:ext>
            </a:extLst>
          </p:cNvPr>
          <p:cNvSpPr/>
          <p:nvPr/>
        </p:nvSpPr>
        <p:spPr>
          <a:xfrm>
            <a:off x="6032504" y="1702780"/>
            <a:ext cx="341377" cy="365760"/>
          </a:xfrm>
          <a:prstGeom prst="chevron">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Chevron 4">
            <a:extLst>
              <a:ext uri="{FF2B5EF4-FFF2-40B4-BE49-F238E27FC236}">
                <a16:creationId xmlns:a16="http://schemas.microsoft.com/office/drawing/2014/main" id="{517F5E3E-6214-328F-0685-82CF475F57FF}"/>
              </a:ext>
            </a:extLst>
          </p:cNvPr>
          <p:cNvSpPr/>
          <p:nvPr/>
        </p:nvSpPr>
        <p:spPr>
          <a:xfrm>
            <a:off x="7578348" y="1724127"/>
            <a:ext cx="341377" cy="365760"/>
          </a:xfrm>
          <a:prstGeom prst="chevron">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Chevron 4">
            <a:extLst>
              <a:ext uri="{FF2B5EF4-FFF2-40B4-BE49-F238E27FC236}">
                <a16:creationId xmlns:a16="http://schemas.microsoft.com/office/drawing/2014/main" id="{BAC92FAD-C122-8679-191A-C47E58DB6639}"/>
              </a:ext>
            </a:extLst>
          </p:cNvPr>
          <p:cNvSpPr/>
          <p:nvPr/>
        </p:nvSpPr>
        <p:spPr>
          <a:xfrm>
            <a:off x="9131815" y="1724127"/>
            <a:ext cx="341377" cy="365760"/>
          </a:xfrm>
          <a:prstGeom prst="chevron">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Chevron 4">
            <a:extLst>
              <a:ext uri="{FF2B5EF4-FFF2-40B4-BE49-F238E27FC236}">
                <a16:creationId xmlns:a16="http://schemas.microsoft.com/office/drawing/2014/main" id="{98320520-244F-1C79-FA6D-3C1095060259}"/>
              </a:ext>
            </a:extLst>
          </p:cNvPr>
          <p:cNvSpPr/>
          <p:nvPr/>
        </p:nvSpPr>
        <p:spPr>
          <a:xfrm>
            <a:off x="10680200" y="1746237"/>
            <a:ext cx="291092" cy="365760"/>
          </a:xfrm>
          <a:prstGeom prst="chevron">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a:extLst>
              <a:ext uri="{FF2B5EF4-FFF2-40B4-BE49-F238E27FC236}">
                <a16:creationId xmlns:a16="http://schemas.microsoft.com/office/drawing/2014/main" id="{D722C41E-D80A-4C4D-21BF-B1B0F0826352}"/>
              </a:ext>
            </a:extLst>
          </p:cNvPr>
          <p:cNvSpPr txBox="1"/>
          <p:nvPr/>
        </p:nvSpPr>
        <p:spPr>
          <a:xfrm>
            <a:off x="772674" y="2791282"/>
            <a:ext cx="11155166" cy="3366563"/>
          </a:xfrm>
          <a:prstGeom prst="rect">
            <a:avLst/>
          </a:prstGeom>
          <a:noFill/>
        </p:spPr>
        <p:txBody>
          <a:bodyPr wrap="square">
            <a:spAutoFit/>
          </a:bodyPr>
          <a:lstStyle/>
          <a:p>
            <a:pPr marL="285750" lvl="0" indent="-285750" algn="just">
              <a:lnSpc>
                <a:spcPct val="150000"/>
              </a:lnSpc>
              <a:buFont typeface="Wingdings" panose="05000000000000000000" pitchFamily="2" charset="2"/>
              <a:buChar char="Ø"/>
            </a:pPr>
            <a:r>
              <a:rPr lang="en-IN" b="1" dirty="0">
                <a:latin typeface="+mj-lt"/>
                <a:cs typeface="Times New Roman" panose="02020603050405020304" pitchFamily="18" charset="0"/>
              </a:rPr>
              <a:t>Raw Product Data: </a:t>
            </a:r>
            <a:r>
              <a:rPr lang="en-IN" dirty="0">
                <a:latin typeface="+mj-lt"/>
                <a:cs typeface="Times New Roman" panose="02020603050405020304" pitchFamily="18" charset="0"/>
              </a:rPr>
              <a:t>The original product dataset is collected from the source.</a:t>
            </a:r>
          </a:p>
          <a:p>
            <a:pPr marL="285750" lvl="0" indent="-285750" algn="just">
              <a:lnSpc>
                <a:spcPct val="150000"/>
              </a:lnSpc>
              <a:buFont typeface="Wingdings" panose="05000000000000000000" pitchFamily="2" charset="2"/>
              <a:buChar char="Ø"/>
            </a:pPr>
            <a:r>
              <a:rPr lang="en-IN" b="1" dirty="0">
                <a:latin typeface="+mj-lt"/>
                <a:cs typeface="Times New Roman" panose="02020603050405020304" pitchFamily="18" charset="0"/>
              </a:rPr>
              <a:t>Data Inspection: </a:t>
            </a:r>
            <a:r>
              <a:rPr lang="en-IN" dirty="0">
                <a:latin typeface="+mj-lt"/>
                <a:cs typeface="Times New Roman" panose="02020603050405020304" pitchFamily="18" charset="0"/>
              </a:rPr>
              <a:t>The dataset’s rows, columns, data types, missing values, and duplicates are checked.</a:t>
            </a:r>
            <a:endParaRPr lang="en-IN" b="1" dirty="0">
              <a:latin typeface="+mj-lt"/>
              <a:cs typeface="Times New Roman" panose="02020603050405020304" pitchFamily="18" charset="0"/>
            </a:endParaRPr>
          </a:p>
          <a:p>
            <a:pPr marL="285750" lvl="0" indent="-285750" algn="just">
              <a:lnSpc>
                <a:spcPct val="150000"/>
              </a:lnSpc>
              <a:buFont typeface="Wingdings" panose="05000000000000000000" pitchFamily="2" charset="2"/>
              <a:buChar char="Ø"/>
            </a:pPr>
            <a:r>
              <a:rPr lang="en-IN" b="1" dirty="0">
                <a:latin typeface="+mj-lt"/>
                <a:cs typeface="Times New Roman" panose="02020603050405020304" pitchFamily="18" charset="0"/>
              </a:rPr>
              <a:t>Data Preparation: </a:t>
            </a:r>
            <a:r>
              <a:rPr lang="en-IN" dirty="0">
                <a:latin typeface="+mj-lt"/>
                <a:cs typeface="Times New Roman" panose="02020603050405020304" pitchFamily="18" charset="0"/>
              </a:rPr>
              <a:t>The data is cleaned and prepared for analysis.</a:t>
            </a:r>
          </a:p>
          <a:p>
            <a:pPr marL="285750" lvl="0" indent="-285750" algn="just">
              <a:lnSpc>
                <a:spcPct val="150000"/>
              </a:lnSpc>
              <a:buFont typeface="Wingdings" panose="05000000000000000000" pitchFamily="2" charset="2"/>
              <a:buChar char="Ø"/>
            </a:pPr>
            <a:r>
              <a:rPr lang="en-IN" b="1" dirty="0">
                <a:latin typeface="+mj-lt"/>
                <a:cs typeface="Times New Roman" panose="02020603050405020304" pitchFamily="18" charset="0"/>
              </a:rPr>
              <a:t>EDA:</a:t>
            </a:r>
            <a:r>
              <a:rPr lang="en-IN" dirty="0">
                <a:latin typeface="+mj-lt"/>
                <a:cs typeface="Times New Roman" panose="02020603050405020304" pitchFamily="18" charset="0"/>
              </a:rPr>
              <a:t> Exploratory Data Analysis is performed to identify patterns and trends.</a:t>
            </a:r>
          </a:p>
          <a:p>
            <a:pPr marL="285750" lvl="0" indent="-285750" algn="just">
              <a:lnSpc>
                <a:spcPct val="150000"/>
              </a:lnSpc>
              <a:buFont typeface="Wingdings" panose="05000000000000000000" pitchFamily="2" charset="2"/>
              <a:buChar char="Ø"/>
            </a:pPr>
            <a:r>
              <a:rPr lang="en-IN" b="1" dirty="0">
                <a:latin typeface="+mj-lt"/>
                <a:cs typeface="Times New Roman" panose="02020603050405020304" pitchFamily="18" charset="0"/>
              </a:rPr>
              <a:t>Visualization: </a:t>
            </a:r>
            <a:r>
              <a:rPr lang="en-IN" dirty="0">
                <a:latin typeface="+mj-lt"/>
                <a:cs typeface="Times New Roman" panose="02020603050405020304" pitchFamily="18" charset="0"/>
              </a:rPr>
              <a:t>Charts and graphs are created to represent product data clearly.</a:t>
            </a:r>
          </a:p>
          <a:p>
            <a:pPr marL="285750" lvl="0" indent="-285750" algn="just">
              <a:lnSpc>
                <a:spcPct val="150000"/>
              </a:lnSpc>
              <a:buFont typeface="Wingdings" panose="05000000000000000000" pitchFamily="2" charset="2"/>
              <a:buChar char="Ø"/>
            </a:pPr>
            <a:r>
              <a:rPr lang="en-IN" b="1" dirty="0">
                <a:latin typeface="+mj-lt"/>
                <a:cs typeface="Times New Roman" panose="02020603050405020304" pitchFamily="18" charset="0"/>
              </a:rPr>
              <a:t>Python Web Output: </a:t>
            </a:r>
            <a:r>
              <a:rPr lang="en-IN" dirty="0">
                <a:latin typeface="+mj-lt"/>
                <a:cs typeface="Times New Roman" panose="02020603050405020304" pitchFamily="18" charset="0"/>
              </a:rPr>
              <a:t>Python results are presented through a web-based output.</a:t>
            </a:r>
          </a:p>
          <a:p>
            <a:pPr marL="285750" lvl="0" indent="-285750" algn="just">
              <a:lnSpc>
                <a:spcPct val="150000"/>
              </a:lnSpc>
              <a:buFont typeface="Wingdings" panose="05000000000000000000" pitchFamily="2" charset="2"/>
              <a:buChar char="Ø"/>
            </a:pPr>
            <a:r>
              <a:rPr lang="en-IN" b="1" dirty="0">
                <a:latin typeface="+mj-lt"/>
                <a:cs typeface="Times New Roman" panose="02020603050405020304" pitchFamily="18" charset="0"/>
              </a:rPr>
              <a:t>Tracking Result: </a:t>
            </a:r>
            <a:r>
              <a:rPr lang="en-IN" dirty="0">
                <a:latin typeface="+mj-lt"/>
                <a:cs typeface="Times New Roman" panose="02020603050405020304" pitchFamily="18" charset="0"/>
              </a:rPr>
              <a:t>Product details and analysis results are reviewed to understand product performance.</a:t>
            </a:r>
          </a:p>
          <a:p>
            <a:pPr marL="285750" lvl="0" indent="-285750" algn="just">
              <a:lnSpc>
                <a:spcPct val="150000"/>
              </a:lnSpc>
              <a:buFont typeface="Wingdings" panose="05000000000000000000" pitchFamily="2" charset="2"/>
              <a:buChar char="Ø"/>
            </a:pPr>
            <a:r>
              <a:rPr lang="en-IN" b="1" dirty="0">
                <a:latin typeface="+mj-lt"/>
                <a:cs typeface="Times New Roman" panose="02020603050405020304" pitchFamily="18" charset="0"/>
              </a:rPr>
              <a:t>Insights / Report</a:t>
            </a:r>
            <a:r>
              <a:rPr lang="en-IN" dirty="0">
                <a:latin typeface="+mj-lt"/>
                <a:cs typeface="Times New Roman" panose="02020603050405020304" pitchFamily="18" charset="0"/>
              </a:rPr>
              <a:t>: The findings are summarized and documented in the final project report.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571240" y="918617"/>
            <a:ext cx="10972800" cy="594360"/>
          </a:xfrm>
          <a:prstGeom prst="rect">
            <a:avLst/>
          </a:prstGeom>
          <a:noFill/>
        </p:spPr>
        <p:txBody>
          <a:bodyPr wrap="none">
            <a:spAutoFit/>
          </a:bodyPr>
          <a:lstStyle/>
          <a:p>
            <a:pPr>
              <a:defRPr sz="2600" b="1">
                <a:solidFill>
                  <a:srgbClr val="1F3756"/>
                </a:solidFill>
              </a:defRPr>
            </a:pPr>
            <a:r>
              <a:rPr dirty="0"/>
              <a:t>CONCLUSION — SECOND REVIEW</a:t>
            </a:r>
          </a:p>
        </p:txBody>
      </p:sp>
      <p:sp>
        <p:nvSpPr>
          <p:cNvPr id="4" name="TextBox 3"/>
          <p:cNvSpPr txBox="1"/>
          <p:nvPr/>
        </p:nvSpPr>
        <p:spPr>
          <a:xfrm>
            <a:off x="1068373" y="1595962"/>
            <a:ext cx="9775329" cy="2957861"/>
          </a:xfrm>
          <a:prstGeom prst="rect">
            <a:avLst/>
          </a:prstGeom>
          <a:noFill/>
        </p:spPr>
        <p:txBody>
          <a:bodyPr wrap="square">
            <a:spAutoFit/>
          </a:bodyPr>
          <a:lstStyle/>
          <a:p>
            <a:pPr algn="just">
              <a:lnSpc>
                <a:spcPct val="150000"/>
              </a:lnSpc>
              <a:spcAft>
                <a:spcPts val="1000"/>
              </a:spcAft>
              <a:defRPr sz="1800">
                <a:solidFill>
                  <a:srgbClr val="2D2D2D"/>
                </a:solidFill>
              </a:defRPr>
            </a:pPr>
            <a:r>
              <a:rPr lang="en-IN" dirty="0">
                <a:solidFill>
                  <a:srgbClr val="2D2D2D"/>
                </a:solidFill>
              </a:rPr>
              <a:t>The Web Based Product Tracking System successfully manages and </a:t>
            </a:r>
            <a:r>
              <a:rPr lang="en-IN" dirty="0" err="1">
                <a:solidFill>
                  <a:srgbClr val="2D2D2D"/>
                </a:solidFill>
              </a:rPr>
              <a:t>analyzes</a:t>
            </a:r>
            <a:r>
              <a:rPr lang="en-IN" dirty="0">
                <a:solidFill>
                  <a:srgbClr val="2D2D2D"/>
                </a:solidFill>
              </a:rPr>
              <a:t> product-tracking data.</a:t>
            </a:r>
            <a:br>
              <a:rPr lang="en-IN" dirty="0">
                <a:solidFill>
                  <a:srgbClr val="2D2D2D"/>
                </a:solidFill>
              </a:rPr>
            </a:br>
            <a:r>
              <a:rPr lang="en-IN" dirty="0">
                <a:solidFill>
                  <a:srgbClr val="2D2D2D"/>
                </a:solidFill>
              </a:rPr>
              <a:t>Python and Pandas are used to clean, organize, and process the dataset.</a:t>
            </a:r>
            <a:br>
              <a:rPr lang="en-IN" dirty="0">
                <a:solidFill>
                  <a:srgbClr val="2D2D2D"/>
                </a:solidFill>
              </a:rPr>
            </a:br>
            <a:r>
              <a:rPr lang="en-IN" dirty="0">
                <a:solidFill>
                  <a:srgbClr val="2D2D2D"/>
                </a:solidFill>
              </a:rPr>
              <a:t>The system handles missing values, duplicate records, and date-related data.</a:t>
            </a:r>
            <a:br>
              <a:rPr lang="en-IN" dirty="0">
                <a:solidFill>
                  <a:srgbClr val="2D2D2D"/>
                </a:solidFill>
              </a:rPr>
            </a:br>
            <a:r>
              <a:rPr lang="en-IN" dirty="0">
                <a:solidFill>
                  <a:srgbClr val="2D2D2D"/>
                </a:solidFill>
              </a:rPr>
              <a:t>EDA helps identify patterns in product categories, pricing, ratings, and stock status.</a:t>
            </a:r>
            <a:br>
              <a:rPr lang="en-IN" dirty="0">
                <a:solidFill>
                  <a:srgbClr val="2D2D2D"/>
                </a:solidFill>
              </a:rPr>
            </a:br>
            <a:r>
              <a:rPr lang="en-IN" dirty="0">
                <a:solidFill>
                  <a:srgbClr val="2D2D2D"/>
                </a:solidFill>
              </a:rPr>
              <a:t>Visualizations make product and order trends easier to understand.</a:t>
            </a:r>
            <a:br>
              <a:rPr lang="en-IN" dirty="0">
                <a:solidFill>
                  <a:srgbClr val="2D2D2D"/>
                </a:solidFill>
              </a:rPr>
            </a:br>
            <a:r>
              <a:rPr lang="en-IN" dirty="0">
                <a:solidFill>
                  <a:srgbClr val="2D2D2D"/>
                </a:solidFill>
              </a:rPr>
              <a:t>The web-based module allows users to search products and view their tracking status.</a:t>
            </a:r>
            <a:br>
              <a:rPr lang="en-IN" dirty="0">
                <a:solidFill>
                  <a:srgbClr val="2D2D2D"/>
                </a:solidFill>
              </a:rPr>
            </a:br>
            <a:r>
              <a:rPr lang="en-IN" dirty="0">
                <a:solidFill>
                  <a:srgbClr val="2D2D2D"/>
                </a:solidFill>
              </a:rPr>
              <a:t>Overall, the project provides a structured and efficient approach to product tracking and data analysis. </a:t>
            </a:r>
          </a:p>
        </p:txBody>
      </p:sp>
      <p:sp>
        <p:nvSpPr>
          <p:cNvPr id="5" name="Rounded Rectangle 4"/>
          <p:cNvSpPr/>
          <p:nvPr/>
        </p:nvSpPr>
        <p:spPr>
          <a:xfrm>
            <a:off x="1253318" y="5429019"/>
            <a:ext cx="9285584" cy="1096285"/>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741031" y="5408947"/>
            <a:ext cx="8147599" cy="1046440"/>
          </a:xfrm>
          <a:prstGeom prst="rect">
            <a:avLst/>
          </a:prstGeom>
          <a:noFill/>
        </p:spPr>
        <p:txBody>
          <a:bodyPr wrap="square">
            <a:spAutoFit/>
          </a:bodyPr>
          <a:lstStyle/>
          <a:p>
            <a:pPr>
              <a:defRPr sz="1500" b="1">
                <a:solidFill>
                  <a:srgbClr val="1F3756"/>
                </a:solidFill>
              </a:defRPr>
            </a:pPr>
            <a:r>
              <a:rPr b="1" dirty="0"/>
              <a:t>Final message</a:t>
            </a:r>
            <a:endParaRPr lang="en-IN" b="1" dirty="0"/>
          </a:p>
          <a:p>
            <a:pPr>
              <a:defRPr sz="1500" b="1">
                <a:solidFill>
                  <a:srgbClr val="1F3756"/>
                </a:solidFill>
              </a:defRPr>
            </a:pPr>
            <a:endParaRPr b="1" dirty="0"/>
          </a:p>
          <a:p>
            <a:r>
              <a:rPr sz="1600" b="0" dirty="0"/>
              <a:t>Review-2 = Demonstrate the Python implementation, what the data showed, how the system works, and what the project achieved.</a:t>
            </a:r>
          </a:p>
        </p:txBody>
      </p:sp>
      <p:pic>
        <p:nvPicPr>
          <p:cNvPr id="8" name="object 3"/>
          <p:cNvPicPr/>
          <p:nvPr/>
        </p:nvPicPr>
        <p:blipFill>
          <a:blip r:embed="rId2" cstate="print"/>
          <a:stretch>
            <a:fillRect/>
          </a:stretch>
        </p:blipFill>
        <p:spPr>
          <a:xfrm>
            <a:off x="290750" y="204310"/>
            <a:ext cx="1361070" cy="49918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713270" y="2567203"/>
            <a:ext cx="2734979" cy="707886"/>
          </a:xfrm>
          <a:prstGeom prst="rect">
            <a:avLst/>
          </a:prstGeom>
          <a:noFill/>
        </p:spPr>
        <p:txBody>
          <a:bodyPr wrap="none">
            <a:spAutoFit/>
          </a:bodyPr>
          <a:lstStyle/>
          <a:p>
            <a:pPr algn="ctr">
              <a:defRPr sz="4000" b="1">
                <a:solidFill>
                  <a:srgbClr val="1F3756"/>
                </a:solidFill>
              </a:defRPr>
            </a:pPr>
            <a:r>
              <a:rPr dirty="0"/>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2161</TotalTime>
  <Words>1066</Words>
  <Application>Microsoft Office PowerPoint</Application>
  <PresentationFormat>Widescreen</PresentationFormat>
  <Paragraphs>154</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Akshaya Garikapati</dc:creator>
  <dc:description>generated using python-pptx</dc:description>
  <cp:lastModifiedBy>NAGA SAI ASMITHA</cp:lastModifiedBy>
  <cp:revision>10</cp:revision>
  <dcterms:created xsi:type="dcterms:W3CDTF">2013-01-27T09:14:00Z</dcterms:created>
  <dcterms:modified xsi:type="dcterms:W3CDTF">2026-10-25T16:34:15Z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DAE7B75838444DA6A329BE7D13EC70AA_13</vt:lpwstr>
  </property>
</Properties>
</file>