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74" r:id="rId6"/>
    <p:sldId id="279" r:id="rId7"/>
    <p:sldId id="276" r:id="rId8"/>
    <p:sldId id="280" r:id="rId9"/>
    <p:sldId id="278" r:id="rId10"/>
    <p:sldId id="271" r:id="rId11"/>
    <p:sldId id="281" r:id="rId12"/>
    <p:sldId id="282" r:id="rId13"/>
    <p:sldId id="268" r:id="rId14"/>
    <p:sldId id="269" r:id="rId15"/>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57"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showGuides="1">
      <p:cViewPr varScale="1">
        <p:scale>
          <a:sx n="69" d="100"/>
          <a:sy n="69" d="100"/>
        </p:scale>
        <p:origin x="1954" y="67"/>
      </p:cViewPr>
      <p:guideLst>
        <p:guide orient="horz" pos="2857"/>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25-10-2026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10</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panose="02040502050505030304"/>
                <a:cs typeface="Palatino Linotype" panose="02040502050505030304"/>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panose="02040502050505030304"/>
                <a:cs typeface="Palatino Linotype" panose="02040502050505030304"/>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118870"/>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400" spc="-10" dirty="0">
                <a:latin typeface="Times New Roman" panose="02020603050405020304" pitchFamily="18" charset="0"/>
                <a:cs typeface="Times New Roman" panose="02020603050405020304" pitchFamily="18" charset="0"/>
              </a:rPr>
              <a:t>First Review</a:t>
            </a:r>
            <a:endParaRPr sz="24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206240"/>
          </a:xfrm>
          <a:prstGeom prst="rect">
            <a:avLst/>
          </a:prstGeom>
        </p:spPr>
        <p:txBody>
          <a:bodyPr vert="horz" wrap="square" lIns="0" tIns="16510" rIns="0" bIns="0" rtlCol="0">
            <a:spAutoFit/>
          </a:bodyPr>
          <a:lstStyle/>
          <a:p>
            <a:pPr algn="ctr">
              <a:lnSpc>
                <a:spcPct val="100000"/>
              </a:lnSpc>
              <a:spcBef>
                <a:spcPts val="130"/>
              </a:spcBef>
            </a:pPr>
            <a:r>
              <a:rPr lang="en-IN" altLang="en-US" sz="2800" dirty="0">
                <a:solidFill>
                  <a:schemeClr val="tx1"/>
                </a:solidFill>
                <a:latin typeface="Times New Roman" panose="02020603050405020304" pitchFamily="18" charset="0"/>
                <a:cs typeface="Times New Roman" panose="02020603050405020304" pitchFamily="18" charset="0"/>
              </a:rPr>
              <a:t>   </a:t>
            </a:r>
            <a:r>
              <a:rPr lang="en-US" altLang="en-US" sz="2800" dirty="0">
                <a:solidFill>
                  <a:schemeClr val="tx1"/>
                </a:solidFill>
                <a:latin typeface="Times New Roman" panose="02020603050405020304" pitchFamily="18" charset="0"/>
                <a:cs typeface="Times New Roman" panose="02020603050405020304" pitchFamily="18" charset="0"/>
              </a:rPr>
              <a:t>Web Based Product Tracking System</a:t>
            </a:r>
          </a:p>
          <a:p>
            <a:pPr algn="ctr">
              <a:lnSpc>
                <a:spcPct val="100000"/>
              </a:lnSpc>
              <a:spcBef>
                <a:spcPts val="130"/>
              </a:spcBef>
            </a:pPr>
            <a:endParaRPr lang="en-US" altLang="en-US" dirty="0">
              <a:solidFill>
                <a:schemeClr val="tx1"/>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US" altLang="en-US" dirty="0">
              <a:solidFill>
                <a:schemeClr val="tx1"/>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p>
          <a:p>
            <a:pPr algn="ctr">
              <a:lnSpc>
                <a:spcPct val="100000"/>
              </a:lnSpc>
              <a:spcBef>
                <a:spcPts val="130"/>
              </a:spcBef>
            </a:pP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US" altLang="en-US" sz="2200" spc="-30" dirty="0">
                <a:solidFill>
                  <a:schemeClr val="tx2">
                    <a:lumMod val="60000"/>
                    <a:lumOff val="40000"/>
                  </a:schemeClr>
                </a:solidFill>
                <a:uFillTx/>
                <a:latin typeface="Times New Roman" panose="02020603050405020304" pitchFamily="18" charset="0"/>
                <a:cs typeface="Times New Roman" panose="02020603050405020304" pitchFamily="18" charset="0"/>
              </a:rPr>
              <a:t>G Akshaya (25B11AI328)</a:t>
            </a:r>
          </a:p>
          <a:p>
            <a:pPr algn="ctr">
              <a:lnSpc>
                <a:spcPct val="100000"/>
              </a:lnSpc>
              <a:spcBef>
                <a:spcPts val="130"/>
              </a:spcBef>
            </a:pPr>
            <a:r>
              <a:rPr lang="en-US" altLang="en-US" sz="2200" spc="-30" dirty="0">
                <a:solidFill>
                  <a:schemeClr val="tx2">
                    <a:lumMod val="60000"/>
                    <a:lumOff val="40000"/>
                  </a:schemeClr>
                </a:solidFill>
                <a:uFillTx/>
                <a:latin typeface="Times New Roman" panose="02020603050405020304" pitchFamily="18" charset="0"/>
                <a:cs typeface="Times New Roman" panose="02020603050405020304" pitchFamily="18" charset="0"/>
              </a:rPr>
              <a:t>R Thanuja (25B11AIA34)</a:t>
            </a:r>
          </a:p>
          <a:p>
            <a:pPr algn="ctr">
              <a:lnSpc>
                <a:spcPct val="100000"/>
              </a:lnSpc>
              <a:spcBef>
                <a:spcPts val="130"/>
              </a:spcBef>
            </a:pPr>
            <a:r>
              <a:rPr lang="en-US" altLang="en-US" sz="2200" spc="-30" dirty="0">
                <a:solidFill>
                  <a:schemeClr val="tx2">
                    <a:lumMod val="60000"/>
                    <a:lumOff val="40000"/>
                  </a:schemeClr>
                </a:solidFill>
                <a:uFillTx/>
                <a:latin typeface="Times New Roman" panose="02020603050405020304" pitchFamily="18" charset="0"/>
                <a:cs typeface="Times New Roman" panose="02020603050405020304" pitchFamily="18" charset="0"/>
              </a:rPr>
              <a:t>Y Aasmita (25B11AID10)</a:t>
            </a:r>
          </a:p>
          <a:p>
            <a:pPr algn="ctr">
              <a:lnSpc>
                <a:spcPct val="100000"/>
              </a:lnSpc>
              <a:spcBef>
                <a:spcPts val="130"/>
              </a:spcBef>
            </a:pPr>
            <a:endParaRPr lang="en-US" altLang="en-US" sz="2200" spc="-30" dirty="0">
              <a:solidFill>
                <a:schemeClr val="tx2">
                  <a:lumMod val="60000"/>
                  <a:lumOff val="40000"/>
                </a:schemeClr>
              </a:solidFill>
              <a:uFillTx/>
              <a:latin typeface="Times New Roman" panose="02020603050405020304" pitchFamily="18" charset="0"/>
              <a:cs typeface="Times New Roman" panose="02020603050405020304" pitchFamily="18" charset="0"/>
            </a:endParaRPr>
          </a:p>
          <a:p>
            <a:pPr marL="1270" algn="ctr">
              <a:lnSpc>
                <a:spcPct val="100000"/>
              </a:lnSpc>
              <a:spcBef>
                <a:spcPts val="995"/>
              </a:spcBef>
            </a:pPr>
            <a:r>
              <a:rPr sz="2400" dirty="0">
                <a:solidFill>
                  <a:srgbClr val="943735"/>
                </a:solidFill>
                <a:latin typeface="Times New Roman" panose="02020603050405020304" pitchFamily="18" charset="0"/>
                <a:cs typeface="Times New Roman" panose="02020603050405020304" pitchFamily="18" charset="0"/>
              </a:rPr>
              <a:t>Department</a:t>
            </a:r>
            <a:r>
              <a:rPr sz="2400" spc="-60" dirty="0">
                <a:solidFill>
                  <a:srgbClr val="943735"/>
                </a:solidFill>
                <a:latin typeface="Times New Roman" panose="02020603050405020304" pitchFamily="18" charset="0"/>
                <a:cs typeface="Times New Roman" panose="02020603050405020304" pitchFamily="18" charset="0"/>
              </a:rPr>
              <a:t> </a:t>
            </a:r>
            <a:r>
              <a:rPr sz="2400" dirty="0">
                <a:solidFill>
                  <a:srgbClr val="943735"/>
                </a:solidFill>
                <a:latin typeface="Times New Roman" panose="02020603050405020304" pitchFamily="18" charset="0"/>
                <a:cs typeface="Times New Roman" panose="02020603050405020304" pitchFamily="18" charset="0"/>
              </a:rPr>
              <a:t>o</a:t>
            </a:r>
            <a:r>
              <a:rPr lang="en-US" sz="2400" dirty="0">
                <a:solidFill>
                  <a:srgbClr val="943735"/>
                </a:solidFill>
                <a:latin typeface="Times New Roman" panose="02020603050405020304" pitchFamily="18" charset="0"/>
                <a:cs typeface="Times New Roman" panose="02020603050405020304" pitchFamily="18" charset="0"/>
              </a:rPr>
              <a:t>f </a:t>
            </a:r>
            <a:r>
              <a:rPr lang="en-IN" sz="24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4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5"/>
              </a:spcBef>
            </a:pPr>
            <a:endParaRPr lang="en-IN" sz="240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panose="02040503050406030204"/>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p:cNvPicPr/>
          <p:nvPr/>
        </p:nvPicPr>
        <p:blipFill>
          <a:blip r:embed="rId5" cstate="print"/>
          <a:stretch>
            <a:fillRect/>
          </a:stretch>
        </p:blipFill>
        <p:spPr>
          <a:xfrm>
            <a:off x="290750" y="204311"/>
            <a:ext cx="1163002" cy="424338"/>
          </a:xfrm>
          <a:prstGeom prst="rect">
            <a:avLst/>
          </a:prstGeom>
        </p:spPr>
      </p:pic>
      <p:sp>
        <p:nvSpPr>
          <p:cNvPr id="13" name="TextBox 12"/>
          <p:cNvSpPr txBox="1"/>
          <p:nvPr/>
        </p:nvSpPr>
        <p:spPr>
          <a:xfrm>
            <a:off x="685800" y="1142720"/>
            <a:ext cx="8953500" cy="4892675"/>
          </a:xfrm>
          <a:prstGeom prst="rect">
            <a:avLst/>
          </a:prstGeom>
          <a:noFill/>
        </p:spPr>
        <p:txBody>
          <a:bodyPr wrap="square" rtlCol="0">
            <a:spAutoFit/>
          </a:bodyPr>
          <a:lstStyle/>
          <a:p>
            <a:pPr algn="just"/>
            <a:r>
              <a:rPr lang="en-US" altLang="en-US" sz="2400" u="none" strike="noStrike" kern="0" cap="none" spc="0" normalizeH="0" dirty="0">
                <a:latin typeface="Times New Roman" panose="02020603050405020304" pitchFamily="18" charset="0"/>
                <a:cs typeface="Times New Roman" panose="02020603050405020304" pitchFamily="18" charset="0"/>
              </a:rPr>
              <a:t>A Web - Based Product Tracking System is an online application designed to monitor and manage products throughout their lifecycle, from manufacturing or purchase to delivery and sales.  The system helps businesses keep accurate records of product details, stock levels, locations,and movement in real time.  It provides features such as product registration, inventory management, order tracking,and report generation .</a:t>
            </a:r>
          </a:p>
          <a:p>
            <a:pPr algn="just"/>
            <a:endParaRPr lang="en-US" altLang="en-US" sz="2400" u="none" strike="noStrike" kern="0" cap="none" spc="0" normalizeH="0" dirty="0">
              <a:latin typeface="Times New Roman" panose="02020603050405020304" pitchFamily="18" charset="0"/>
              <a:cs typeface="Times New Roman" panose="02020603050405020304" pitchFamily="18" charset="0"/>
            </a:endParaRPr>
          </a:p>
          <a:p>
            <a:pPr algn="just"/>
            <a:r>
              <a:rPr lang="en-US" altLang="en-US" sz="2400" u="none" strike="noStrike" kern="0" cap="none" spc="0" normalizeH="0" dirty="0">
                <a:latin typeface="Times New Roman" panose="02020603050405020304" pitchFamily="18" charset="0"/>
                <a:cs typeface="Times New Roman" panose="02020603050405020304" pitchFamily="18" charset="0"/>
              </a:rPr>
              <a:t>Users can securely access the system through a web browser, making it easy to update and track product information from anywhere.  This system reduces manual errors, improves inventory accuracy, saves time, and enhances overall business efficiency by ensuring smooth product management and better decision - making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2667000" y="85008"/>
            <a:ext cx="5103904" cy="1198311"/>
            <a:chOff x="2648188" y="47148"/>
            <a:chExt cx="5103904" cy="1198311"/>
          </a:xfrm>
        </p:grpSpPr>
        <p:pic>
          <p:nvPicPr>
            <p:cNvPr id="5" name="object 4"/>
            <p:cNvPicPr/>
            <p:nvPr/>
          </p:nvPicPr>
          <p:blipFill>
            <a:blip r:embed="rId2" cstate="print"/>
            <a:stretch>
              <a:fillRect/>
            </a:stretch>
          </p:blipFill>
          <p:spPr>
            <a:xfrm>
              <a:off x="2648188" y="47148"/>
              <a:ext cx="5103904" cy="1198311"/>
            </a:xfrm>
            <a:prstGeom prst="rect">
              <a:avLst/>
            </a:prstGeom>
          </p:spPr>
        </p:pic>
        <p:pic>
          <p:nvPicPr>
            <p:cNvPr id="6" name="object 5"/>
            <p:cNvPicPr/>
            <p:nvPr/>
          </p:nvPicPr>
          <p:blipFill>
            <a:blip r:embed="rId3" cstate="print"/>
            <a:stretch>
              <a:fillRect/>
            </a:stretch>
          </p:blipFill>
          <p:spPr>
            <a:xfrm>
              <a:off x="2703195" y="86439"/>
              <a:ext cx="4997767" cy="1092279"/>
            </a:xfrm>
            <a:prstGeom prst="rect">
              <a:avLst/>
            </a:prstGeom>
          </p:spPr>
        </p:pic>
        <p:pic>
          <p:nvPicPr>
            <p:cNvPr id="7" name="object 6"/>
            <p:cNvPicPr/>
            <p:nvPr/>
          </p:nvPicPr>
          <p:blipFill>
            <a:blip r:embed="rId4" cstate="print"/>
            <a:stretch>
              <a:fillRect/>
            </a:stretch>
          </p:blipFill>
          <p:spPr>
            <a:xfrm>
              <a:off x="2828925" y="243549"/>
              <a:ext cx="4585268" cy="522565"/>
            </a:xfrm>
            <a:prstGeom prst="rect">
              <a:avLst/>
            </a:prstGeom>
          </p:spPr>
        </p:pic>
        <p:sp>
          <p:nvSpPr>
            <p:cNvPr id="8"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p:cNvPicPr/>
          <p:nvPr/>
        </p:nvPicPr>
        <p:blipFill>
          <a:blip r:embed="rId5" cstate="print"/>
          <a:stretch>
            <a:fillRect/>
          </a:stretch>
        </p:blipFill>
        <p:spPr>
          <a:xfrm>
            <a:off x="290750" y="204311"/>
            <a:ext cx="1163002" cy="424338"/>
          </a:xfrm>
          <a:prstGeom prst="rect">
            <a:avLst/>
          </a:prstGeom>
        </p:spPr>
      </p:pic>
      <p:sp>
        <p:nvSpPr>
          <p:cNvPr id="2" name="TextBox 1"/>
          <p:cNvSpPr txBox="1"/>
          <p:nvPr/>
        </p:nvSpPr>
        <p:spPr>
          <a:xfrm>
            <a:off x="723900" y="1524000"/>
            <a:ext cx="8610600" cy="5093335"/>
          </a:xfrm>
          <a:prstGeom prst="rect">
            <a:avLst/>
          </a:prstGeom>
          <a:noFill/>
        </p:spPr>
        <p:txBody>
          <a:bodyPr wrap="square" rtlCol="0">
            <a:noAutofit/>
          </a:bodyPr>
          <a:lstStyle/>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A Web - Based Product Tracking System is an online application used to manage and track products efficiently.</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It helps businesses monitor product details, stock levels, and product </a:t>
            </a:r>
          </a:p>
          <a:p>
            <a:pPr marL="0" indent="0">
              <a:buFont typeface="Arial" panose="020B0604020202020204" pitchFamily="34" charset="0"/>
              <a:buNone/>
            </a:pP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movement in real time.</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The system stores all product information in a centralized database, </a:t>
            </a:r>
          </a:p>
          <a:p>
            <a:pPr marL="0" indent="0">
              <a:buFont typeface="Arial" panose="020B0604020202020204" pitchFamily="34" charset="0"/>
              <a:buNone/>
            </a:pP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making it easy to access and update</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200" dirty="0">
                <a:latin typeface="Times New Roman" panose="02020603050405020304" pitchFamily="18" charset="0"/>
                <a:cs typeface="Times New Roman" panose="02020603050405020304" pitchFamily="18" charset="0"/>
              </a:rPr>
              <a:t>• </a:t>
            </a: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It reduces manual work, minimizes errors, and improves inventory </a:t>
            </a:r>
          </a:p>
          <a:p>
            <a:pPr marL="0" indent="0">
              <a:buFont typeface="Arial" panose="020B0604020202020204" pitchFamily="34" charset="0"/>
              <a:buNone/>
            </a:pP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management.</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200" dirty="0">
                <a:latin typeface="Times New Roman" panose="02020603050405020304" pitchFamily="18" charset="0"/>
                <a:cs typeface="Times New Roman" panose="02020603050405020304" pitchFamily="18" charset="0"/>
              </a:rPr>
              <a:t>• </a:t>
            </a: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Being web - based, it can be accessed anytime and from anywhere with </a:t>
            </a:r>
          </a:p>
          <a:p>
            <a:pPr marL="0" indent="0">
              <a:buFont typeface="Arial" panose="020B0604020202020204" pitchFamily="34" charset="0"/>
              <a:buNone/>
            </a:pP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an internet connection.</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sz="2200" dirty="0">
                <a:latin typeface="Times New Roman" panose="02020603050405020304" pitchFamily="18" charset="0"/>
                <a:cs typeface="Times New Roman" panose="02020603050405020304" pitchFamily="18" charset="0"/>
              </a:rPr>
              <a:t>• </a:t>
            </a: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Overall, the system saves time, increases accuracy, and improves </a:t>
            </a:r>
          </a:p>
          <a:p>
            <a:pPr marL="0" indent="0">
              <a:buFont typeface="Arial" panose="020B0604020202020204" pitchFamily="34" charset="0"/>
              <a:buNone/>
            </a:pPr>
            <a:r>
              <a:rPr lang="en-IN" altLang="en-US" sz="2200"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business efficiency.</a:t>
            </a:r>
          </a:p>
          <a:p>
            <a:pPr marL="0" indent="0">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2667000" y="85008"/>
            <a:ext cx="5103904" cy="1198311"/>
            <a:chOff x="2648188" y="47148"/>
            <a:chExt cx="5103904" cy="1198311"/>
          </a:xfrm>
        </p:grpSpPr>
        <p:pic>
          <p:nvPicPr>
            <p:cNvPr id="5" name="object 4"/>
            <p:cNvPicPr/>
            <p:nvPr/>
          </p:nvPicPr>
          <p:blipFill>
            <a:blip r:embed="rId2" cstate="print"/>
            <a:stretch>
              <a:fillRect/>
            </a:stretch>
          </p:blipFill>
          <p:spPr>
            <a:xfrm>
              <a:off x="2648188" y="47148"/>
              <a:ext cx="5103904" cy="1198311"/>
            </a:xfrm>
            <a:prstGeom prst="rect">
              <a:avLst/>
            </a:prstGeom>
          </p:spPr>
        </p:pic>
        <p:pic>
          <p:nvPicPr>
            <p:cNvPr id="6" name="object 5"/>
            <p:cNvPicPr/>
            <p:nvPr/>
          </p:nvPicPr>
          <p:blipFill>
            <a:blip r:embed="rId3" cstate="print"/>
            <a:stretch>
              <a:fillRect/>
            </a:stretch>
          </p:blipFill>
          <p:spPr>
            <a:xfrm>
              <a:off x="2703195" y="86439"/>
              <a:ext cx="4997767" cy="1092279"/>
            </a:xfrm>
            <a:prstGeom prst="rect">
              <a:avLst/>
            </a:prstGeom>
          </p:spPr>
        </p:pic>
        <p:pic>
          <p:nvPicPr>
            <p:cNvPr id="7" name="object 6"/>
            <p:cNvPicPr/>
            <p:nvPr/>
          </p:nvPicPr>
          <p:blipFill>
            <a:blip r:embed="rId4" cstate="print"/>
            <a:stretch>
              <a:fillRect/>
            </a:stretch>
          </p:blipFill>
          <p:spPr>
            <a:xfrm>
              <a:off x="2828925" y="243549"/>
              <a:ext cx="4585268" cy="522565"/>
            </a:xfrm>
            <a:prstGeom prst="rect">
              <a:avLst/>
            </a:prstGeom>
          </p:spPr>
        </p:pic>
        <p:sp>
          <p:nvSpPr>
            <p:cNvPr id="8"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p:cNvSpPr txBox="1"/>
          <p:nvPr/>
        </p:nvSpPr>
        <p:spPr>
          <a:xfrm>
            <a:off x="762000" y="1371759"/>
            <a:ext cx="8534400" cy="5785485"/>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a:t>
            </a:r>
          </a:p>
          <a:p>
            <a:pPr>
              <a:spcBef>
                <a:spcPts val="1200"/>
              </a:spcBef>
            </a:pPr>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IN" altLang="en-US" sz="2400" b="0" dirty="0">
                <a:latin typeface="Times New Roman" panose="02020603050405020304" pitchFamily="18" charset="0"/>
                <a:cs typeface="Times New Roman" panose="02020603050405020304" pitchFamily="18" charset="0"/>
              </a:rPr>
              <a:t> </a:t>
            </a:r>
            <a:r>
              <a:rPr lang="en-US" altLang="en-US" sz="2400" b="0" dirty="0">
                <a:latin typeface="Times New Roman" panose="02020603050405020304" pitchFamily="18" charset="0"/>
                <a:cs typeface="Times New Roman" panose="02020603050405020304" pitchFamily="18" charset="0"/>
              </a:rPr>
              <a:t>Data is stored in Excel Sheets, csv Files</a:t>
            </a:r>
            <a:r>
              <a:rPr lang="en-IN" altLang="en-US" sz="2400" b="0" dirty="0">
                <a:latin typeface="Times New Roman" panose="02020603050405020304" pitchFamily="18" charset="0"/>
                <a:cs typeface="Times New Roman" panose="02020603050405020304" pitchFamily="18" charset="0"/>
              </a:rPr>
              <a:t>.</a:t>
            </a:r>
            <a:endParaRPr lang="en-US" altLang="en-US" sz="2400" b="0" dirty="0">
              <a:latin typeface="Times New Roman" panose="02020603050405020304" pitchFamily="18" charset="0"/>
              <a:cs typeface="Times New Roman" panose="02020603050405020304" pitchFamily="18" charset="0"/>
            </a:endParaRPr>
          </a:p>
          <a:p>
            <a:r>
              <a:rPr lang="en-US" altLang="en-US" sz="2400" b="0" dirty="0">
                <a:latin typeface="Times New Roman" panose="02020603050405020304" pitchFamily="18" charset="0"/>
                <a:cs typeface="Times New Roman" panose="02020603050405020304" pitchFamily="18" charset="0"/>
              </a:rPr>
              <a:t>• </a:t>
            </a:r>
            <a:r>
              <a:rPr lang="en-IN" altLang="en-US" sz="2400" b="0" dirty="0">
                <a:latin typeface="Times New Roman" panose="02020603050405020304" pitchFamily="18" charset="0"/>
                <a:cs typeface="Times New Roman" panose="02020603050405020304" pitchFamily="18" charset="0"/>
              </a:rPr>
              <a:t> </a:t>
            </a:r>
            <a:r>
              <a:rPr lang="en-US" altLang="en-US" sz="2400" b="0" dirty="0">
                <a:latin typeface="Times New Roman" panose="02020603050405020304" pitchFamily="18" charset="0"/>
                <a:cs typeface="Times New Roman" panose="02020603050405020304" pitchFamily="18" charset="0"/>
              </a:rPr>
              <a:t>Data is stored in Excel Sheets, csv Files, or Paper Records.</a:t>
            </a:r>
          </a:p>
          <a:p>
            <a:r>
              <a:rPr lang="en-US" altLang="en-US" sz="2400" b="0" dirty="0">
                <a:latin typeface="Times New Roman" panose="02020603050405020304" pitchFamily="18" charset="0"/>
                <a:cs typeface="Times New Roman" panose="02020603050405020304" pitchFamily="18" charset="0"/>
              </a:rPr>
              <a:t>• </a:t>
            </a:r>
            <a:r>
              <a:rPr lang="en-IN" altLang="en-US" sz="2400" b="0" dirty="0">
                <a:latin typeface="Times New Roman" panose="02020603050405020304" pitchFamily="18" charset="0"/>
                <a:cs typeface="Times New Roman" panose="02020603050405020304" pitchFamily="18" charset="0"/>
              </a:rPr>
              <a:t> </a:t>
            </a:r>
            <a:r>
              <a:rPr lang="en-US" altLang="en-US" sz="2400" b="0" dirty="0">
                <a:latin typeface="Times New Roman" panose="02020603050405020304" pitchFamily="18" charset="0"/>
                <a:cs typeface="Times New Roman" panose="02020603050405020304" pitchFamily="18" charset="0"/>
              </a:rPr>
              <a:t>Product details are updated manually by employees</a:t>
            </a:r>
            <a:r>
              <a:rPr lang="en-IN" altLang="en-US" sz="2400" b="0" dirty="0">
                <a:latin typeface="Times New Roman" panose="02020603050405020304" pitchFamily="18" charset="0"/>
                <a:cs typeface="Times New Roman" panose="02020603050405020304" pitchFamily="18" charset="0"/>
              </a:rPr>
              <a:t>.</a:t>
            </a:r>
            <a:endParaRPr lang="en-US" altLang="en-US" sz="2400" b="0" dirty="0">
              <a:latin typeface="Times New Roman" panose="02020603050405020304" pitchFamily="18" charset="0"/>
              <a:cs typeface="Times New Roman" panose="02020603050405020304" pitchFamily="18" charset="0"/>
            </a:endParaRPr>
          </a:p>
          <a:p>
            <a:r>
              <a:rPr lang="en-US" altLang="en-US" sz="2400" b="0" dirty="0">
                <a:latin typeface="Times New Roman" panose="02020603050405020304" pitchFamily="18" charset="0"/>
                <a:cs typeface="Times New Roman" panose="02020603050405020304" pitchFamily="18" charset="0"/>
              </a:rPr>
              <a:t>• </a:t>
            </a:r>
            <a:r>
              <a:rPr lang="en-IN" altLang="en-US" sz="2400" b="0" dirty="0">
                <a:latin typeface="Times New Roman" panose="02020603050405020304" pitchFamily="18" charset="0"/>
                <a:cs typeface="Times New Roman" panose="02020603050405020304" pitchFamily="18" charset="0"/>
              </a:rPr>
              <a:t> </a:t>
            </a:r>
            <a:r>
              <a:rPr lang="en-US" altLang="en-US" sz="2400" b="0" dirty="0">
                <a:latin typeface="Times New Roman" panose="02020603050405020304" pitchFamily="18" charset="0"/>
                <a:cs typeface="Times New Roman" panose="02020603050405020304" pitchFamily="18" charset="0"/>
              </a:rPr>
              <a:t>Tracking product movement is time - consuming and inefficient.</a:t>
            </a:r>
          </a:p>
          <a:p>
            <a:endParaRPr lang="en-US" altLang="en-US" sz="2400" b="0" dirty="0">
              <a:latin typeface="Times New Roman" panose="02020603050405020304" pitchFamily="18" charset="0"/>
              <a:cs typeface="Times New Roman" panose="02020603050405020304" pitchFamily="18" charset="0"/>
            </a:endParaRPr>
          </a:p>
          <a:p>
            <a:endParaRPr lang="en-US" altLang="en-US" sz="2400" b="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Problems in the Existing System</a:t>
            </a:r>
          </a:p>
          <a:p>
            <a:endParaRPr lang="en-US" altLang="en-US" sz="2400" b="1" dirty="0">
              <a:latin typeface="Times New Roman" panose="02020603050405020304" pitchFamily="18" charset="0"/>
              <a:cs typeface="Times New Roman" panose="02020603050405020304" pitchFamily="18" charset="0"/>
            </a:endParaRP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Slow processing of product information.</a:t>
            </a: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 Human errors during data entry.</a:t>
            </a: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 Missing or duplicate product records.</a:t>
            </a: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 Difficulty in tracking product location and stock.</a:t>
            </a: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No real - time updates.</a:t>
            </a:r>
          </a:p>
          <a:p>
            <a:r>
              <a:rPr lang="en-US" altLang="en-US" sz="2400" b="0" dirty="0">
                <a:latin typeface="Times New Roman" panose="02020603050405020304" pitchFamily="18" charset="0"/>
                <a:cs typeface="Times New Roman" panose="02020603050405020304" pitchFamily="18" charset="0"/>
                <a:sym typeface="+mn-ea"/>
              </a:rPr>
              <a:t>•</a:t>
            </a:r>
            <a:r>
              <a:rPr lang="en-IN" altLang="en-US" sz="2400" b="0" dirty="0">
                <a:latin typeface="Times New Roman" panose="02020603050405020304" pitchFamily="18" charset="0"/>
                <a:cs typeface="Times New Roman" panose="02020603050405020304" pitchFamily="18" charset="0"/>
                <a:sym typeface="+mn-ea"/>
              </a:rPr>
              <a:t> </a:t>
            </a:r>
            <a:r>
              <a:rPr lang="en-US" altLang="en-US" sz="2400" b="0" dirty="0">
                <a:latin typeface="Times New Roman" panose="02020603050405020304" pitchFamily="18" charset="0"/>
                <a:cs typeface="Times New Roman" panose="02020603050405020304" pitchFamily="18" charset="0"/>
              </a:rPr>
              <a:t> No automatic reports or data visualization.</a:t>
            </a:r>
          </a:p>
        </p:txBody>
      </p:sp>
      <p:pic>
        <p:nvPicPr>
          <p:cNvPr id="17" name="object 3"/>
          <p:cNvPicPr/>
          <p:nvPr/>
        </p:nvPicPr>
        <p:blipFill>
          <a:blip r:embed="rId5" cstate="print"/>
          <a:stretch>
            <a:fillRect/>
          </a:stretch>
        </p:blipFill>
        <p:spPr>
          <a:xfrm>
            <a:off x="290750" y="204311"/>
            <a:ext cx="1163002" cy="4243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p:cNvSpPr txBox="1"/>
          <p:nvPr/>
        </p:nvSpPr>
        <p:spPr>
          <a:xfrm>
            <a:off x="762000" y="1143000"/>
            <a:ext cx="8534400" cy="4184650"/>
          </a:xfrm>
          <a:prstGeom prst="rect">
            <a:avLst/>
          </a:prstGeom>
          <a:noFill/>
        </p:spPr>
        <p:txBody>
          <a:bodyPr wrap="square" rtlCol="0">
            <a:spAutoFit/>
          </a:bodyPr>
          <a:lstStyle/>
          <a:p>
            <a:pPr>
              <a:lnSpc>
                <a:spcPct val="150000"/>
              </a:lnSpc>
              <a:spcBef>
                <a:spcPts val="1200"/>
              </a:spcBef>
            </a:pPr>
            <a:r>
              <a:rPr lang="en-US" sz="2400" b="1" u="sng" dirty="0">
                <a:solidFill>
                  <a:schemeClr val="tx1"/>
                </a:solidFill>
                <a:latin typeface="Times New Roman" panose="02020603050405020304" pitchFamily="18" charset="0"/>
                <a:cs typeface="Times New Roman" panose="02020603050405020304" pitchFamily="18" charset="0"/>
              </a:rPr>
              <a:t>Limitations of Existing System:</a:t>
            </a:r>
            <a:endParaRPr lang="en-US" sz="2400" u="sng" dirty="0">
              <a:solidFill>
                <a:schemeClr val="tx1"/>
              </a:solidFill>
              <a:latin typeface="Times New Roman" panose="02020603050405020304" pitchFamily="18" charset="0"/>
              <a:cs typeface="Times New Roman" panose="02020603050405020304" pitchFamily="18" charset="0"/>
            </a:endParaRPr>
          </a:p>
          <a:p>
            <a:pPr marL="285750" indent="-285750" algn="l">
              <a:lnSpc>
                <a:spcPct val="150000"/>
              </a:lnSpc>
              <a:spcBef>
                <a:spcPts val="1200"/>
              </a:spcBef>
              <a:buFont typeface="Arial" panose="020B0604020202020204" pitchFamily="34" charset="0"/>
              <a:buChar char="•"/>
            </a:pPr>
            <a:r>
              <a:rPr lang="en-IN" altLang="en-US" sz="2400" u="none" dirty="0">
                <a:latin typeface="Times New Roman" panose="02020603050405020304" pitchFamily="18" charset="0"/>
                <a:cs typeface="Times New Roman" panose="02020603050405020304" pitchFamily="18" charset="0"/>
              </a:rPr>
              <a:t> </a:t>
            </a:r>
            <a:r>
              <a:rPr lang="en-US" altLang="en-US" sz="2400" u="none" dirty="0">
                <a:latin typeface="Times New Roman" panose="02020603050405020304" pitchFamily="18" charset="0"/>
                <a:cs typeface="Times New Roman" panose="02020603050405020304" pitchFamily="18" charset="0"/>
              </a:rPr>
              <a:t>Manual data entry increases the chances of errors.</a:t>
            </a:r>
          </a:p>
          <a:p>
            <a:pPr marL="285750" indent="-285750" algn="l">
              <a:lnSpc>
                <a:spcPct val="150000"/>
              </a:lnSpc>
              <a:spcBef>
                <a:spcPts val="1200"/>
              </a:spcBef>
              <a:buFont typeface="Arial" panose="020B0604020202020204" pitchFamily="34" charset="0"/>
              <a:buChar char="•"/>
            </a:pPr>
            <a:r>
              <a:rPr lang="en-US" altLang="en-US" sz="2400" u="none" dirty="0">
                <a:latin typeface="Times New Roman" panose="02020603050405020304" pitchFamily="18" charset="0"/>
                <a:cs typeface="Times New Roman" panose="02020603050405020304" pitchFamily="18" charset="0"/>
              </a:rPr>
              <a:t> Product information is not updated in real time.</a:t>
            </a:r>
          </a:p>
          <a:p>
            <a:pPr marL="285750" indent="-285750" algn="l">
              <a:lnSpc>
                <a:spcPct val="150000"/>
              </a:lnSpc>
              <a:spcBef>
                <a:spcPts val="1200"/>
              </a:spcBef>
              <a:buFont typeface="Arial" panose="020B0604020202020204" pitchFamily="34" charset="0"/>
              <a:buChar char="•"/>
            </a:pPr>
            <a:r>
              <a:rPr lang="en-US" altLang="en-US" sz="2400" u="none" dirty="0">
                <a:latin typeface="Times New Roman" panose="02020603050405020304" pitchFamily="18" charset="0"/>
                <a:cs typeface="Times New Roman" panose="02020603050405020304" pitchFamily="18" charset="0"/>
              </a:rPr>
              <a:t> Tracking products takes more time and effort.</a:t>
            </a:r>
          </a:p>
          <a:p>
            <a:pPr marL="285750" indent="-285750" algn="l">
              <a:lnSpc>
                <a:spcPct val="150000"/>
              </a:lnSpc>
              <a:spcBef>
                <a:spcPts val="1200"/>
              </a:spcBef>
              <a:buFont typeface="Arial" panose="020B0604020202020204" pitchFamily="34" charset="0"/>
              <a:buChar char="•"/>
            </a:pPr>
            <a:r>
              <a:rPr lang="en-US" altLang="en-US" sz="2400" u="none" dirty="0">
                <a:latin typeface="Times New Roman" panose="02020603050405020304" pitchFamily="18" charset="0"/>
                <a:cs typeface="Times New Roman" panose="02020603050405020304" pitchFamily="18" charset="0"/>
              </a:rPr>
              <a:t> </a:t>
            </a:r>
            <a:r>
              <a:rPr lang="en-IN" altLang="en-US" sz="2400" u="none" dirty="0">
                <a:latin typeface="Times New Roman" panose="02020603050405020304" pitchFamily="18" charset="0"/>
                <a:cs typeface="Times New Roman" panose="02020603050405020304" pitchFamily="18" charset="0"/>
              </a:rPr>
              <a:t> </a:t>
            </a:r>
            <a:r>
              <a:rPr lang="en-US" altLang="en-US" sz="2400" u="none" dirty="0">
                <a:latin typeface="Times New Roman" panose="02020603050405020304" pitchFamily="18" charset="0"/>
                <a:cs typeface="Times New Roman" panose="02020603050405020304" pitchFamily="18" charset="0"/>
              </a:rPr>
              <a:t>It is difficult to manage large amounts of product data.</a:t>
            </a:r>
          </a:p>
          <a:p>
            <a:pPr marL="285750" indent="-285750" algn="l">
              <a:lnSpc>
                <a:spcPct val="150000"/>
              </a:lnSpc>
              <a:spcBef>
                <a:spcPts val="1200"/>
              </a:spcBef>
              <a:buFont typeface="Arial" panose="020B0604020202020204" pitchFamily="34" charset="0"/>
              <a:buChar char="•"/>
            </a:pPr>
            <a:r>
              <a:rPr lang="en-US" altLang="en-US" sz="2400" u="none" dirty="0">
                <a:latin typeface="Times New Roman" panose="02020603050405020304" pitchFamily="18" charset="0"/>
                <a:cs typeface="Times New Roman" panose="02020603050405020304" pitchFamily="18" charset="0"/>
              </a:rPr>
              <a:t> There are no automatic reports or data visualization features.</a:t>
            </a:r>
          </a:p>
        </p:txBody>
      </p:sp>
      <p:pic>
        <p:nvPicPr>
          <p:cNvPr id="17" name="object 3"/>
          <p:cNvPicPr/>
          <p:nvPr/>
        </p:nvPicPr>
        <p:blipFill>
          <a:blip r:embed="rId2" cstate="print"/>
          <a:stretch>
            <a:fillRect/>
          </a:stretch>
        </p:blipFill>
        <p:spPr>
          <a:xfrm>
            <a:off x="290750" y="204311"/>
            <a:ext cx="1163002" cy="4243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sp>
        <p:nvSpPr>
          <p:cNvPr id="16" name="TextBox 15"/>
          <p:cNvSpPr txBox="1"/>
          <p:nvPr/>
        </p:nvSpPr>
        <p:spPr>
          <a:xfrm>
            <a:off x="876300" y="628649"/>
            <a:ext cx="8305800" cy="5754370"/>
          </a:xfrm>
          <a:prstGeom prst="rect">
            <a:avLst/>
          </a:prstGeom>
          <a:noFill/>
        </p:spPr>
        <p:txBody>
          <a:bodyPr wrap="square" rtlCol="0">
            <a:spAutoFit/>
          </a:bodyPr>
          <a:lstStyle/>
          <a:p>
            <a:pPr>
              <a:lnSpc>
                <a:spcPct val="150000"/>
              </a:lnSpc>
            </a:pPr>
            <a:r>
              <a:rPr lang="en-IN" sz="2400" b="1" u="sng" dirty="0">
                <a:latin typeface="Times New Roman" panose="02020603050405020304" pitchFamily="18" charset="0"/>
                <a:cs typeface="Times New Roman" panose="02020603050405020304" pitchFamily="18" charset="0"/>
                <a:sym typeface="+mn-ea"/>
              </a:rPr>
              <a:t>Proposed System :</a:t>
            </a:r>
            <a:endParaRPr lang="en-IN" sz="22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Develop a web - based application to manage and track products online.</a:t>
            </a:r>
          </a:p>
          <a:p>
            <a:pPr marL="342900" indent="-342900">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Store all product information in a centralized database.</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Enable real - time product and inventory tracking.</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Provide secure login for authorized users.</a:t>
            </a:r>
          </a:p>
          <a:p>
            <a:pPr marL="342900" indent="-3429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Generate reports for easy product management.</a:t>
            </a:r>
            <a:br>
              <a:rPr lang="en-IN" sz="2400" dirty="0"/>
            </a:br>
            <a:endParaRPr lang="en-IN" sz="2400" dirty="0"/>
          </a:p>
          <a:p>
            <a:r>
              <a:rPr lang="en-US" altLang="en-US" sz="2400" b="1" u="sng" dirty="0">
                <a:latin typeface="Times New Roman" panose="02020603050405020304" pitchFamily="18" charset="0"/>
                <a:cs typeface="Times New Roman" panose="02020603050405020304" pitchFamily="18" charset="0"/>
              </a:rPr>
              <a:t>Advantages of the Proposed System</a:t>
            </a:r>
          </a:p>
          <a:p>
            <a:endParaRPr lang="en-US" altLang="en-US" sz="24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0" u="none" dirty="0">
                <a:latin typeface="Times New Roman" panose="02020603050405020304" pitchFamily="18" charset="0"/>
                <a:cs typeface="Times New Roman" panose="02020603050405020304" pitchFamily="18" charset="0"/>
              </a:rPr>
              <a:t>Reduces manual work and human errors.</a:t>
            </a:r>
          </a:p>
          <a:p>
            <a:pPr marL="342900" indent="-342900">
              <a:buFont typeface="Arial" panose="020B0604020202020204" pitchFamily="34" charset="0"/>
              <a:buChar char="•"/>
            </a:pPr>
            <a:r>
              <a:rPr lang="en-US" altLang="en-US" sz="2400" b="0" u="none" dirty="0">
                <a:latin typeface="Times New Roman" panose="02020603050405020304" pitchFamily="18" charset="0"/>
                <a:cs typeface="Times New Roman" panose="02020603050405020304" pitchFamily="18" charset="0"/>
              </a:rPr>
              <a:t>Saves time with faster product tracking.</a:t>
            </a:r>
          </a:p>
          <a:p>
            <a:pPr marL="342900" indent="-342900">
              <a:buFont typeface="Arial" panose="020B0604020202020204" pitchFamily="34" charset="0"/>
              <a:buChar char="•"/>
            </a:pPr>
            <a:r>
              <a:rPr lang="en-US" altLang="en-US" sz="2400" b="0" u="none" dirty="0">
                <a:latin typeface="Times New Roman" panose="02020603050405020304" pitchFamily="18" charset="0"/>
                <a:cs typeface="Times New Roman" panose="02020603050405020304" pitchFamily="18" charset="0"/>
              </a:rPr>
              <a:t>Provides real - time updates on product status.</a:t>
            </a:r>
          </a:p>
          <a:p>
            <a:pPr marL="342900" indent="-342900">
              <a:buFont typeface="Arial" panose="020B0604020202020204" pitchFamily="34" charset="0"/>
              <a:buChar char="•"/>
            </a:pPr>
            <a:r>
              <a:rPr lang="en-US" altLang="en-US" sz="2400" b="0" u="none" dirty="0">
                <a:latin typeface="Times New Roman" panose="02020603050405020304" pitchFamily="18" charset="0"/>
                <a:cs typeface="Times New Roman" panose="02020603050405020304" pitchFamily="18" charset="0"/>
              </a:rPr>
              <a:t>Improves inventory accuracy and organization</a:t>
            </a:r>
            <a:r>
              <a:rPr lang="en-IN" altLang="en-US" sz="2400" b="0" u="none" dirty="0">
                <a:latin typeface="Times New Roman" panose="02020603050405020304" pitchFamily="18" charset="0"/>
                <a:cs typeface="Times New Roman" panose="02020603050405020304" pitchFamily="18" charset="0"/>
              </a:rPr>
              <a:t>.</a:t>
            </a:r>
            <a:endParaRPr lang="en-US" altLang="en-US" sz="2400" b="0" u="none"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0" u="none" dirty="0">
                <a:latin typeface="Times New Roman" panose="02020603050405020304" pitchFamily="18" charset="0"/>
                <a:cs typeface="Times New Roman" panose="02020603050405020304" pitchFamily="18" charset="0"/>
              </a:rPr>
              <a:t>Easy to access from anywhere using a web browser.</a:t>
            </a:r>
          </a:p>
        </p:txBody>
      </p:sp>
      <p:pic>
        <p:nvPicPr>
          <p:cNvPr id="17" name="object 3"/>
          <p:cNvPicPr/>
          <p:nvPr/>
        </p:nvPicPr>
        <p:blipFill>
          <a:blip r:embed="rId2" cstate="print"/>
          <a:stretch>
            <a:fillRect/>
          </a:stretch>
        </p:blipFill>
        <p:spPr>
          <a:xfrm>
            <a:off x="290750" y="204311"/>
            <a:ext cx="1163002" cy="4243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p:cNvSpPr txBox="1"/>
          <p:nvPr/>
        </p:nvSpPr>
        <p:spPr>
          <a:xfrm>
            <a:off x="762000" y="609600"/>
            <a:ext cx="8534400" cy="4184650"/>
          </a:xfrm>
          <a:prstGeom prst="rect">
            <a:avLst/>
          </a:prstGeom>
          <a:noFill/>
        </p:spPr>
        <p:txBody>
          <a:bodyPr wrap="square" rtlCol="0">
            <a:spAutoFit/>
          </a:bodyPr>
          <a:lstStyle/>
          <a:p>
            <a:pPr>
              <a:lnSpc>
                <a:spcPct val="150000"/>
              </a:lnSpc>
              <a:spcBef>
                <a:spcPts val="1200"/>
              </a:spcBef>
            </a:pPr>
            <a:r>
              <a:rPr lang="en-IN" sz="2400" b="1" u="sng" dirty="0">
                <a:latin typeface="Times New Roman" panose="02020603050405020304" pitchFamily="18" charset="0"/>
                <a:cs typeface="Times New Roman" panose="02020603050405020304" pitchFamily="18" charset="0"/>
              </a:rPr>
              <a:t>DATASET DESCRIPTION</a:t>
            </a: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p:txBody>
      </p:sp>
      <p:pic>
        <p:nvPicPr>
          <p:cNvPr id="17" name="object 3"/>
          <p:cNvPicPr/>
          <p:nvPr/>
        </p:nvPicPr>
        <p:blipFill>
          <a:blip r:embed="rId2" cstate="print"/>
          <a:stretch>
            <a:fillRect/>
          </a:stretch>
        </p:blipFill>
        <p:spPr>
          <a:xfrm>
            <a:off x="290750" y="204311"/>
            <a:ext cx="1163002" cy="424338"/>
          </a:xfrm>
          <a:prstGeom prst="rect">
            <a:avLst/>
          </a:prstGeom>
        </p:spPr>
      </p:pic>
      <p:pic>
        <p:nvPicPr>
          <p:cNvPr id="3" name="Picture 2" descr="WhatsApp Image 2026-08-06 at 16.15.52"/>
          <p:cNvPicPr>
            <a:picLocks noChangeAspect="1"/>
          </p:cNvPicPr>
          <p:nvPr/>
        </p:nvPicPr>
        <p:blipFill>
          <a:blip r:embed="rId3"/>
          <a:stretch>
            <a:fillRect/>
          </a:stretch>
        </p:blipFill>
        <p:spPr>
          <a:xfrm>
            <a:off x="797560" y="1443355"/>
            <a:ext cx="8446770" cy="6037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2667000" y="85008"/>
            <a:ext cx="5103904" cy="1198311"/>
            <a:chOff x="2648188" y="47148"/>
            <a:chExt cx="5103904" cy="1198311"/>
          </a:xfrm>
        </p:grpSpPr>
        <p:pic>
          <p:nvPicPr>
            <p:cNvPr id="5" name="object 4"/>
            <p:cNvPicPr/>
            <p:nvPr/>
          </p:nvPicPr>
          <p:blipFill>
            <a:blip r:embed="rId2" cstate="print"/>
            <a:stretch>
              <a:fillRect/>
            </a:stretch>
          </p:blipFill>
          <p:spPr>
            <a:xfrm>
              <a:off x="2648188" y="47148"/>
              <a:ext cx="5103904" cy="1198311"/>
            </a:xfrm>
            <a:prstGeom prst="rect">
              <a:avLst/>
            </a:prstGeom>
          </p:spPr>
        </p:pic>
        <p:pic>
          <p:nvPicPr>
            <p:cNvPr id="6" name="object 5"/>
            <p:cNvPicPr/>
            <p:nvPr/>
          </p:nvPicPr>
          <p:blipFill>
            <a:blip r:embed="rId3" cstate="print"/>
            <a:stretch>
              <a:fillRect/>
            </a:stretch>
          </p:blipFill>
          <p:spPr>
            <a:xfrm>
              <a:off x="2703195" y="86439"/>
              <a:ext cx="4997767" cy="1092279"/>
            </a:xfrm>
            <a:prstGeom prst="rect">
              <a:avLst/>
            </a:prstGeom>
          </p:spPr>
        </p:pic>
        <p:pic>
          <p:nvPicPr>
            <p:cNvPr id="7" name="object 6"/>
            <p:cNvPicPr/>
            <p:nvPr/>
          </p:nvPicPr>
          <p:blipFill>
            <a:blip r:embed="rId4" cstate="print"/>
            <a:stretch>
              <a:fillRect/>
            </a:stretch>
          </p:blipFill>
          <p:spPr>
            <a:xfrm>
              <a:off x="2828925" y="243549"/>
              <a:ext cx="4585268" cy="522565"/>
            </a:xfrm>
            <a:prstGeom prst="rect">
              <a:avLst/>
            </a:prstGeom>
          </p:spPr>
        </p:pic>
        <p:sp>
          <p:nvSpPr>
            <p:cNvPr id="8"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p:cNvSpPr txBox="1"/>
          <p:nvPr/>
        </p:nvSpPr>
        <p:spPr>
          <a:xfrm>
            <a:off x="4038600"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REQUIREMENTS</a:t>
            </a:r>
          </a:p>
        </p:txBody>
      </p:sp>
      <p:sp>
        <p:nvSpPr>
          <p:cNvPr id="16" name="TextBox 15"/>
          <p:cNvSpPr txBox="1"/>
          <p:nvPr/>
        </p:nvSpPr>
        <p:spPr>
          <a:xfrm>
            <a:off x="685800" y="934735"/>
            <a:ext cx="8305800" cy="6439535"/>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 or Higher.</a:t>
            </a:r>
          </a:p>
          <a:p>
            <a:pPr marL="285750" indent="-28575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Hard Disk: 500 GB or SSD</a:t>
            </a:r>
            <a:r>
              <a:rPr lang="en-IN" altLang="en-US" sz="2200" dirty="0">
                <a:latin typeface="Times New Roman" panose="02020603050405020304" pitchFamily="18" charset="0"/>
                <a:cs typeface="Times New Roman" panose="02020603050405020304" pitchFamily="18" charset="0"/>
              </a:rPr>
              <a:t>.</a:t>
            </a:r>
            <a:endParaRPr lang="en-US" altLang="en-US" sz="2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Internet Connection</a:t>
            </a:r>
            <a:r>
              <a:rPr lang="en-IN" altLang="en-US" sz="2200" dirty="0">
                <a:latin typeface="Times New Roman" panose="02020603050405020304" pitchFamily="18" charset="0"/>
                <a:cs typeface="Times New Roman" panose="02020603050405020304" pitchFamily="18" charset="0"/>
              </a:rPr>
              <a:t>.</a:t>
            </a:r>
            <a:endParaRPr lang="en-US" altLang="en-US" sz="2200" dirty="0">
              <a:latin typeface="Times New Roman" panose="02020603050405020304" pitchFamily="18" charset="0"/>
              <a:cs typeface="Times New Roman" panose="02020603050405020304" pitchFamily="18" charset="0"/>
            </a:endParaRP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Operating System: Windows 10/11</a:t>
            </a:r>
            <a:r>
              <a:rPr lang="en-IN" altLang="en-US" sz="2200" b="0" dirty="0">
                <a:latin typeface="Times New Roman" panose="02020603050405020304" pitchFamily="18" charset="0"/>
                <a:cs typeface="Times New Roman" panose="02020603050405020304" pitchFamily="18" charset="0"/>
              </a:rPr>
              <a:t>.</a:t>
            </a:r>
            <a:endParaRPr lang="en-US" altLang="en-US" sz="22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Frontend: HTML, CSS, JavaScript</a:t>
            </a:r>
            <a:r>
              <a:rPr lang="en-IN" altLang="en-US" sz="2200" b="0" dirty="0">
                <a:latin typeface="Times New Roman" panose="02020603050405020304" pitchFamily="18" charset="0"/>
                <a:cs typeface="Times New Roman" panose="02020603050405020304" pitchFamily="18" charset="0"/>
              </a:rPr>
              <a:t>.</a:t>
            </a:r>
            <a:endParaRPr lang="en-US" altLang="en-US" sz="22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Backend: PHP</a:t>
            </a:r>
            <a:r>
              <a:rPr lang="en-IN" altLang="en-US" sz="2200" b="0" dirty="0">
                <a:latin typeface="Times New Roman" panose="02020603050405020304" pitchFamily="18" charset="0"/>
                <a:cs typeface="Times New Roman" panose="02020603050405020304" pitchFamily="18" charset="0"/>
              </a:rPr>
              <a:t>.</a:t>
            </a:r>
            <a:endParaRPr lang="en-US" altLang="en-US" sz="22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Database: MySQL</a:t>
            </a:r>
            <a:r>
              <a:rPr lang="en-IN" altLang="en-US" sz="2200" b="0" dirty="0">
                <a:latin typeface="Times New Roman" panose="02020603050405020304" pitchFamily="18" charset="0"/>
                <a:cs typeface="Times New Roman" panose="02020603050405020304" pitchFamily="18" charset="0"/>
              </a:rPr>
              <a:t>.</a:t>
            </a:r>
            <a:endParaRPr lang="en-US" altLang="en-US" sz="22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Web Server: XAMPP/WAMP</a:t>
            </a:r>
            <a:r>
              <a:rPr lang="en-IN" altLang="en-US" sz="2200" b="0" dirty="0">
                <a:latin typeface="Times New Roman" panose="02020603050405020304" pitchFamily="18" charset="0"/>
                <a:cs typeface="Times New Roman" panose="02020603050405020304" pitchFamily="18" charset="0"/>
              </a:rPr>
              <a:t>.</a:t>
            </a:r>
            <a:endParaRPr lang="en-US" altLang="en-US" sz="2200" b="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200" b="0" dirty="0">
                <a:latin typeface="Times New Roman" panose="02020603050405020304" pitchFamily="18" charset="0"/>
                <a:cs typeface="Times New Roman" panose="02020603050405020304" pitchFamily="18" charset="0"/>
              </a:rPr>
              <a:t>Browser: Google Chrome or Microsoft Edge</a:t>
            </a:r>
            <a:r>
              <a:rPr lang="en-IN" altLang="en-US" sz="2200" b="0" dirty="0">
                <a:latin typeface="Times New Roman" panose="02020603050405020304" pitchFamily="18" charset="0"/>
                <a:cs typeface="Times New Roman" panose="02020603050405020304" pitchFamily="18" charset="0"/>
              </a:rPr>
              <a:t>.</a:t>
            </a:r>
          </a:p>
        </p:txBody>
      </p:sp>
      <p:pic>
        <p:nvPicPr>
          <p:cNvPr id="17" name="object 3"/>
          <p:cNvPicPr/>
          <p:nvPr/>
        </p:nvPicPr>
        <p:blipFill>
          <a:blip r:embed="rId5" cstate="print"/>
          <a:stretch>
            <a:fillRect/>
          </a:stretch>
        </p:blipFill>
        <p:spPr>
          <a:xfrm>
            <a:off x="290750" y="204311"/>
            <a:ext cx="1163002" cy="4243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p:cNvGrpSpPr/>
          <p:nvPr/>
        </p:nvGrpSpPr>
        <p:grpSpPr>
          <a:xfrm>
            <a:off x="2590800" y="161097"/>
            <a:ext cx="5103904"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990600" y="1905199"/>
            <a:ext cx="8610599" cy="5631180"/>
          </a:xfrm>
          <a:prstGeom prst="rect">
            <a:avLst/>
          </a:prstGeom>
          <a:noFill/>
        </p:spPr>
        <p:txBody>
          <a:bodyPr wrap="square">
            <a:spAutoFit/>
          </a:bodyPr>
          <a:lstStyle/>
          <a:p>
            <a:r>
              <a:rPr lang="en-IN" sz="2000" b="1" dirty="0"/>
              <a:t>Module 1</a:t>
            </a:r>
          </a:p>
          <a:p>
            <a:endParaRPr lang="en-IN" sz="2000" b="1" dirty="0"/>
          </a:p>
          <a:p>
            <a:r>
              <a:rPr lang="en-US" altLang="en-US" sz="2000" b="1" dirty="0"/>
              <a:t>*</a:t>
            </a:r>
            <a:r>
              <a:rPr lang="en-IN" altLang="en-US" sz="2000" b="1" dirty="0"/>
              <a:t> </a:t>
            </a:r>
            <a:r>
              <a:rPr lang="en-US" altLang="en-US" sz="2000" b="0" dirty="0"/>
              <a:t>User registration and secure login.</a:t>
            </a:r>
          </a:p>
          <a:p>
            <a:r>
              <a:rPr lang="en-US" altLang="en-US" sz="2000" b="0" dirty="0"/>
              <a:t>* Role - based access for users and admin.</a:t>
            </a:r>
          </a:p>
          <a:p>
            <a:r>
              <a:rPr lang="en-US" altLang="en-US" sz="2000" b="0" dirty="0"/>
              <a:t>* Password encryption and session management for security.</a:t>
            </a:r>
            <a:endParaRPr lang="en-US" altLang="en-US" sz="2000" b="1" dirty="0"/>
          </a:p>
          <a:p>
            <a:endParaRPr lang="en-IN" sz="2000" b="1" dirty="0"/>
          </a:p>
          <a:p>
            <a:r>
              <a:rPr lang="en-IN" sz="2000" b="1" dirty="0"/>
              <a:t>Module 2</a:t>
            </a:r>
          </a:p>
          <a:p>
            <a:endParaRPr lang="en-IN" sz="2000" b="1" dirty="0"/>
          </a:p>
          <a:p>
            <a:r>
              <a:rPr lang="en-US" altLang="en-US" sz="2000" b="0" dirty="0"/>
              <a:t>* Add, update, delete, and view product details.</a:t>
            </a:r>
          </a:p>
          <a:p>
            <a:r>
              <a:rPr lang="en-US" altLang="en-US" sz="2000" b="0" dirty="0"/>
              <a:t>* Store product information in the database.</a:t>
            </a:r>
          </a:p>
          <a:p>
            <a:r>
              <a:rPr lang="en-US" altLang="en-US" sz="2000" b="0" dirty="0"/>
              <a:t>* Validate product data to ensure accuracy and consistency.</a:t>
            </a:r>
          </a:p>
          <a:p>
            <a:endParaRPr lang="en-US" altLang="en-US" sz="2000" b="1" dirty="0"/>
          </a:p>
          <a:p>
            <a:r>
              <a:rPr lang="en-IN" sz="2000" b="1" dirty="0"/>
              <a:t>Module 3</a:t>
            </a:r>
          </a:p>
          <a:p>
            <a:endParaRPr lang="en-IN" sz="2000" b="1" dirty="0"/>
          </a:p>
          <a:p>
            <a:r>
              <a:rPr lang="en-US" altLang="en-US" sz="2000" b="0" dirty="0"/>
              <a:t>* Track product quantity and stock availability.</a:t>
            </a:r>
          </a:p>
          <a:p>
            <a:r>
              <a:rPr lang="en-US" altLang="en-US" sz="2000" b="0" dirty="0"/>
              <a:t>* Update inventory automatically after changes.</a:t>
            </a:r>
          </a:p>
          <a:p>
            <a:r>
              <a:rPr lang="en-US" altLang="en-US" sz="2000" b="0" dirty="0"/>
              <a:t>* Generate alerts for low - stock or out - of- stock items.</a:t>
            </a:r>
            <a:br>
              <a:rPr lang="en-IN" sz="2000" b="0" dirty="0"/>
            </a:br>
            <a:endParaRPr lang="en-IN" sz="2000" b="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p:cNvGrpSpPr/>
          <p:nvPr/>
        </p:nvGrpSpPr>
        <p:grpSpPr>
          <a:xfrm>
            <a:off x="2590800" y="161097"/>
            <a:ext cx="5103904"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762000" y="1270927"/>
            <a:ext cx="8610599" cy="5939155"/>
          </a:xfrm>
          <a:prstGeom prst="rect">
            <a:avLst/>
          </a:prstGeom>
          <a:noFill/>
        </p:spPr>
        <p:txBody>
          <a:bodyPr wrap="square">
            <a:spAutoFit/>
          </a:bodyPr>
          <a:lstStyle/>
          <a:p>
            <a:r>
              <a:rPr lang="en-IN" sz="2000" b="1" dirty="0"/>
              <a:t>Module 4</a:t>
            </a:r>
          </a:p>
          <a:p>
            <a:endParaRPr lang="en-IN" sz="2000" b="1" dirty="0"/>
          </a:p>
          <a:p>
            <a:r>
              <a:rPr lang="en-US" altLang="en-US" sz="2000" b="0" dirty="0"/>
              <a:t>* Monitor product movement and current status.</a:t>
            </a:r>
          </a:p>
          <a:p>
            <a:r>
              <a:rPr lang="en-US" altLang="en-US" sz="2000" b="0" dirty="0"/>
              <a:t>* Search products using Product ID or name.</a:t>
            </a:r>
          </a:p>
          <a:p>
            <a:r>
              <a:rPr lang="en-US" altLang="en-US" sz="2000" b="0" dirty="0"/>
              <a:t>* Maintain history of product transactions and updates</a:t>
            </a:r>
            <a:endParaRPr lang="en-US" altLang="en-US" sz="2000" b="1" dirty="0"/>
          </a:p>
          <a:p>
            <a:endParaRPr lang="en-IN" sz="2000" b="1" dirty="0"/>
          </a:p>
          <a:p>
            <a:r>
              <a:rPr lang="en-IN" sz="2000" b="1" dirty="0"/>
              <a:t>Module 5</a:t>
            </a:r>
          </a:p>
          <a:p>
            <a:endParaRPr lang="en-IN" sz="2000" b="1" dirty="0"/>
          </a:p>
          <a:p>
            <a:r>
              <a:rPr lang="en-US" altLang="en-US" sz="2000" b="0" dirty="0"/>
              <a:t>* Generate inventory and product reports.</a:t>
            </a:r>
          </a:p>
          <a:p>
            <a:r>
              <a:rPr lang="en-US" altLang="en-US" sz="2000" b="0" dirty="0"/>
              <a:t>* Display product statistics on the dashboard.</a:t>
            </a:r>
          </a:p>
          <a:p>
            <a:r>
              <a:rPr lang="en-US" altLang="en-US" sz="2000" b="0" dirty="0"/>
              <a:t>* Provide visual insights using charts and summaries.</a:t>
            </a:r>
            <a:endParaRPr lang="en-US" altLang="en-US" sz="2000" b="1" dirty="0"/>
          </a:p>
          <a:p>
            <a:endParaRPr lang="en-IN" sz="2000" b="1" dirty="0"/>
          </a:p>
          <a:p>
            <a:r>
              <a:rPr lang="en-IN" sz="2000" b="1" dirty="0"/>
              <a:t>Module 6</a:t>
            </a:r>
          </a:p>
          <a:p>
            <a:endParaRPr lang="en-IN" sz="2000" b="1" dirty="0"/>
          </a:p>
          <a:p>
            <a:r>
              <a:rPr lang="en-US" altLang="en-US" sz="2000" b="0" dirty="0"/>
              <a:t>* Store and manage all product records securely.</a:t>
            </a:r>
          </a:p>
          <a:p>
            <a:r>
              <a:rPr lang="en-US" altLang="en-US" sz="2000" b="0" dirty="0"/>
              <a:t>* Maintain data accuracy and enable quick retrieval.</a:t>
            </a:r>
          </a:p>
          <a:p>
            <a:r>
              <a:rPr lang="en-US" altLang="en-US" sz="2000" b="0" dirty="0"/>
              <a:t>* Ensure regular backups and data recovery support.</a:t>
            </a:r>
          </a:p>
          <a:p>
            <a:br>
              <a:rPr lang="en-IN" sz="2000" dirty="0"/>
            </a:br>
            <a:endParaRPr lang="en-I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72490" y="1423670"/>
            <a:ext cx="8575040" cy="4388485"/>
          </a:xfrm>
          <a:prstGeom prst="rect">
            <a:avLst/>
          </a:prstGeom>
          <a:noFill/>
        </p:spPr>
        <p:txBody>
          <a:bodyPr wrap="square" rtlCol="0">
            <a:noAutofit/>
          </a:bodyPr>
          <a:lstStyle/>
          <a:p>
            <a:pPr marL="342900" indent="-342900">
              <a:buFont typeface="Arial" panose="020B0604020202020204" pitchFamily="34" charset="0"/>
              <a:buChar char="•"/>
            </a:pPr>
            <a:r>
              <a:rPr lang="en-US" altLang="en-US" sz="2400" dirty="0"/>
              <a:t>Easy and accurate product tracking.</a:t>
            </a:r>
          </a:p>
          <a:p>
            <a:pPr marL="0" indent="0">
              <a:buFont typeface="Arial" panose="020B0604020202020204" pitchFamily="34" charset="0"/>
              <a:buNone/>
            </a:pPr>
            <a:endParaRPr lang="en-US" altLang="en-US" sz="2400" dirty="0"/>
          </a:p>
          <a:p>
            <a:pPr marL="342900" indent="-342900">
              <a:buFont typeface="Arial" panose="020B0604020202020204" pitchFamily="34" charset="0"/>
              <a:buChar char="•"/>
            </a:pPr>
            <a:r>
              <a:rPr lang="en-US" altLang="en-US" sz="2400" dirty="0"/>
              <a:t>Real-  time updates of product and stock details</a:t>
            </a:r>
            <a:r>
              <a:rPr lang="en-IN" altLang="en-US" sz="2400" dirty="0"/>
              <a:t>.</a:t>
            </a:r>
          </a:p>
          <a:p>
            <a:pPr marL="0" indent="0">
              <a:buFont typeface="Arial" panose="020B0604020202020204" pitchFamily="34" charset="0"/>
              <a:buNone/>
            </a:pPr>
            <a:endParaRPr lang="en-IN" altLang="en-US" sz="2400" dirty="0"/>
          </a:p>
          <a:p>
            <a:pPr marL="342900" indent="-342900">
              <a:buFont typeface="Arial" panose="020B0604020202020204" pitchFamily="34" charset="0"/>
              <a:buChar char="•"/>
            </a:pPr>
            <a:r>
              <a:rPr lang="en-US" altLang="en-US" sz="2400" dirty="0"/>
              <a:t>Reduced manual work and fewer errors</a:t>
            </a:r>
            <a:r>
              <a:rPr lang="en-IN" altLang="en-US" sz="2400" dirty="0"/>
              <a:t>.</a:t>
            </a:r>
          </a:p>
          <a:p>
            <a:pPr marL="0" indent="0">
              <a:buFont typeface="Arial" panose="020B0604020202020204" pitchFamily="34" charset="0"/>
              <a:buNone/>
            </a:pPr>
            <a:endParaRPr lang="en-IN" altLang="en-US" sz="2400" dirty="0"/>
          </a:p>
          <a:p>
            <a:pPr marL="342900" indent="-342900">
              <a:buFont typeface="Arial" panose="020B0604020202020204" pitchFamily="34" charset="0"/>
              <a:buChar char="•"/>
            </a:pPr>
            <a:r>
              <a:rPr lang="en-US" altLang="en-US" sz="2400" dirty="0"/>
              <a:t>Faster product search and inventory management.</a:t>
            </a:r>
          </a:p>
          <a:p>
            <a:pPr marL="0" indent="0">
              <a:buFont typeface="Arial" panose="020B0604020202020204" pitchFamily="34" charset="0"/>
              <a:buNone/>
            </a:pPr>
            <a:endParaRPr lang="en-US" altLang="en-US" sz="2400" dirty="0"/>
          </a:p>
          <a:p>
            <a:pPr marL="342900" indent="-342900">
              <a:buFont typeface="Arial" panose="020B0604020202020204" pitchFamily="34" charset="0"/>
              <a:buChar char="•"/>
            </a:pPr>
            <a:r>
              <a:rPr lang="en-US" altLang="en-US" sz="2400" dirty="0"/>
              <a:t>Secure storage of product information.</a:t>
            </a:r>
          </a:p>
          <a:p>
            <a:pPr marL="0" indent="0">
              <a:buFont typeface="Arial" panose="020B0604020202020204" pitchFamily="34" charset="0"/>
              <a:buNone/>
            </a:pPr>
            <a:endParaRPr lang="en-US" altLang="en-US" sz="2400" dirty="0"/>
          </a:p>
          <a:p>
            <a:pPr marL="342900" indent="-342900">
              <a:buFont typeface="Arial" panose="020B0604020202020204" pitchFamily="34" charset="0"/>
              <a:buChar char="•"/>
            </a:pPr>
            <a:r>
              <a:rPr lang="en-US" altLang="en-US" sz="2400" dirty="0"/>
              <a:t>Automatic report generation for better decision - making.</a:t>
            </a:r>
          </a:p>
          <a:p>
            <a:pPr marL="0" indent="0">
              <a:buFont typeface="Arial" panose="020B0604020202020204" pitchFamily="34" charset="0"/>
              <a:buNone/>
            </a:pPr>
            <a:endParaRPr lang="en-US" altLang="en-US" sz="2400" dirty="0"/>
          </a:p>
          <a:p>
            <a:pPr marL="342900" indent="-342900">
              <a:buFont typeface="Arial" panose="020B0604020202020204" pitchFamily="34" charset="0"/>
              <a:buChar char="•"/>
            </a:pPr>
            <a:r>
              <a:rPr lang="en-US" altLang="en-US" sz="2400" dirty="0"/>
              <a:t>Improved overall business efficiency.</a:t>
            </a:r>
          </a:p>
        </p:txBody>
      </p:sp>
      <p:grpSp>
        <p:nvGrpSpPr>
          <p:cNvPr id="7" name="object 3"/>
          <p:cNvGrpSpPr/>
          <p:nvPr/>
        </p:nvGrpSpPr>
        <p:grpSpPr>
          <a:xfrm>
            <a:off x="2477248" y="152400"/>
            <a:ext cx="5103904" cy="1198311"/>
            <a:chOff x="2648188" y="47148"/>
            <a:chExt cx="5103904" cy="1198311"/>
          </a:xfrm>
        </p:grpSpPr>
        <p:pic>
          <p:nvPicPr>
            <p:cNvPr id="8" name="object 4"/>
            <p:cNvPicPr/>
            <p:nvPr/>
          </p:nvPicPr>
          <p:blipFill>
            <a:blip r:embed="rId2" cstate="print"/>
            <a:stretch>
              <a:fillRect/>
            </a:stretch>
          </p:blipFill>
          <p:spPr>
            <a:xfrm>
              <a:off x="2648188" y="47148"/>
              <a:ext cx="5103904" cy="1198311"/>
            </a:xfrm>
            <a:prstGeom prst="rect">
              <a:avLst/>
            </a:prstGeom>
          </p:spPr>
        </p:pic>
        <p:pic>
          <p:nvPicPr>
            <p:cNvPr id="9" name="object 5"/>
            <p:cNvPicPr/>
            <p:nvPr/>
          </p:nvPicPr>
          <p:blipFill>
            <a:blip r:embed="rId3" cstate="print"/>
            <a:stretch>
              <a:fillRect/>
            </a:stretch>
          </p:blipFill>
          <p:spPr>
            <a:xfrm>
              <a:off x="2703195" y="86439"/>
              <a:ext cx="4997767" cy="1092279"/>
            </a:xfrm>
            <a:prstGeom prst="rect">
              <a:avLst/>
            </a:prstGeom>
          </p:spPr>
        </p:pic>
        <p:pic>
          <p:nvPicPr>
            <p:cNvPr id="10" name="object 6"/>
            <p:cNvPicPr/>
            <p:nvPr/>
          </p:nvPicPr>
          <p:blipFill>
            <a:blip r:embed="rId4" cstate="print"/>
            <a:stretch>
              <a:fillRect/>
            </a:stretch>
          </p:blipFill>
          <p:spPr>
            <a:xfrm>
              <a:off x="2828925" y="243549"/>
              <a:ext cx="4585268" cy="522565"/>
            </a:xfrm>
            <a:prstGeom prst="rect">
              <a:avLst/>
            </a:prstGeom>
          </p:spPr>
        </p:pic>
        <p:sp>
          <p:nvSpPr>
            <p:cNvPr id="11"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p:cNvPicPr/>
          <p:nvPr/>
        </p:nvPicPr>
        <p:blipFill>
          <a:blip r:embed="rId5" cstate="print"/>
          <a:stretch>
            <a:fillRect/>
          </a:stretch>
        </p:blipFill>
        <p:spPr>
          <a:xfrm>
            <a:off x="290750" y="204311"/>
            <a:ext cx="1163002" cy="424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1761" y="1524118"/>
            <a:ext cx="8574881" cy="4154170"/>
          </a:xfrm>
          <a:prstGeom prst="rect">
            <a:avLst/>
          </a:prstGeom>
          <a:noFill/>
        </p:spPr>
        <p:txBody>
          <a:bodyPr wrap="square" rtlCol="0">
            <a:spAutoFit/>
          </a:bodyPr>
          <a:lstStyle/>
          <a:p>
            <a:r>
              <a:rPr lang="en-US" altLang="en-US" sz="2400" dirty="0">
                <a:latin typeface="Times New Roman" panose="02020603050405020304" pitchFamily="18" charset="0"/>
                <a:cs typeface="Times New Roman" panose="02020603050405020304" pitchFamily="18" charset="0"/>
              </a:rPr>
              <a:t>The  Web - Based Product Tracking System  provides a simple and efficient way to manage and track products </a:t>
            </a:r>
          </a:p>
          <a:p>
            <a:r>
              <a:rPr lang="en-US" altLang="en-US" sz="2400" dirty="0">
                <a:latin typeface="Times New Roman" panose="02020603050405020304" pitchFamily="18" charset="0"/>
                <a:cs typeface="Times New Roman" panose="02020603050405020304" pitchFamily="18" charset="0"/>
              </a:rPr>
              <a:t>online.</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It reduces manual work, improves data accuracy, and </a:t>
            </a:r>
          </a:p>
          <a:p>
            <a:r>
              <a:rPr lang="en-US" altLang="en-US" sz="2400" dirty="0">
                <a:latin typeface="Times New Roman" panose="02020603050405020304" pitchFamily="18" charset="0"/>
                <a:cs typeface="Times New Roman" panose="02020603050405020304" pitchFamily="18" charset="0"/>
              </a:rPr>
              <a:t>offers real - time product updates. The system saves time, enhances inventory management, and helps businesses make better decisions.</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Overall, it is a reliable, user - friendly, and effective solution for modern product tracking.</a:t>
            </a:r>
          </a:p>
        </p:txBody>
      </p:sp>
      <p:grpSp>
        <p:nvGrpSpPr>
          <p:cNvPr id="7" name="object 3"/>
          <p:cNvGrpSpPr/>
          <p:nvPr/>
        </p:nvGrpSpPr>
        <p:grpSpPr>
          <a:xfrm>
            <a:off x="2477248" y="152400"/>
            <a:ext cx="5103904" cy="1198311"/>
            <a:chOff x="2648188" y="47148"/>
            <a:chExt cx="5103904" cy="1198311"/>
          </a:xfrm>
        </p:grpSpPr>
        <p:pic>
          <p:nvPicPr>
            <p:cNvPr id="8" name="object 4"/>
            <p:cNvPicPr/>
            <p:nvPr/>
          </p:nvPicPr>
          <p:blipFill>
            <a:blip r:embed="rId2" cstate="print"/>
            <a:stretch>
              <a:fillRect/>
            </a:stretch>
          </p:blipFill>
          <p:spPr>
            <a:xfrm>
              <a:off x="2648188" y="47148"/>
              <a:ext cx="5103904" cy="1198311"/>
            </a:xfrm>
            <a:prstGeom prst="rect">
              <a:avLst/>
            </a:prstGeom>
          </p:spPr>
        </p:pic>
        <p:pic>
          <p:nvPicPr>
            <p:cNvPr id="9" name="object 5"/>
            <p:cNvPicPr/>
            <p:nvPr/>
          </p:nvPicPr>
          <p:blipFill>
            <a:blip r:embed="rId3" cstate="print"/>
            <a:stretch>
              <a:fillRect/>
            </a:stretch>
          </p:blipFill>
          <p:spPr>
            <a:xfrm>
              <a:off x="2703195" y="86439"/>
              <a:ext cx="4997767" cy="1092279"/>
            </a:xfrm>
            <a:prstGeom prst="rect">
              <a:avLst/>
            </a:prstGeom>
          </p:spPr>
        </p:pic>
        <p:pic>
          <p:nvPicPr>
            <p:cNvPr id="10" name="object 6"/>
            <p:cNvPicPr/>
            <p:nvPr/>
          </p:nvPicPr>
          <p:blipFill>
            <a:blip r:embed="rId4" cstate="print"/>
            <a:stretch>
              <a:fillRect/>
            </a:stretch>
          </p:blipFill>
          <p:spPr>
            <a:xfrm>
              <a:off x="2828925" y="243549"/>
              <a:ext cx="4585268" cy="522565"/>
            </a:xfrm>
            <a:prstGeom prst="rect">
              <a:avLst/>
            </a:prstGeom>
          </p:spPr>
        </p:pic>
        <p:sp>
          <p:nvSpPr>
            <p:cNvPr id="11"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p:cNvPicPr/>
          <p:nvPr/>
        </p:nvPicPr>
        <p:blipFill>
          <a:blip r:embed="rId5" cstate="print"/>
          <a:stretch>
            <a:fillRect/>
          </a:stretch>
        </p:blipFill>
        <p:spPr>
          <a:xfrm>
            <a:off x="290750" y="204311"/>
            <a:ext cx="1163002" cy="4243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p:cNvPicPr/>
          <p:nvPr/>
        </p:nvPicPr>
        <p:blipFill>
          <a:blip r:embed="rId2" cstate="print"/>
          <a:stretch>
            <a:fillRect/>
          </a:stretch>
        </p:blipFill>
        <p:spPr>
          <a:xfrm>
            <a:off x="290750" y="204311"/>
            <a:ext cx="1163002" cy="4243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908</Words>
  <Application>Microsoft Office PowerPoint</Application>
  <PresentationFormat>Custom</PresentationFormat>
  <Paragraphs>159</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Palatino Linotype</vt:lpstr>
      <vt:lpstr>Times New Roman</vt:lpstr>
      <vt:lpstr>Office Theme</vt:lpstr>
      <vt:lpstr>Data Analysis Essentials Cornerstone Project First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METHODOLOGY</vt:lpstr>
      <vt:lpstr>METHODOLOGY</vt:lpstr>
      <vt:lpstr>EXPECTED OUTPUTS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NAGA SAI ASMITHA</cp:lastModifiedBy>
  <cp:revision>50</cp:revision>
  <cp:lastPrinted>2025-10-14T18:21:00Z</cp:lastPrinted>
  <dcterms:created xsi:type="dcterms:W3CDTF">2025-10-10T08:28:00Z</dcterms:created>
  <dcterms:modified xsi:type="dcterms:W3CDTF">2026-10-25T16:42:38Z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2025-09-12T05:30:00Z</vt:filetime>
  </property>
  <property fmtid="{D5CDD505-2E9C-101B-9397-08002B2CF9AE}" pid="3" name="LastSaved">
    <vt:filetime>2025-10-10T05:30:00Z</vt:filetime>
  </property>
  <property fmtid="{D5CDD505-2E9C-101B-9397-08002B2CF9AE}" pid="4" name="ICV">
    <vt:lpwstr>CEB5E6F1A6DF44E8B46E542F8C505932_13</vt:lpwstr>
  </property>
  <property fmtid="{D5CDD505-2E9C-101B-9397-08002B2CF9AE}" pid="5" name="KSOProductBuildVer">
    <vt:lpwstr>1033-12.1.0.28032</vt:lpwstr>
  </property>
</Properties>
</file>