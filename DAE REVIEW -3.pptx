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2"/>
    <p:sldId id="257" r:id="rId3"/>
    <p:sldId id="258" r:id="rId4"/>
    <p:sldId id="259" r:id="rId5"/>
    <p:sldId id="274" r:id="rId6"/>
    <p:sldId id="283" r:id="rId7"/>
    <p:sldId id="284" r:id="rId8"/>
    <p:sldId id="278" r:id="rId9"/>
    <p:sldId id="271" r:id="rId10"/>
    <p:sldId id="281" r:id="rId11"/>
    <p:sldId id="285" r:id="rId12"/>
    <p:sldId id="282" r:id="rId13"/>
    <p:sldId id="286" r:id="rId14"/>
    <p:sldId id="287" r:id="rId15"/>
    <p:sldId id="288" r:id="rId16"/>
    <p:sldId id="289" r:id="rId17"/>
    <p:sldId id="290" r:id="rId18"/>
    <p:sldId id="268" r:id="rId19"/>
    <p:sldId id="292" r:id="rId20"/>
    <p:sldId id="294" r:id="rId21"/>
    <p:sldId id="291" r:id="rId22"/>
    <p:sldId id="269" r:id="rId23"/>
  </p:sldIdLst>
  <p:sldSz cx="10058400" cy="7772400"/>
  <p:notesSz cx="10058400" cy="77724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1D328CB-B71A-4A7D-A351-137F4C75ABD6}" v="26" dt="2026-10-24T11:17:23.810"/>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244" autoAdjust="0"/>
    <p:restoredTop sz="94660"/>
  </p:normalViewPr>
  <p:slideViewPr>
    <p:cSldViewPr>
      <p:cViewPr varScale="1">
        <p:scale>
          <a:sx n="69" d="100"/>
          <a:sy n="69" d="100"/>
        </p:scale>
        <p:origin x="1954" y="6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kshaya Garikapati" userId="dd97538ba181b537" providerId="LiveId" clId="{FDD2352D-BA8C-40A3-9B9C-C0892C3CC3DC}"/>
    <pc:docChg chg="modSld">
      <pc:chgData name="Akshaya Garikapati" userId="dd97538ba181b537" providerId="LiveId" clId="{FDD2352D-BA8C-40A3-9B9C-C0892C3CC3DC}" dt="2026-10-24T11:17:23.810" v="27"/>
      <pc:docMkLst>
        <pc:docMk/>
      </pc:docMkLst>
      <pc:sldChg chg="modSp">
        <pc:chgData name="Akshaya Garikapati" userId="dd97538ba181b537" providerId="LiveId" clId="{FDD2352D-BA8C-40A3-9B9C-C0892C3CC3DC}" dt="2026-10-24T11:17:23.810" v="27"/>
        <pc:sldMkLst>
          <pc:docMk/>
          <pc:sldMk cId="0" sldId="257"/>
        </pc:sldMkLst>
        <pc:spChg chg="mod">
          <ac:chgData name="Akshaya Garikapati" userId="dd97538ba181b537" providerId="LiveId" clId="{FDD2352D-BA8C-40A3-9B9C-C0892C3CC3DC}" dt="2026-10-24T11:17:23.810" v="27"/>
          <ac:spMkLst>
            <pc:docMk/>
            <pc:sldMk cId="0" sldId="257"/>
            <ac:spMk id="4" creationId="{00000000-0000-0000-0000-000000000000}"/>
          </ac:spMkLst>
        </pc:spChg>
      </pc:sldChg>
      <pc:sldChg chg="addSp delSp modSp">
        <pc:chgData name="Akshaya Garikapati" userId="dd97538ba181b537" providerId="LiveId" clId="{FDD2352D-BA8C-40A3-9B9C-C0892C3CC3DC}" dt="2026-10-24T11:00:23.025" v="13"/>
        <pc:sldMkLst>
          <pc:docMk/>
          <pc:sldMk cId="2694192783" sldId="268"/>
        </pc:sldMkLst>
        <pc:spChg chg="del mod">
          <ac:chgData name="Akshaya Garikapati" userId="dd97538ba181b537" providerId="LiveId" clId="{FDD2352D-BA8C-40A3-9B9C-C0892C3CC3DC}" dt="2026-10-24T11:00:23.025" v="13"/>
          <ac:spMkLst>
            <pc:docMk/>
            <pc:sldMk cId="2694192783" sldId="268"/>
            <ac:spMk id="6" creationId="{DABB4592-5775-79D7-4F02-0BE4F7025B51}"/>
          </ac:spMkLst>
        </pc:spChg>
        <pc:picChg chg="add mod">
          <ac:chgData name="Akshaya Garikapati" userId="dd97538ba181b537" providerId="LiveId" clId="{FDD2352D-BA8C-40A3-9B9C-C0892C3CC3DC}" dt="2026-10-24T10:58:22.458" v="11"/>
          <ac:picMkLst>
            <pc:docMk/>
            <pc:sldMk cId="2694192783" sldId="268"/>
            <ac:picMk id="4" creationId="{603A6A98-6E2B-B098-9804-71325F7A97AA}"/>
          </ac:picMkLst>
        </pc:picChg>
        <pc:picChg chg="add mod">
          <ac:chgData name="Akshaya Garikapati" userId="dd97538ba181b537" providerId="LiveId" clId="{FDD2352D-BA8C-40A3-9B9C-C0892C3CC3DC}" dt="2026-10-24T10:58:45.942" v="12"/>
          <ac:picMkLst>
            <pc:docMk/>
            <pc:sldMk cId="2694192783" sldId="268"/>
            <ac:picMk id="5" creationId="{ADD2EDE5-752E-C437-9150-9621A0B81D40}"/>
          </ac:picMkLst>
        </pc:picChg>
      </pc:sldChg>
      <pc:sldChg chg="modSp">
        <pc:chgData name="Akshaya Garikapati" userId="dd97538ba181b537" providerId="LiveId" clId="{FDD2352D-BA8C-40A3-9B9C-C0892C3CC3DC}" dt="2026-10-24T10:40:16.136" v="2"/>
        <pc:sldMkLst>
          <pc:docMk/>
          <pc:sldMk cId="314495878" sldId="271"/>
        </pc:sldMkLst>
        <pc:spChg chg="mod">
          <ac:chgData name="Akshaya Garikapati" userId="dd97538ba181b537" providerId="LiveId" clId="{FDD2352D-BA8C-40A3-9B9C-C0892C3CC3DC}" dt="2026-10-24T10:40:16.136" v="2"/>
          <ac:spMkLst>
            <pc:docMk/>
            <pc:sldMk cId="314495878" sldId="271"/>
            <ac:spMk id="10" creationId="{3953B3A5-B246-55AD-515B-436ED9F0D042}"/>
          </ac:spMkLst>
        </pc:spChg>
      </pc:sldChg>
      <pc:sldChg chg="modSp">
        <pc:chgData name="Akshaya Garikapati" userId="dd97538ba181b537" providerId="LiveId" clId="{FDD2352D-BA8C-40A3-9B9C-C0892C3CC3DC}" dt="2026-10-24T10:30:34.604" v="0"/>
        <pc:sldMkLst>
          <pc:docMk/>
          <pc:sldMk cId="3942059725" sldId="282"/>
        </pc:sldMkLst>
        <pc:spChg chg="mod">
          <ac:chgData name="Akshaya Garikapati" userId="dd97538ba181b537" providerId="LiveId" clId="{FDD2352D-BA8C-40A3-9B9C-C0892C3CC3DC}" dt="2026-10-24T10:30:34.604" v="0"/>
          <ac:spMkLst>
            <pc:docMk/>
            <pc:sldMk cId="3942059725" sldId="282"/>
            <ac:spMk id="6" creationId="{8C17C9B2-E7CC-1C9A-D7F8-2089A03BE5C7}"/>
          </ac:spMkLst>
        </pc:spChg>
      </pc:sldChg>
      <pc:sldChg chg="modSp">
        <pc:chgData name="Akshaya Garikapati" userId="dd97538ba181b537" providerId="LiveId" clId="{FDD2352D-BA8C-40A3-9B9C-C0892C3CC3DC}" dt="2026-10-24T10:31:52.615" v="1"/>
        <pc:sldMkLst>
          <pc:docMk/>
          <pc:sldMk cId="268337758" sldId="286"/>
        </pc:sldMkLst>
        <pc:spChg chg="mod">
          <ac:chgData name="Akshaya Garikapati" userId="dd97538ba181b537" providerId="LiveId" clId="{FDD2352D-BA8C-40A3-9B9C-C0892C3CC3DC}" dt="2026-10-24T10:31:52.615" v="1"/>
          <ac:spMkLst>
            <pc:docMk/>
            <pc:sldMk cId="268337758" sldId="286"/>
            <ac:spMk id="6" creationId="{F66D394E-5574-0366-F4B2-28CA2DD48D91}"/>
          </ac:spMkLst>
        </pc:spChg>
      </pc:sldChg>
      <pc:sldChg chg="modSp">
        <pc:chgData name="Akshaya Garikapati" userId="dd97538ba181b537" providerId="LiveId" clId="{FDD2352D-BA8C-40A3-9B9C-C0892C3CC3DC}" dt="2026-10-24T10:42:30.189" v="3"/>
        <pc:sldMkLst>
          <pc:docMk/>
          <pc:sldMk cId="2636150347" sldId="287"/>
        </pc:sldMkLst>
        <pc:spChg chg="mod">
          <ac:chgData name="Akshaya Garikapati" userId="dd97538ba181b537" providerId="LiveId" clId="{FDD2352D-BA8C-40A3-9B9C-C0892C3CC3DC}" dt="2026-10-24T10:42:30.189" v="3"/>
          <ac:spMkLst>
            <pc:docMk/>
            <pc:sldMk cId="2636150347" sldId="287"/>
            <ac:spMk id="6" creationId="{33F9EEDE-4BE5-4969-0334-620E51261167}"/>
          </ac:spMkLst>
        </pc:spChg>
      </pc:sldChg>
      <pc:sldChg chg="modSp">
        <pc:chgData name="Akshaya Garikapati" userId="dd97538ba181b537" providerId="LiveId" clId="{FDD2352D-BA8C-40A3-9B9C-C0892C3CC3DC}" dt="2026-10-24T10:45:20.962" v="5"/>
        <pc:sldMkLst>
          <pc:docMk/>
          <pc:sldMk cId="3439371403" sldId="288"/>
        </pc:sldMkLst>
        <pc:spChg chg="mod">
          <ac:chgData name="Akshaya Garikapati" userId="dd97538ba181b537" providerId="LiveId" clId="{FDD2352D-BA8C-40A3-9B9C-C0892C3CC3DC}" dt="2026-10-24T10:45:20.962" v="5"/>
          <ac:spMkLst>
            <pc:docMk/>
            <pc:sldMk cId="3439371403" sldId="288"/>
            <ac:spMk id="6" creationId="{6B9FF91E-7BD7-B960-3459-5B3CA849F664}"/>
          </ac:spMkLst>
        </pc:spChg>
        <pc:spChg chg="mod">
          <ac:chgData name="Akshaya Garikapati" userId="dd97538ba181b537" providerId="LiveId" clId="{FDD2352D-BA8C-40A3-9B9C-C0892C3CC3DC}" dt="2026-10-24T10:44:56.301" v="4"/>
          <ac:spMkLst>
            <pc:docMk/>
            <pc:sldMk cId="3439371403" sldId="288"/>
            <ac:spMk id="16" creationId="{27F22AB4-3E5B-608E-1D70-63FFAA849928}"/>
          </ac:spMkLst>
        </pc:spChg>
      </pc:sldChg>
      <pc:sldChg chg="delSp modSp">
        <pc:chgData name="Akshaya Garikapati" userId="dd97538ba181b537" providerId="LiveId" clId="{FDD2352D-BA8C-40A3-9B9C-C0892C3CC3DC}" dt="2026-10-24T10:49:32.551" v="8"/>
        <pc:sldMkLst>
          <pc:docMk/>
          <pc:sldMk cId="3632266613" sldId="289"/>
        </pc:sldMkLst>
        <pc:spChg chg="mod">
          <ac:chgData name="Akshaya Garikapati" userId="dd97538ba181b537" providerId="LiveId" clId="{FDD2352D-BA8C-40A3-9B9C-C0892C3CC3DC}" dt="2026-10-24T10:49:20.047" v="7"/>
          <ac:spMkLst>
            <pc:docMk/>
            <pc:sldMk cId="3632266613" sldId="289"/>
            <ac:spMk id="6" creationId="{80322576-6026-EF22-2C93-6C8F60BAA12B}"/>
          </ac:spMkLst>
        </pc:spChg>
        <pc:spChg chg="del">
          <ac:chgData name="Akshaya Garikapati" userId="dd97538ba181b537" providerId="LiveId" clId="{FDD2352D-BA8C-40A3-9B9C-C0892C3CC3DC}" dt="2026-10-24T10:49:32.551" v="8"/>
          <ac:spMkLst>
            <pc:docMk/>
            <pc:sldMk cId="3632266613" sldId="289"/>
            <ac:spMk id="16" creationId="{A4311DFD-550A-D06D-1EA9-A9CB987A8B04}"/>
          </ac:spMkLst>
        </pc:spChg>
      </pc:sldChg>
      <pc:sldChg chg="modSp">
        <pc:chgData name="Akshaya Garikapati" userId="dd97538ba181b537" providerId="LiveId" clId="{FDD2352D-BA8C-40A3-9B9C-C0892C3CC3DC}" dt="2026-10-24T10:51:20.656" v="9"/>
        <pc:sldMkLst>
          <pc:docMk/>
          <pc:sldMk cId="1119839518" sldId="290"/>
        </pc:sldMkLst>
        <pc:spChg chg="mod">
          <ac:chgData name="Akshaya Garikapati" userId="dd97538ba181b537" providerId="LiveId" clId="{FDD2352D-BA8C-40A3-9B9C-C0892C3CC3DC}" dt="2026-10-24T10:51:20.656" v="9"/>
          <ac:spMkLst>
            <pc:docMk/>
            <pc:sldMk cId="1119839518" sldId="290"/>
            <ac:spMk id="6" creationId="{CF17E8C1-4456-27C2-29B0-BAE2044FF01C}"/>
          </ac:spMkLst>
        </pc:spChg>
      </pc:sldChg>
      <pc:sldChg chg="modSp">
        <pc:chgData name="Akshaya Garikapati" userId="dd97538ba181b537" providerId="LiveId" clId="{FDD2352D-BA8C-40A3-9B9C-C0892C3CC3DC}" dt="2026-10-24T11:08:43.011" v="20"/>
        <pc:sldMkLst>
          <pc:docMk/>
          <pc:sldMk cId="2610159733" sldId="291"/>
        </pc:sldMkLst>
        <pc:spChg chg="mod">
          <ac:chgData name="Akshaya Garikapati" userId="dd97538ba181b537" providerId="LiveId" clId="{FDD2352D-BA8C-40A3-9B9C-C0892C3CC3DC}" dt="2026-10-24T11:08:43.011" v="20"/>
          <ac:spMkLst>
            <pc:docMk/>
            <pc:sldMk cId="2610159733" sldId="291"/>
            <ac:spMk id="6" creationId="{7D40C41D-B942-C17B-A79E-B87F8EF2E226}"/>
          </ac:spMkLst>
        </pc:spChg>
      </pc:sldChg>
      <pc:sldChg chg="addSp modSp">
        <pc:chgData name="Akshaya Garikapati" userId="dd97538ba181b537" providerId="LiveId" clId="{FDD2352D-BA8C-40A3-9B9C-C0892C3CC3DC}" dt="2026-10-24T11:05:10.731" v="19"/>
        <pc:sldMkLst>
          <pc:docMk/>
          <pc:sldMk cId="610479567" sldId="292"/>
        </pc:sldMkLst>
        <pc:spChg chg="mod">
          <ac:chgData name="Akshaya Garikapati" userId="dd97538ba181b537" providerId="LiveId" clId="{FDD2352D-BA8C-40A3-9B9C-C0892C3CC3DC}" dt="2026-10-24T11:01:50.880" v="15"/>
          <ac:spMkLst>
            <pc:docMk/>
            <pc:sldMk cId="610479567" sldId="292"/>
            <ac:spMk id="3" creationId="{3CC7684B-D95D-A385-AFD7-E80BA21A4C93}"/>
          </ac:spMkLst>
        </pc:spChg>
        <pc:picChg chg="add mod">
          <ac:chgData name="Akshaya Garikapati" userId="dd97538ba181b537" providerId="LiveId" clId="{FDD2352D-BA8C-40A3-9B9C-C0892C3CC3DC}" dt="2026-10-24T11:05:10.731" v="19"/>
          <ac:picMkLst>
            <pc:docMk/>
            <pc:sldMk cId="610479567" sldId="292"/>
            <ac:picMk id="2" creationId="{A85EFB10-E84A-EA1D-4D09-E3A544C46DAB}"/>
          </ac:picMkLst>
        </pc:picChg>
      </pc:sldChg>
      <pc:sldChg chg="modSp">
        <pc:chgData name="Akshaya Garikapati" userId="dd97538ba181b537" providerId="LiveId" clId="{FDD2352D-BA8C-40A3-9B9C-C0892C3CC3DC}" dt="2026-10-24T11:03:04.421" v="17"/>
        <pc:sldMkLst>
          <pc:docMk/>
          <pc:sldMk cId="3307165961" sldId="293"/>
        </pc:sldMkLst>
        <pc:spChg chg="mod">
          <ac:chgData name="Akshaya Garikapati" userId="dd97538ba181b537" providerId="LiveId" clId="{FDD2352D-BA8C-40A3-9B9C-C0892C3CC3DC}" dt="2026-10-24T11:03:04.421" v="17"/>
          <ac:spMkLst>
            <pc:docMk/>
            <pc:sldMk cId="3307165961" sldId="293"/>
            <ac:spMk id="3" creationId="{5AD22D5F-7443-02BC-7C9C-AA60FF260E08}"/>
          </ac:spMkLst>
        </pc:spChg>
      </pc:sldChg>
      <pc:sldChg chg="addSp modSp">
        <pc:chgData name="Akshaya Garikapati" userId="dd97538ba181b537" providerId="LiveId" clId="{FDD2352D-BA8C-40A3-9B9C-C0892C3CC3DC}" dt="2026-10-24T11:04:17.235" v="18"/>
        <pc:sldMkLst>
          <pc:docMk/>
          <pc:sldMk cId="3525238039" sldId="294"/>
        </pc:sldMkLst>
        <pc:picChg chg="add mod">
          <ac:chgData name="Akshaya Garikapati" userId="dd97538ba181b537" providerId="LiveId" clId="{FDD2352D-BA8C-40A3-9B9C-C0892C3CC3DC}" dt="2026-10-24T11:04:17.235" v="18"/>
          <ac:picMkLst>
            <pc:docMk/>
            <pc:sldMk cId="3525238039" sldId="294"/>
            <ac:picMk id="2" creationId="{A62B22ED-5BFB-C0EA-DDB4-D052E8A5A8F6}"/>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59275" cy="3889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697538" y="0"/>
            <a:ext cx="4359275" cy="388938"/>
          </a:xfrm>
          <a:prstGeom prst="rect">
            <a:avLst/>
          </a:prstGeom>
        </p:spPr>
        <p:txBody>
          <a:bodyPr vert="horz" lIns="91440" tIns="45720" rIns="91440" bIns="45720" rtlCol="0"/>
          <a:lstStyle>
            <a:lvl1pPr algn="r">
              <a:defRPr sz="1200"/>
            </a:lvl1pPr>
          </a:lstStyle>
          <a:p>
            <a:fld id="{0B419B0A-DB98-47ED-A0D2-B47FD394FE07}" type="datetimeFigureOut">
              <a:rPr lang="en-IN" smtClean="0"/>
              <a:t>25-10-2026</a:t>
            </a:fld>
            <a:endParaRPr lang="en-IN"/>
          </a:p>
        </p:txBody>
      </p:sp>
      <p:sp>
        <p:nvSpPr>
          <p:cNvPr id="4" name="Slide Image Placeholder 3"/>
          <p:cNvSpPr>
            <a:spLocks noGrp="1" noRot="1" noChangeAspect="1"/>
          </p:cNvSpPr>
          <p:nvPr>
            <p:ph type="sldImg" idx="2"/>
          </p:nvPr>
        </p:nvSpPr>
        <p:spPr>
          <a:xfrm>
            <a:off x="3332163" y="971550"/>
            <a:ext cx="3394075" cy="262255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006475" y="3740150"/>
            <a:ext cx="8045450" cy="306070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7383463"/>
            <a:ext cx="4359275" cy="3889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697538" y="7383463"/>
            <a:ext cx="4359275" cy="388937"/>
          </a:xfrm>
          <a:prstGeom prst="rect">
            <a:avLst/>
          </a:prstGeom>
        </p:spPr>
        <p:txBody>
          <a:bodyPr vert="horz" lIns="91440" tIns="45720" rIns="91440" bIns="45720" rtlCol="0" anchor="b"/>
          <a:lstStyle>
            <a:lvl1pPr algn="r">
              <a:defRPr sz="1200"/>
            </a:lvl1pPr>
          </a:lstStyle>
          <a:p>
            <a:fld id="{67E471F2-2083-493A-8C9E-53209FFA1EC8}" type="slidenum">
              <a:rPr lang="en-IN" smtClean="0"/>
              <a:t>‹#›</a:t>
            </a:fld>
            <a:endParaRPr lang="en-IN"/>
          </a:p>
        </p:txBody>
      </p:sp>
    </p:spTree>
    <p:extLst>
      <p:ext uri="{BB962C8B-B14F-4D97-AF65-F5344CB8AC3E}">
        <p14:creationId xmlns:p14="http://schemas.microsoft.com/office/powerpoint/2010/main" val="446813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67E471F2-2083-493A-8C9E-53209FFA1EC8}" type="slidenum">
              <a:rPr lang="en-IN" smtClean="0"/>
              <a:t>9</a:t>
            </a:fld>
            <a:endParaRPr lang="en-IN"/>
          </a:p>
        </p:txBody>
      </p:sp>
    </p:spTree>
    <p:extLst>
      <p:ext uri="{BB962C8B-B14F-4D97-AF65-F5344CB8AC3E}">
        <p14:creationId xmlns:p14="http://schemas.microsoft.com/office/powerpoint/2010/main" val="20061069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1E0C1-6277-CAD3-8A7C-7F0F37C61C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3776A0-3BEE-1FDC-EADA-6B6FA1E1A0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753676-942B-2284-A56F-CCE051D8DD0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A68B2BB-B290-5A6F-7542-202146F1BA1C}"/>
              </a:ext>
            </a:extLst>
          </p:cNvPr>
          <p:cNvSpPr>
            <a:spLocks noGrp="1"/>
          </p:cNvSpPr>
          <p:nvPr>
            <p:ph type="sldNum" sz="quarter" idx="10"/>
          </p:nvPr>
        </p:nvSpPr>
        <p:spPr/>
        <p:txBody>
          <a:bodyPr/>
          <a:lstStyle/>
          <a:p>
            <a:fld id="{67E471F2-2083-493A-8C9E-53209FFA1EC8}" type="slidenum">
              <a:rPr lang="en-IN" smtClean="0"/>
              <a:t>10</a:t>
            </a:fld>
            <a:endParaRPr lang="en-IN"/>
          </a:p>
        </p:txBody>
      </p:sp>
    </p:spTree>
    <p:extLst>
      <p:ext uri="{BB962C8B-B14F-4D97-AF65-F5344CB8AC3E}">
        <p14:creationId xmlns:p14="http://schemas.microsoft.com/office/powerpoint/2010/main" val="15275766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B762E8-A54D-501C-83A0-873B55B3B7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F89202-E420-8124-072C-5E43C1D6B7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B9E863-44B3-3D3A-E33D-5E8757616AB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41C4100-1EDD-FE85-10CA-3C092515F0E0}"/>
              </a:ext>
            </a:extLst>
          </p:cNvPr>
          <p:cNvSpPr>
            <a:spLocks noGrp="1"/>
          </p:cNvSpPr>
          <p:nvPr>
            <p:ph type="sldNum" sz="quarter" idx="10"/>
          </p:nvPr>
        </p:nvSpPr>
        <p:spPr/>
        <p:txBody>
          <a:bodyPr/>
          <a:lstStyle/>
          <a:p>
            <a:fld id="{67E471F2-2083-493A-8C9E-53209FFA1EC8}" type="slidenum">
              <a:rPr lang="en-IN" smtClean="0"/>
              <a:t>11</a:t>
            </a:fld>
            <a:endParaRPr lang="en-IN"/>
          </a:p>
        </p:txBody>
      </p:sp>
    </p:spTree>
    <p:extLst>
      <p:ext uri="{BB962C8B-B14F-4D97-AF65-F5344CB8AC3E}">
        <p14:creationId xmlns:p14="http://schemas.microsoft.com/office/powerpoint/2010/main" val="34118232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7E471F2-2083-493A-8C9E-53209FFA1EC8}" type="slidenum">
              <a:rPr lang="en-IN" smtClean="0"/>
              <a:t>12</a:t>
            </a:fld>
            <a:endParaRPr lang="en-IN"/>
          </a:p>
        </p:txBody>
      </p:sp>
    </p:spTree>
    <p:extLst>
      <p:ext uri="{BB962C8B-B14F-4D97-AF65-F5344CB8AC3E}">
        <p14:creationId xmlns:p14="http://schemas.microsoft.com/office/powerpoint/2010/main" val="19644643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4380" y="2409444"/>
            <a:ext cx="8549640" cy="163220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subTitle" idx="4"/>
          </p:nvPr>
        </p:nvSpPr>
        <p:spPr>
          <a:xfrm>
            <a:off x="1508760" y="4352544"/>
            <a:ext cx="7040880" cy="1943100"/>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10/25/2026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p:txBody>
          <a:bodyPr lIns="0" tIns="0" rIns="0" bIns="0"/>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10/25/2026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sz="half" idx="2"/>
          </p:nvPr>
        </p:nvSpPr>
        <p:spPr>
          <a:xfrm>
            <a:off x="502920" y="1787652"/>
            <a:ext cx="4375404" cy="512978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180076" y="1787652"/>
            <a:ext cx="4375404" cy="512978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10/25/2026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10/25/2026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2648056" y="258722"/>
            <a:ext cx="4601366" cy="704793"/>
          </a:xfrm>
          <a:prstGeom prst="rect">
            <a:avLst/>
          </a:prstGeom>
        </p:spPr>
      </p:pic>
      <p:pic>
        <p:nvPicPr>
          <p:cNvPr id="17" name="bg object 17"/>
          <p:cNvPicPr/>
          <p:nvPr/>
        </p:nvPicPr>
        <p:blipFill>
          <a:blip r:embed="rId3" cstate="print"/>
          <a:stretch>
            <a:fillRect/>
          </a:stretch>
        </p:blipFill>
        <p:spPr>
          <a:xfrm>
            <a:off x="2530316" y="125730"/>
            <a:ext cx="4997767" cy="1045130"/>
          </a:xfrm>
          <a:prstGeom prst="rect">
            <a:avLst/>
          </a:prstGeom>
        </p:spPr>
      </p:pic>
      <p:pic>
        <p:nvPicPr>
          <p:cNvPr id="18" name="bg object 18"/>
          <p:cNvPicPr/>
          <p:nvPr/>
        </p:nvPicPr>
        <p:blipFill>
          <a:blip r:embed="rId4" cstate="print"/>
          <a:stretch>
            <a:fillRect/>
          </a:stretch>
        </p:blipFill>
        <p:spPr>
          <a:xfrm>
            <a:off x="2663904" y="251407"/>
            <a:ext cx="4577410" cy="506849"/>
          </a:xfrm>
          <a:prstGeom prst="rect">
            <a:avLst/>
          </a:prstGeom>
        </p:spPr>
      </p:pic>
      <p:sp>
        <p:nvSpPr>
          <p:cNvPr id="19" name="bg object 19"/>
          <p:cNvSpPr/>
          <p:nvPr/>
        </p:nvSpPr>
        <p:spPr>
          <a:xfrm>
            <a:off x="2718911" y="290750"/>
            <a:ext cx="4471670" cy="400685"/>
          </a:xfrm>
          <a:custGeom>
            <a:avLst/>
            <a:gdLst/>
            <a:ahLst/>
            <a:cxnLst/>
            <a:rect l="l" t="t" r="r" b="b"/>
            <a:pathLst>
              <a:path w="4471670" h="400684">
                <a:moveTo>
                  <a:pt x="4386510" y="0"/>
                </a:moveTo>
                <a:lnTo>
                  <a:pt x="84762" y="0"/>
                </a:lnTo>
                <a:lnTo>
                  <a:pt x="51758" y="5238"/>
                </a:lnTo>
                <a:lnTo>
                  <a:pt x="24831" y="19592"/>
                </a:lnTo>
                <a:lnTo>
                  <a:pt x="6705" y="40757"/>
                </a:lnTo>
                <a:lnTo>
                  <a:pt x="0" y="66741"/>
                </a:lnTo>
                <a:lnTo>
                  <a:pt x="0" y="333813"/>
                </a:lnTo>
                <a:lnTo>
                  <a:pt x="6705" y="359797"/>
                </a:lnTo>
                <a:lnTo>
                  <a:pt x="24831" y="381066"/>
                </a:lnTo>
                <a:lnTo>
                  <a:pt x="51758" y="395316"/>
                </a:lnTo>
                <a:lnTo>
                  <a:pt x="84762" y="400554"/>
                </a:lnTo>
                <a:lnTo>
                  <a:pt x="4386510" y="400554"/>
                </a:lnTo>
                <a:lnTo>
                  <a:pt x="4419514" y="395316"/>
                </a:lnTo>
                <a:lnTo>
                  <a:pt x="4446441" y="381066"/>
                </a:lnTo>
                <a:lnTo>
                  <a:pt x="4464567" y="359797"/>
                </a:lnTo>
                <a:lnTo>
                  <a:pt x="4471273" y="333813"/>
                </a:lnTo>
                <a:lnTo>
                  <a:pt x="4471273" y="66741"/>
                </a:lnTo>
                <a:lnTo>
                  <a:pt x="4464567" y="40757"/>
                </a:lnTo>
                <a:lnTo>
                  <a:pt x="4446441" y="19592"/>
                </a:lnTo>
                <a:lnTo>
                  <a:pt x="4419514" y="5238"/>
                </a:lnTo>
                <a:lnTo>
                  <a:pt x="4386510" y="0"/>
                </a:lnTo>
                <a:close/>
              </a:path>
            </a:pathLst>
          </a:custGeom>
          <a:solidFill>
            <a:srgbClr val="FF6600"/>
          </a:solidFill>
        </p:spPr>
        <p:txBody>
          <a:bodyPr wrap="square" lIns="0" tIns="0" rIns="0" bIns="0" rtlCol="0"/>
          <a:lstStyle/>
          <a:p>
            <a:endParaRPr/>
          </a:p>
        </p:txBody>
      </p:sp>
      <p:pic>
        <p:nvPicPr>
          <p:cNvPr id="20" name="bg object 20"/>
          <p:cNvPicPr/>
          <p:nvPr/>
        </p:nvPicPr>
        <p:blipFill>
          <a:blip r:embed="rId5" cstate="print"/>
          <a:stretch>
            <a:fillRect/>
          </a:stretch>
        </p:blipFill>
        <p:spPr>
          <a:xfrm>
            <a:off x="3292554" y="282840"/>
            <a:ext cx="3375117" cy="569714"/>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10/25/2026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830970" y="881554"/>
            <a:ext cx="2528570" cy="37528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a:xfrm>
            <a:off x="621188" y="1409149"/>
            <a:ext cx="8949055" cy="3294379"/>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a:xfrm>
            <a:off x="3419856" y="7228332"/>
            <a:ext cx="3218688" cy="3886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02920" y="7228332"/>
            <a:ext cx="2313432" cy="3886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10/25/2026</a:t>
            </a:fld>
            <a:endParaRPr lang="en-US"/>
          </a:p>
        </p:txBody>
      </p:sp>
      <p:sp>
        <p:nvSpPr>
          <p:cNvPr id="6" name="Holder 6"/>
          <p:cNvSpPr>
            <a:spLocks noGrp="1"/>
          </p:cNvSpPr>
          <p:nvPr>
            <p:ph type="sldNum" sz="quarter" idx="7"/>
          </p:nvPr>
        </p:nvSpPr>
        <p:spPr>
          <a:xfrm>
            <a:off x="7242048" y="7228332"/>
            <a:ext cx="2313432" cy="38862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6.jp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6.jp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6.jp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6.jpg"/><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5.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6.jpg"/><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6.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6.jpg"/><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7.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6.jpg"/><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693969" y="211046"/>
            <a:ext cx="4610910" cy="628649"/>
          </a:xfrm>
          <a:prstGeom prst="rect">
            <a:avLst/>
          </a:prstGeom>
        </p:spPr>
      </p:pic>
      <p:sp>
        <p:nvSpPr>
          <p:cNvPr id="3" name="object 3"/>
          <p:cNvSpPr txBox="1">
            <a:spLocks noGrp="1"/>
          </p:cNvSpPr>
          <p:nvPr>
            <p:ph type="title"/>
          </p:nvPr>
        </p:nvSpPr>
        <p:spPr>
          <a:xfrm>
            <a:off x="1447800" y="1076308"/>
            <a:ext cx="7467599" cy="1012585"/>
          </a:xfrm>
          <a:prstGeom prst="rect">
            <a:avLst/>
          </a:prstGeom>
        </p:spPr>
        <p:txBody>
          <a:bodyPr vert="horz" wrap="square" lIns="0" tIns="11430" rIns="0" bIns="0" rtlCol="0">
            <a:spAutoFit/>
          </a:bodyPr>
          <a:lstStyle/>
          <a:p>
            <a:pPr marL="12700" algn="ctr">
              <a:lnSpc>
                <a:spcPct val="150000"/>
              </a:lnSpc>
              <a:spcBef>
                <a:spcPts val="90"/>
              </a:spcBef>
            </a:pPr>
            <a:r>
              <a:rPr lang="en-IN" sz="2400" spc="-10" dirty="0">
                <a:latin typeface="Times New Roman" panose="02020603050405020304" pitchFamily="18" charset="0"/>
                <a:cs typeface="Times New Roman" panose="02020603050405020304" pitchFamily="18" charset="0"/>
              </a:rPr>
              <a:t>Data Analysis Essentials Cornerstone Project</a:t>
            </a:r>
            <a:br>
              <a:rPr lang="en-IN" sz="2200" spc="-10" dirty="0">
                <a:latin typeface="Times New Roman" panose="02020603050405020304" pitchFamily="18" charset="0"/>
                <a:cs typeface="Times New Roman" panose="02020603050405020304" pitchFamily="18" charset="0"/>
              </a:rPr>
            </a:br>
            <a:r>
              <a:rPr lang="en-IN" sz="2200" spc="-10" dirty="0">
                <a:latin typeface="Times New Roman" panose="02020603050405020304" pitchFamily="18" charset="0"/>
                <a:cs typeface="Times New Roman" panose="02020603050405020304" pitchFamily="18" charset="0"/>
              </a:rPr>
              <a:t>Review  3</a:t>
            </a:r>
            <a:endParaRPr sz="2200" spc="-10" dirty="0">
              <a:latin typeface="Times New Roman" panose="02020603050405020304" pitchFamily="18" charset="0"/>
              <a:cs typeface="Times New Roman" panose="02020603050405020304" pitchFamily="18" charset="0"/>
            </a:endParaRPr>
          </a:p>
        </p:txBody>
      </p:sp>
      <p:sp>
        <p:nvSpPr>
          <p:cNvPr id="4" name="object 4"/>
          <p:cNvSpPr txBox="1">
            <a:spLocks noGrp="1"/>
          </p:cNvSpPr>
          <p:nvPr>
            <p:ph type="body" idx="1"/>
          </p:nvPr>
        </p:nvSpPr>
        <p:spPr>
          <a:xfrm>
            <a:off x="653494" y="2514600"/>
            <a:ext cx="8751412" cy="3166251"/>
          </a:xfrm>
          <a:prstGeom prst="rect">
            <a:avLst/>
          </a:prstGeom>
        </p:spPr>
        <p:txBody>
          <a:bodyPr vert="horz" wrap="square" lIns="0" tIns="16510" rIns="0" bIns="0" rtlCol="0">
            <a:spAutoFit/>
          </a:bodyPr>
          <a:lstStyle/>
          <a:p>
            <a:pPr algn="ctr">
              <a:lnSpc>
                <a:spcPct val="100000"/>
              </a:lnSpc>
              <a:spcBef>
                <a:spcPts val="130"/>
              </a:spcBef>
            </a:pPr>
            <a:r>
              <a:rPr lang="en-IN" dirty="0"/>
              <a:t>Web Based Product Tracking System</a:t>
            </a:r>
            <a:endParaRPr lang="en-IN"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r>
              <a:rPr sz="2200" dirty="0">
                <a:solidFill>
                  <a:srgbClr val="FF0000"/>
                </a:solidFill>
                <a:latin typeface="Times New Roman" panose="02020603050405020304" pitchFamily="18" charset="0"/>
                <a:cs typeface="Times New Roman" panose="02020603050405020304" pitchFamily="18" charset="0"/>
              </a:rPr>
              <a:t>Presented</a:t>
            </a:r>
            <a:r>
              <a:rPr sz="2200" spc="80" dirty="0">
                <a:solidFill>
                  <a:srgbClr val="FF0000"/>
                </a:solidFill>
                <a:latin typeface="Times New Roman" panose="02020603050405020304" pitchFamily="18" charset="0"/>
                <a:cs typeface="Times New Roman" panose="02020603050405020304" pitchFamily="18" charset="0"/>
              </a:rPr>
              <a:t> </a:t>
            </a:r>
            <a:r>
              <a:rPr sz="2200" spc="-25" dirty="0">
                <a:solidFill>
                  <a:srgbClr val="FF0000"/>
                </a:solidFill>
                <a:latin typeface="Times New Roman" panose="02020603050405020304" pitchFamily="18" charset="0"/>
                <a:cs typeface="Times New Roman" panose="02020603050405020304" pitchFamily="18" charset="0"/>
              </a:rPr>
              <a:t>by</a:t>
            </a:r>
            <a:endParaRPr lang="en-IN" sz="2200" spc="-25"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endParaRPr lang="en-IN" sz="900" spc="-25"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r>
              <a:rPr lang="en-IN" sz="2000" spc="-10" dirty="0">
                <a:solidFill>
                  <a:srgbClr val="17375E"/>
                </a:solidFill>
                <a:latin typeface="Times New Roman" panose="02020603050405020304" pitchFamily="18" charset="0"/>
                <a:cs typeface="Times New Roman" panose="02020603050405020304" pitchFamily="18" charset="0"/>
              </a:rPr>
              <a:t>R Thanuja (25B11AIA34)</a:t>
            </a:r>
          </a:p>
          <a:p>
            <a:pPr marL="3810" algn="ctr">
              <a:lnSpc>
                <a:spcPct val="100000"/>
              </a:lnSpc>
              <a:spcBef>
                <a:spcPts val="750"/>
              </a:spcBef>
            </a:pPr>
            <a:r>
              <a:rPr lang="en-IN" sz="2000" spc="-10" dirty="0">
                <a:solidFill>
                  <a:srgbClr val="17375E"/>
                </a:solidFill>
                <a:latin typeface="Times New Roman" panose="02020603050405020304" pitchFamily="18" charset="0"/>
                <a:cs typeface="Times New Roman" panose="02020603050405020304" pitchFamily="18" charset="0"/>
              </a:rPr>
              <a:t>G Akshaya (25B11AI328)</a:t>
            </a:r>
          </a:p>
          <a:p>
            <a:pPr marL="3810" algn="ctr">
              <a:lnSpc>
                <a:spcPct val="100000"/>
              </a:lnSpc>
              <a:spcBef>
                <a:spcPts val="750"/>
              </a:spcBef>
            </a:pPr>
            <a:r>
              <a:rPr lang="en-IN" sz="2000" spc="-10" dirty="0">
                <a:solidFill>
                  <a:srgbClr val="17375E"/>
                </a:solidFill>
                <a:latin typeface="Times New Roman" panose="02020603050405020304" pitchFamily="18" charset="0"/>
                <a:cs typeface="Times New Roman" panose="02020603050405020304" pitchFamily="18" charset="0"/>
              </a:rPr>
              <a:t>Y </a:t>
            </a:r>
            <a:r>
              <a:rPr lang="en-IN" sz="2000" spc="-10" dirty="0" err="1">
                <a:solidFill>
                  <a:srgbClr val="17375E"/>
                </a:solidFill>
                <a:latin typeface="Times New Roman" panose="02020603050405020304" pitchFamily="18" charset="0"/>
                <a:cs typeface="Times New Roman" panose="02020603050405020304" pitchFamily="18" charset="0"/>
              </a:rPr>
              <a:t>Aasmitha</a:t>
            </a:r>
            <a:r>
              <a:rPr lang="en-IN" sz="2000" spc="-10" dirty="0">
                <a:solidFill>
                  <a:srgbClr val="17375E"/>
                </a:solidFill>
                <a:latin typeface="Times New Roman" panose="02020603050405020304" pitchFamily="18" charset="0"/>
                <a:cs typeface="Times New Roman" panose="02020603050405020304" pitchFamily="18" charset="0"/>
              </a:rPr>
              <a:t> (25B11AID10)</a:t>
            </a:r>
          </a:p>
          <a:p>
            <a:pPr marL="3810" algn="ctr">
              <a:lnSpc>
                <a:spcPct val="100000"/>
              </a:lnSpc>
              <a:spcBef>
                <a:spcPts val="750"/>
              </a:spcBef>
            </a:pPr>
            <a:endParaRPr lang="en-IN" sz="1650" spc="-10" dirty="0">
              <a:latin typeface="Times New Roman" panose="02020603050405020304" pitchFamily="18" charset="0"/>
              <a:cs typeface="Times New Roman" panose="02020603050405020304" pitchFamily="18" charset="0"/>
            </a:endParaRPr>
          </a:p>
          <a:p>
            <a:pPr marL="1270" algn="ctr">
              <a:lnSpc>
                <a:spcPct val="100000"/>
              </a:lnSpc>
              <a:spcBef>
                <a:spcPts val="994"/>
              </a:spcBef>
            </a:pPr>
            <a:r>
              <a:rPr sz="2200" dirty="0">
                <a:solidFill>
                  <a:srgbClr val="943735"/>
                </a:solidFill>
                <a:latin typeface="Times New Roman" panose="02020603050405020304" pitchFamily="18" charset="0"/>
                <a:cs typeface="Times New Roman" panose="02020603050405020304" pitchFamily="18" charset="0"/>
              </a:rPr>
              <a:t>Department</a:t>
            </a:r>
            <a:r>
              <a:rPr sz="2200" spc="-60" dirty="0">
                <a:solidFill>
                  <a:srgbClr val="943735"/>
                </a:solidFill>
                <a:latin typeface="Times New Roman" panose="02020603050405020304" pitchFamily="18" charset="0"/>
                <a:cs typeface="Times New Roman" panose="02020603050405020304" pitchFamily="18" charset="0"/>
              </a:rPr>
              <a:t> </a:t>
            </a:r>
            <a:r>
              <a:rPr sz="2200" dirty="0">
                <a:solidFill>
                  <a:srgbClr val="943735"/>
                </a:solidFill>
                <a:latin typeface="Times New Roman" panose="02020603050405020304" pitchFamily="18" charset="0"/>
                <a:cs typeface="Times New Roman" panose="02020603050405020304" pitchFamily="18" charset="0"/>
              </a:rPr>
              <a:t>o</a:t>
            </a:r>
            <a:r>
              <a:rPr lang="en-US" sz="2200" dirty="0">
                <a:solidFill>
                  <a:srgbClr val="943735"/>
                </a:solidFill>
                <a:latin typeface="Times New Roman" panose="02020603050405020304" pitchFamily="18" charset="0"/>
                <a:cs typeface="Times New Roman" panose="02020603050405020304" pitchFamily="18" charset="0"/>
              </a:rPr>
              <a:t>f </a:t>
            </a:r>
            <a:r>
              <a:rPr lang="en-IN" sz="2200" dirty="0">
                <a:solidFill>
                  <a:srgbClr val="943735"/>
                </a:solidFill>
                <a:latin typeface="Times New Roman" panose="02020603050405020304" pitchFamily="18" charset="0"/>
                <a:cs typeface="Times New Roman" panose="02020603050405020304" pitchFamily="18" charset="0"/>
              </a:rPr>
              <a:t>Artificial Intelligence &amp; Machine Learning</a:t>
            </a:r>
            <a:endParaRPr lang="en-IN" sz="2200" spc="-10" dirty="0">
              <a:solidFill>
                <a:srgbClr val="943735"/>
              </a:solidFill>
              <a:latin typeface="Times New Roman" panose="02020603050405020304" pitchFamily="18" charset="0"/>
              <a:cs typeface="Times New Roman" panose="02020603050405020304" pitchFamily="18" charset="0"/>
            </a:endParaRPr>
          </a:p>
          <a:p>
            <a:pPr marL="1270" algn="ctr">
              <a:lnSpc>
                <a:spcPct val="100000"/>
              </a:lnSpc>
              <a:spcBef>
                <a:spcPts val="994"/>
              </a:spcBef>
            </a:pPr>
            <a:endParaRPr lang="en-IN" sz="1650" spc="-10" dirty="0">
              <a:solidFill>
                <a:srgbClr val="943735"/>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290750" y="204311"/>
            <a:ext cx="1163002" cy="424338"/>
          </a:xfrm>
          <a:prstGeom prst="rect">
            <a:avLst/>
          </a:prstGeom>
        </p:spPr>
      </p:pic>
      <p:sp>
        <p:nvSpPr>
          <p:cNvPr id="4" name="object 4"/>
          <p:cNvSpPr txBox="1"/>
          <p:nvPr/>
        </p:nvSpPr>
        <p:spPr>
          <a:xfrm>
            <a:off x="872251" y="909746"/>
            <a:ext cx="7580980" cy="6772367"/>
          </a:xfrm>
          <a:prstGeom prst="rect">
            <a:avLst/>
          </a:prstGeom>
        </p:spPr>
        <p:txBody>
          <a:bodyPr vert="horz" wrap="square" lIns="0" tIns="16510" rIns="0" bIns="0" rtlCol="0">
            <a:spAutoFit/>
          </a:bodyPr>
          <a:lstStyle/>
          <a:p>
            <a:pPr marL="389890" indent="-377190">
              <a:lnSpc>
                <a:spcPct val="100000"/>
              </a:lnSpc>
              <a:spcBef>
                <a:spcPts val="130"/>
              </a:spcBef>
              <a:buFont typeface="Cambria"/>
              <a:buAutoNum type="arabicPeriod"/>
              <a:tabLst>
                <a:tab pos="389890" algn="l"/>
              </a:tabLst>
            </a:pPr>
            <a:r>
              <a:rPr lang="en-IN" sz="2400" spc="-10" dirty="0">
                <a:latin typeface="Times New Roman" panose="02020603050405020304" pitchFamily="18" charset="0"/>
                <a:cs typeface="Times New Roman" panose="02020603050405020304" pitchFamily="18" charset="0"/>
              </a:rPr>
              <a:t>Abstract</a:t>
            </a:r>
            <a:endParaRPr sz="2400" dirty="0">
              <a:latin typeface="Times New Roman" panose="02020603050405020304" pitchFamily="18" charset="0"/>
              <a:cs typeface="Times New Roman" panose="02020603050405020304" pitchFamily="18" charset="0"/>
            </a:endParaRP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Introduction</a:t>
            </a: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Problem Statement</a:t>
            </a:r>
          </a:p>
          <a:p>
            <a:pPr marL="389890" indent="-377190" algn="l">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Dataset Details Before and After Cleaning</a:t>
            </a: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Missing Values and Duplicate Records</a:t>
            </a: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Coding Implementation with Step-by-Step Explanation</a:t>
            </a: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Expected Outputs and Actual Outputs</a:t>
            </a: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Accuracy Details</a:t>
            </a: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Prediction Models</a:t>
            </a: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Data Visualization</a:t>
            </a:r>
          </a:p>
          <a:p>
            <a:pPr marL="389890" indent="-377190">
              <a:lnSpc>
                <a:spcPct val="100000"/>
              </a:lnSpc>
              <a:spcBef>
                <a:spcPts val="2060"/>
              </a:spcBef>
              <a:buAutoNum type="arabicPeriod"/>
              <a:tabLst>
                <a:tab pos="389890" algn="l"/>
              </a:tabLst>
            </a:pPr>
            <a:r>
              <a:rPr lang="en-IN" sz="2400" spc="50" dirty="0">
                <a:latin typeface="Times New Roman" panose="02020603050405020304" pitchFamily="18" charset="0"/>
                <a:cs typeface="Times New Roman" panose="02020603050405020304" pitchFamily="18" charset="0"/>
              </a:rPr>
              <a:t>Conclusion</a:t>
            </a:r>
          </a:p>
        </p:txBody>
      </p:sp>
      <p:grpSp>
        <p:nvGrpSpPr>
          <p:cNvPr id="5" name="object 3"/>
          <p:cNvGrpSpPr/>
          <p:nvPr/>
        </p:nvGrpSpPr>
        <p:grpSpPr>
          <a:xfrm>
            <a:off x="2438400" y="33670"/>
            <a:ext cx="5334000" cy="1198311"/>
            <a:chOff x="2648188" y="47148"/>
            <a:chExt cx="5103904" cy="1198311"/>
          </a:xfrm>
        </p:grpSpPr>
        <p:pic>
          <p:nvPicPr>
            <p:cNvPr id="6" name="object 4"/>
            <p:cNvPicPr/>
            <p:nvPr/>
          </p:nvPicPr>
          <p:blipFill>
            <a:blip r:embed="rId3" cstate="print"/>
            <a:stretch>
              <a:fillRect/>
            </a:stretch>
          </p:blipFill>
          <p:spPr>
            <a:xfrm>
              <a:off x="2648188" y="47148"/>
              <a:ext cx="5103904" cy="1198311"/>
            </a:xfrm>
            <a:prstGeom prst="rect">
              <a:avLst/>
            </a:prstGeom>
          </p:spPr>
        </p:pic>
        <p:pic>
          <p:nvPicPr>
            <p:cNvPr id="7" name="object 5"/>
            <p:cNvPicPr/>
            <p:nvPr/>
          </p:nvPicPr>
          <p:blipFill>
            <a:blip r:embed="rId4" cstate="print"/>
            <a:stretch>
              <a:fillRect/>
            </a:stretch>
          </p:blipFill>
          <p:spPr>
            <a:xfrm>
              <a:off x="2703195" y="86439"/>
              <a:ext cx="4997767" cy="1092279"/>
            </a:xfrm>
            <a:prstGeom prst="rect">
              <a:avLst/>
            </a:prstGeom>
          </p:spPr>
        </p:pic>
        <p:pic>
          <p:nvPicPr>
            <p:cNvPr id="8" name="object 6"/>
            <p:cNvPicPr/>
            <p:nvPr/>
          </p:nvPicPr>
          <p:blipFill>
            <a:blip r:embed="rId5" cstate="print"/>
            <a:stretch>
              <a:fillRect/>
            </a:stretch>
          </p:blipFill>
          <p:spPr>
            <a:xfrm>
              <a:off x="2828925" y="243549"/>
              <a:ext cx="4585268" cy="522565"/>
            </a:xfrm>
            <a:prstGeom prst="rect">
              <a:avLst/>
            </a:prstGeom>
          </p:spPr>
        </p:pic>
        <p:sp>
          <p:nvSpPr>
            <p:cNvPr id="9"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p:cNvSpPr txBox="1">
            <a:spLocks/>
          </p:cNvSpPr>
          <p:nvPr/>
        </p:nvSpPr>
        <p:spPr>
          <a:xfrm>
            <a:off x="3604543" y="286092"/>
            <a:ext cx="2853690" cy="355225"/>
          </a:xfrm>
          <a:prstGeom prst="rect">
            <a:avLst/>
          </a:prstGeom>
        </p:spPr>
        <p:txBody>
          <a:bodyPr vert="horz" wrap="square" lIns="0" tIns="16510" rIns="0" bIns="0" rtlCol="0">
            <a:spAutoFit/>
          </a:bodyPr>
          <a:lstStyle>
            <a:lvl1pPr>
              <a:defRPr>
                <a:latin typeface="+mj-lt"/>
                <a:ea typeface="+mj-ea"/>
                <a:cs typeface="+mj-cs"/>
              </a:defRPr>
            </a:lvl1pPr>
          </a:lstStyle>
          <a:p>
            <a:pPr marL="12700" algn="ctr">
              <a:spcBef>
                <a:spcPts val="130"/>
              </a:spcBef>
            </a:pPr>
            <a:r>
              <a:rPr lang="en-IN" sz="2200" b="1" dirty="0">
                <a:solidFill>
                  <a:schemeClr val="bg1"/>
                </a:solidFill>
                <a:latin typeface="Times New Roman" panose="02020603050405020304" pitchFamily="18" charset="0"/>
                <a:cs typeface="Times New Roman" panose="02020603050405020304" pitchFamily="18" charset="0"/>
              </a:rPr>
              <a:t>Presentation Outline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object 3"/>
          <p:cNvGrpSpPr/>
          <p:nvPr/>
        </p:nvGrpSpPr>
        <p:grpSpPr>
          <a:xfrm>
            <a:off x="2875393" y="53695"/>
            <a:ext cx="5103904" cy="1198311"/>
            <a:chOff x="2648188" y="47148"/>
            <a:chExt cx="5103904" cy="1198311"/>
          </a:xfrm>
        </p:grpSpPr>
        <p:pic>
          <p:nvPicPr>
            <p:cNvPr id="4" name="object 4"/>
            <p:cNvPicPr/>
            <p:nvPr/>
          </p:nvPicPr>
          <p:blipFill>
            <a:blip r:embed="rId2" cstate="print"/>
            <a:stretch>
              <a:fillRect/>
            </a:stretch>
          </p:blipFill>
          <p:spPr>
            <a:xfrm>
              <a:off x="2648188" y="47148"/>
              <a:ext cx="5103904" cy="1198311"/>
            </a:xfrm>
            <a:prstGeom prst="rect">
              <a:avLst/>
            </a:prstGeom>
          </p:spPr>
        </p:pic>
        <p:pic>
          <p:nvPicPr>
            <p:cNvPr id="5" name="object 5"/>
            <p:cNvPicPr/>
            <p:nvPr/>
          </p:nvPicPr>
          <p:blipFill>
            <a:blip r:embed="rId3" cstate="print"/>
            <a:stretch>
              <a:fillRect/>
            </a:stretch>
          </p:blipFill>
          <p:spPr>
            <a:xfrm>
              <a:off x="2703195" y="86439"/>
              <a:ext cx="4997767" cy="1092279"/>
            </a:xfrm>
            <a:prstGeom prst="rect">
              <a:avLst/>
            </a:prstGeom>
          </p:spPr>
        </p:pic>
        <p:pic>
          <p:nvPicPr>
            <p:cNvPr id="6" name="object 6"/>
            <p:cNvPicPr/>
            <p:nvPr/>
          </p:nvPicPr>
          <p:blipFill>
            <a:blip r:embed="rId4" cstate="print"/>
            <a:stretch>
              <a:fillRect/>
            </a:stretch>
          </p:blipFill>
          <p:spPr>
            <a:xfrm>
              <a:off x="2828925" y="243549"/>
              <a:ext cx="4585268" cy="522565"/>
            </a:xfrm>
            <a:prstGeom prst="rect">
              <a:avLst/>
            </a:prstGeom>
          </p:spPr>
        </p:pic>
        <p:sp>
          <p:nvSpPr>
            <p:cNvPr id="7"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9" name="object 9"/>
          <p:cNvSpPr txBox="1">
            <a:spLocks noGrp="1"/>
          </p:cNvSpPr>
          <p:nvPr>
            <p:ph type="title"/>
          </p:nvPr>
        </p:nvSpPr>
        <p:spPr>
          <a:xfrm>
            <a:off x="4343400" y="325191"/>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ABSTRACT</a:t>
            </a:r>
          </a:p>
        </p:txBody>
      </p:sp>
      <p:pic>
        <p:nvPicPr>
          <p:cNvPr id="10" name="object 3">
            <a:extLst>
              <a:ext uri="{FF2B5EF4-FFF2-40B4-BE49-F238E27FC236}">
                <a16:creationId xmlns:a16="http://schemas.microsoft.com/office/drawing/2014/main" id="{1B5A0518-1CDA-CA94-327E-0995E9EC2B84}"/>
              </a:ext>
            </a:extLst>
          </p:cNvPr>
          <p:cNvPicPr/>
          <p:nvPr/>
        </p:nvPicPr>
        <p:blipFill>
          <a:blip r:embed="rId5" cstate="print"/>
          <a:stretch>
            <a:fillRect/>
          </a:stretch>
        </p:blipFill>
        <p:spPr>
          <a:xfrm>
            <a:off x="290750" y="204311"/>
            <a:ext cx="1163002" cy="424338"/>
          </a:xfrm>
          <a:prstGeom prst="rect">
            <a:avLst/>
          </a:prstGeom>
        </p:spPr>
      </p:pic>
      <p:sp>
        <p:nvSpPr>
          <p:cNvPr id="13" name="TextBox 12">
            <a:extLst>
              <a:ext uri="{FF2B5EF4-FFF2-40B4-BE49-F238E27FC236}">
                <a16:creationId xmlns:a16="http://schemas.microsoft.com/office/drawing/2014/main" id="{F71F55BA-986F-654A-5E2D-6EB3BA46572D}"/>
              </a:ext>
            </a:extLst>
          </p:cNvPr>
          <p:cNvSpPr txBox="1"/>
          <p:nvPr/>
        </p:nvSpPr>
        <p:spPr>
          <a:xfrm>
            <a:off x="322006" y="1409116"/>
            <a:ext cx="9753600" cy="5324535"/>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The Web Based Product Tracking System is a Python-based data analysis project designed to </a:t>
            </a:r>
            <a:r>
              <a:rPr lang="en-IN" sz="2400" dirty="0" err="1">
                <a:latin typeface="Times New Roman" panose="02020603050405020304" pitchFamily="18" charset="0"/>
                <a:cs typeface="Times New Roman" panose="02020603050405020304" pitchFamily="18" charset="0"/>
              </a:rPr>
              <a:t>analyze</a:t>
            </a:r>
            <a:r>
              <a:rPr lang="en-IN" sz="2400" dirty="0">
                <a:latin typeface="Times New Roman" panose="02020603050405020304" pitchFamily="18" charset="0"/>
                <a:cs typeface="Times New Roman" panose="02020603050405020304" pitchFamily="18" charset="0"/>
              </a:rPr>
              <a:t> e-commerce data and identify useful patterns. The project uses an e-commerce dataset from </a:t>
            </a:r>
            <a:r>
              <a:rPr lang="en-IN" sz="2400" dirty="0" err="1">
                <a:latin typeface="Times New Roman" panose="02020603050405020304" pitchFamily="18" charset="0"/>
                <a:cs typeface="Times New Roman" panose="02020603050405020304" pitchFamily="18" charset="0"/>
              </a:rPr>
              <a:t>ExploreMyData</a:t>
            </a:r>
            <a:r>
              <a:rPr lang="en-IN" sz="2400" dirty="0">
                <a:latin typeface="Times New Roman" panose="02020603050405020304" pitchFamily="18" charset="0"/>
                <a:cs typeface="Times New Roman" panose="02020603050405020304" pitchFamily="18" charset="0"/>
              </a:rPr>
              <a:t> and applies Python libraries such as Pandas, NumPy, Matplotlib, Requests, and </a:t>
            </a:r>
            <a:r>
              <a:rPr lang="en-IN" sz="2400" dirty="0" err="1">
                <a:latin typeface="Times New Roman" panose="02020603050405020304" pitchFamily="18" charset="0"/>
                <a:cs typeface="Times New Roman" panose="02020603050405020304" pitchFamily="18" charset="0"/>
              </a:rPr>
              <a:t>BeautifulSoup</a:t>
            </a:r>
            <a:r>
              <a:rPr lang="en-IN" sz="2400" dirty="0">
                <a:latin typeface="Times New Roman" panose="02020603050405020304" pitchFamily="18" charset="0"/>
                <a:cs typeface="Times New Roman" panose="02020603050405020304" pitchFamily="18" charset="0"/>
              </a:rPr>
              <a:t> for data collection, data cleaning, statistical analysis, and visualization.</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The project performs data inspection, missing-value handling, duplicate removal, sorting, grouping, and aggregation. Different visualizations, including bar charts, pie charts, histograms, line charts, and box plots, are generated to understand the dataset. The cleaned data and numerical summaries are saved as CSV files for future reference. This project demonstrates how Python can be used to </a:t>
            </a:r>
            <a:r>
              <a:rPr lang="en-IN" sz="2400" dirty="0" err="1">
                <a:latin typeface="Times New Roman" panose="02020603050405020304" pitchFamily="18" charset="0"/>
                <a:cs typeface="Times New Roman" panose="02020603050405020304" pitchFamily="18" charset="0"/>
              </a:rPr>
              <a:t>analyze</a:t>
            </a:r>
            <a:r>
              <a:rPr lang="en-IN" sz="2400" dirty="0">
                <a:latin typeface="Times New Roman" panose="02020603050405020304" pitchFamily="18" charset="0"/>
                <a:cs typeface="Times New Roman" panose="02020603050405020304" pitchFamily="18" charset="0"/>
              </a:rPr>
              <a:t> and visualize e-commerce data effectively.</a:t>
            </a:r>
          </a:p>
          <a:p>
            <a:pPr algn="just"/>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D80E80D0-6F89-D49C-8F71-3B704975761E}"/>
              </a:ext>
            </a:extLst>
          </p:cNvPr>
          <p:cNvSpPr txBox="1"/>
          <p:nvPr/>
        </p:nvSpPr>
        <p:spPr>
          <a:xfrm>
            <a:off x="3954952" y="344896"/>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INTRODUCTION</a:t>
            </a:r>
          </a:p>
        </p:txBody>
      </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
        <p:nvSpPr>
          <p:cNvPr id="2" name="TextBox 1">
            <a:extLst>
              <a:ext uri="{FF2B5EF4-FFF2-40B4-BE49-F238E27FC236}">
                <a16:creationId xmlns:a16="http://schemas.microsoft.com/office/drawing/2014/main" id="{25851B59-AD5A-81AD-7D42-C1CD5E589B58}"/>
              </a:ext>
            </a:extLst>
          </p:cNvPr>
          <p:cNvSpPr txBox="1"/>
          <p:nvPr/>
        </p:nvSpPr>
        <p:spPr>
          <a:xfrm>
            <a:off x="243816" y="1346806"/>
            <a:ext cx="9486900" cy="5232202"/>
          </a:xfrm>
          <a:prstGeom prst="rect">
            <a:avLst/>
          </a:prstGeom>
          <a:noFill/>
        </p:spPr>
        <p:txBody>
          <a:bodyPr wrap="square" rtlCol="0">
            <a:spAutoFit/>
          </a:bodyPr>
          <a:lstStyle/>
          <a:p>
            <a:pPr algn="just"/>
            <a:r>
              <a:rPr lang="en-US" sz="2400" dirty="0">
                <a:latin typeface="Times New Roman" panose="02020603050405020304"/>
              </a:rPr>
              <a:t>E-commerce and product-order platforms generate records about orders, dates, customer or product identifiers, order status, item counts, prices, shipping, and totals, depending on the fields available in the source CSV. Reviewing large tables manually can make patterns and data-quality issues difficult to identify. Python libraries help organize this process: Requests retrieves the source files, </a:t>
            </a:r>
            <a:r>
              <a:rPr lang="en-US" sz="2400" dirty="0" err="1">
                <a:latin typeface="Times New Roman" panose="02020603050405020304"/>
              </a:rPr>
              <a:t>BeautifulSoup</a:t>
            </a:r>
            <a:r>
              <a:rPr lang="en-US" sz="2400" dirty="0">
                <a:latin typeface="Times New Roman" panose="02020603050405020304"/>
              </a:rPr>
              <a:t> reads page metadata and links, Pandas manages tabular data, NumPy performs numerical operations, and Matplotlib visualizes results. </a:t>
            </a:r>
          </a:p>
          <a:p>
            <a:pPr algn="just"/>
            <a:endParaRPr lang="en-US" sz="2400" dirty="0">
              <a:latin typeface="Times New Roman" panose="02020603050405020304"/>
            </a:endParaRPr>
          </a:p>
          <a:p>
            <a:pPr algn="just"/>
            <a:r>
              <a:rPr lang="en-US" sz="2400" dirty="0">
                <a:latin typeface="Times New Roman" panose="02020603050405020304"/>
              </a:rPr>
              <a:t>This project applies these tools to an e-commerce sample dataset. It focuses on cleaning and understanding the records, summarizing available fields, and presenting patterns in charts. The conclusions are limited to the columns and records actually present in the downloaded file.</a:t>
            </a:r>
          </a:p>
          <a:p>
            <a:pPr marL="342900" indent="-342900">
              <a:buFont typeface="Arial" panose="020B0604020202020204" pitchFamily="34" charset="0"/>
              <a:buChar char="•"/>
            </a:pP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789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D80E80D0-6F89-D49C-8F71-3B704975761E}"/>
              </a:ext>
            </a:extLst>
          </p:cNvPr>
          <p:cNvSpPr txBox="1"/>
          <p:nvPr/>
        </p:nvSpPr>
        <p:spPr>
          <a:xfrm>
            <a:off x="3581400" y="300807"/>
            <a:ext cx="5029200" cy="700192"/>
          </a:xfrm>
          <a:prstGeom prst="rect">
            <a:avLst/>
          </a:prstGeom>
          <a:noFill/>
        </p:spPr>
        <p:txBody>
          <a:bodyPr wrap="square">
            <a:spAutoFit/>
          </a:bodyPr>
          <a:lstStyle/>
          <a:p>
            <a:r>
              <a:rPr lang="en-IN" sz="2000" b="1" dirty="0">
                <a:solidFill>
                  <a:schemeClr val="bg1"/>
                </a:solidFill>
                <a:latin typeface="Times New Roman" panose="02020603050405020304"/>
              </a:rPr>
              <a:t>PROBLEM STATEMENT</a:t>
            </a:r>
          </a:p>
          <a:p>
            <a:endParaRPr lang="en-IN" sz="1950" b="1" dirty="0">
              <a:solidFill>
                <a:schemeClr val="bg1"/>
              </a:solidFill>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85EA2366-D5A3-7AD8-E7B4-472C3227ADC8}"/>
              </a:ext>
            </a:extLst>
          </p:cNvPr>
          <p:cNvSpPr txBox="1"/>
          <p:nvPr/>
        </p:nvSpPr>
        <p:spPr>
          <a:xfrm>
            <a:off x="457200" y="1480344"/>
            <a:ext cx="9372600" cy="5201424"/>
          </a:xfrm>
          <a:prstGeom prst="rect">
            <a:avLst/>
          </a:prstGeom>
          <a:noFill/>
        </p:spPr>
        <p:txBody>
          <a:bodyPr wrap="square" rtlCol="0">
            <a:spAutoFit/>
          </a:bodyPr>
          <a:lstStyle/>
          <a:p>
            <a:pPr>
              <a:spcBef>
                <a:spcPts val="1200"/>
              </a:spcBef>
            </a:pPr>
            <a:r>
              <a:rPr lang="en-US" sz="2400" dirty="0">
                <a:latin typeface="Times New Roman" panose="02020603050405020304"/>
              </a:rPr>
              <a:t>The e-commerce dataset may contain many order records and attributes, including date-like, categorical, and numeric fields. Manual inspection is slow and can overlook missing values, repeated rows, inconsistent data types, or category imbalances. These issues can affect averages, counts, correlations, and charts. </a:t>
            </a:r>
          </a:p>
          <a:p>
            <a:pPr>
              <a:spcBef>
                <a:spcPts val="1200"/>
              </a:spcBef>
            </a:pPr>
            <a:r>
              <a:rPr lang="en-US" sz="2400" dirty="0">
                <a:latin typeface="Times New Roman" panose="02020603050405020304"/>
              </a:rPr>
              <a:t>The project therefore needs a repeatable workflow to retrieve the dataset, inspect its structure, identify missing and duplicate records, convert selected fields, fill missing values where appropriate, analyze the cleaned data, and communicate findings visually. The system must also distinguish descriptive analysis from prediction: the supplied code summarizes existing records but does not forecast future product demand or order outcomes.</a:t>
            </a:r>
          </a:p>
          <a:p>
            <a:pPr>
              <a:spcBef>
                <a:spcPts val="1200"/>
              </a:spcBef>
            </a:pPr>
            <a:endParaRPr lang="en-IN" sz="2400" dirty="0">
              <a:latin typeface="Times New Roman" panose="02020603050405020304" pitchFamily="18" charset="0"/>
              <a:cs typeface="Times New Roman" panose="02020603050405020304" pitchFamily="18" charset="0"/>
            </a:endParaRPr>
          </a:p>
        </p:txBody>
      </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42738356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42024-8573-ABCF-112B-00A69A95490A}"/>
            </a:ext>
          </a:extLst>
        </p:cNvPr>
        <p:cNvGrpSpPr/>
        <p:nvPr/>
      </p:nvGrpSpPr>
      <p:grpSpPr>
        <a:xfrm>
          <a:off x="0" y="0"/>
          <a:ext cx="0" cy="0"/>
          <a:chOff x="0" y="0"/>
          <a:chExt cx="0" cy="0"/>
        </a:xfrm>
      </p:grpSpPr>
      <p:grpSp>
        <p:nvGrpSpPr>
          <p:cNvPr id="4" name="object 3">
            <a:extLst>
              <a:ext uri="{FF2B5EF4-FFF2-40B4-BE49-F238E27FC236}">
                <a16:creationId xmlns:a16="http://schemas.microsoft.com/office/drawing/2014/main" id="{B5C50D3C-321B-E4D7-3355-A47D3F9BA333}"/>
              </a:ext>
            </a:extLst>
          </p:cNvPr>
          <p:cNvGrpSpPr/>
          <p:nvPr/>
        </p:nvGrpSpPr>
        <p:grpSpPr>
          <a:xfrm>
            <a:off x="2477248" y="-79669"/>
            <a:ext cx="5103904" cy="2200992"/>
            <a:chOff x="2648188" y="47148"/>
            <a:chExt cx="5103904" cy="1198311"/>
          </a:xfrm>
        </p:grpSpPr>
        <p:pic>
          <p:nvPicPr>
            <p:cNvPr id="5" name="object 4">
              <a:extLst>
                <a:ext uri="{FF2B5EF4-FFF2-40B4-BE49-F238E27FC236}">
                  <a16:creationId xmlns:a16="http://schemas.microsoft.com/office/drawing/2014/main" id="{E6F63927-0EEE-3880-4683-966A457F006D}"/>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A0E28C6-3AD9-847F-5E0D-85890B22CCA6}"/>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4713E869-65E3-1589-67F1-8FEE48822553}"/>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64CAB745-D12B-6C12-F6AC-28F9DCC4BFE9}"/>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F89E7C9E-2503-CCC5-E740-5F81F0313B35}"/>
              </a:ext>
            </a:extLst>
          </p:cNvPr>
          <p:cNvSpPr txBox="1"/>
          <p:nvPr/>
        </p:nvSpPr>
        <p:spPr>
          <a:xfrm>
            <a:off x="2749918" y="367521"/>
            <a:ext cx="4493335" cy="707886"/>
          </a:xfrm>
          <a:prstGeom prst="rect">
            <a:avLst/>
          </a:prstGeom>
          <a:noFill/>
        </p:spPr>
        <p:txBody>
          <a:bodyPr wrap="square">
            <a:spAutoFit/>
          </a:bodyPr>
          <a:lstStyle/>
          <a:p>
            <a:r>
              <a:rPr lang="en-IN" sz="2000" b="1" dirty="0">
                <a:solidFill>
                  <a:schemeClr val="bg1"/>
                </a:solidFill>
              </a:rPr>
              <a:t>DATASET DETAILS BEFORE AND</a:t>
            </a:r>
          </a:p>
          <a:p>
            <a:r>
              <a:rPr lang="en-IN" sz="2000" b="1" dirty="0">
                <a:solidFill>
                  <a:schemeClr val="bg1"/>
                </a:solidFill>
              </a:rPr>
              <a:t> AFTER CLEANING</a:t>
            </a:r>
            <a:endParaRPr lang="en-IN" sz="2000" b="1" dirty="0">
              <a:solidFill>
                <a:schemeClr val="bg1"/>
              </a:solidFill>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2865D051-B1B0-30E0-E25D-E03718CF0D24}"/>
              </a:ext>
            </a:extLst>
          </p:cNvPr>
          <p:cNvSpPr txBox="1"/>
          <p:nvPr/>
        </p:nvSpPr>
        <p:spPr>
          <a:xfrm>
            <a:off x="342900" y="1309033"/>
            <a:ext cx="9372600" cy="689419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Dataset Before Cleaning</a:t>
            </a:r>
          </a:p>
          <a:p>
            <a:endParaRPr lang="en-IN" sz="2400" b="1"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The project uses an e-commerce dataset in CSV format downloaded from a web-based source using the Python Requests library. The dataset is loaded into a Pandas </a:t>
            </a:r>
            <a:r>
              <a:rPr lang="en-IN" sz="2400" dirty="0" err="1">
                <a:latin typeface="Times New Roman" panose="02020603050405020304" pitchFamily="18" charset="0"/>
                <a:cs typeface="Times New Roman" panose="02020603050405020304" pitchFamily="18" charset="0"/>
              </a:rPr>
              <a:t>DataFrame</a:t>
            </a:r>
            <a:r>
              <a:rPr lang="en-IN" sz="2400" dirty="0">
                <a:latin typeface="Times New Roman" panose="02020603050405020304" pitchFamily="18" charset="0"/>
                <a:cs typeface="Times New Roman" panose="02020603050405020304" pitchFamily="18" charset="0"/>
              </a:rPr>
              <a:t> for inspection and analysis.</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The following operations are performed to understand the original dataset:</a:t>
            </a:r>
          </a:p>
          <a:p>
            <a:pPr marL="342900" lvl="0" indent="-342900">
              <a:buFont typeface="Arial" panose="020B0604020202020204" pitchFamily="34" charset="0"/>
              <a:buChar char="•"/>
            </a:pPr>
            <a:r>
              <a:rPr lang="en-IN" sz="2400" dirty="0" err="1">
                <a:latin typeface="Times New Roman" panose="02020603050405020304" pitchFamily="18" charset="0"/>
                <a:cs typeface="Times New Roman" panose="02020603050405020304" pitchFamily="18" charset="0"/>
              </a:rPr>
              <a:t>df.head</a:t>
            </a:r>
            <a:r>
              <a:rPr lang="en-IN" sz="2400" dirty="0">
                <a:latin typeface="Times New Roman" panose="02020603050405020304" pitchFamily="18" charset="0"/>
                <a:cs typeface="Times New Roman" panose="02020603050405020304" pitchFamily="18" charset="0"/>
              </a:rPr>
              <a:t>() displays the first five records. </a:t>
            </a:r>
          </a:p>
          <a:p>
            <a:pPr marL="342900" lvl="0" indent="-342900">
              <a:buFont typeface="Arial" panose="020B0604020202020204" pitchFamily="34" charset="0"/>
              <a:buChar char="•"/>
            </a:pPr>
            <a:r>
              <a:rPr lang="en-IN" sz="2400" dirty="0" err="1">
                <a:latin typeface="Times New Roman" panose="02020603050405020304" pitchFamily="18" charset="0"/>
                <a:cs typeface="Times New Roman" panose="02020603050405020304" pitchFamily="18" charset="0"/>
              </a:rPr>
              <a:t>df.tail</a:t>
            </a:r>
            <a:r>
              <a:rPr lang="en-IN" sz="2400" dirty="0">
                <a:latin typeface="Times New Roman" panose="02020603050405020304" pitchFamily="18" charset="0"/>
                <a:cs typeface="Times New Roman" panose="02020603050405020304" pitchFamily="18" charset="0"/>
              </a:rPr>
              <a:t>() displays the last five records. </a:t>
            </a:r>
          </a:p>
          <a:p>
            <a:pPr marL="342900" lvl="0" indent="-342900">
              <a:buFont typeface="Arial" panose="020B0604020202020204" pitchFamily="34" charset="0"/>
              <a:buChar char="•"/>
            </a:pPr>
            <a:r>
              <a:rPr lang="en-IN" sz="2400" dirty="0" err="1">
                <a:latin typeface="Times New Roman" panose="02020603050405020304" pitchFamily="18" charset="0"/>
                <a:cs typeface="Times New Roman" panose="02020603050405020304" pitchFamily="18" charset="0"/>
              </a:rPr>
              <a:t>df.sample</a:t>
            </a:r>
            <a:r>
              <a:rPr lang="en-IN" sz="2400" dirty="0">
                <a:latin typeface="Times New Roman" panose="02020603050405020304" pitchFamily="18" charset="0"/>
                <a:cs typeface="Times New Roman" panose="02020603050405020304" pitchFamily="18" charset="0"/>
              </a:rPr>
              <a:t>() displays five random records. </a:t>
            </a:r>
          </a:p>
          <a:p>
            <a:pPr marL="342900" lvl="0" indent="-342900">
              <a:buFont typeface="Arial" panose="020B0604020202020204" pitchFamily="34" charset="0"/>
              <a:buChar char="•"/>
            </a:pPr>
            <a:r>
              <a:rPr lang="en-IN" sz="2400" dirty="0" err="1">
                <a:latin typeface="Times New Roman" panose="02020603050405020304" pitchFamily="18" charset="0"/>
                <a:cs typeface="Times New Roman" panose="02020603050405020304" pitchFamily="18" charset="0"/>
              </a:rPr>
              <a:t>df.shape</a:t>
            </a:r>
            <a:r>
              <a:rPr lang="en-IN" sz="2400" dirty="0">
                <a:latin typeface="Times New Roman" panose="02020603050405020304" pitchFamily="18" charset="0"/>
                <a:cs typeface="Times New Roman" panose="02020603050405020304" pitchFamily="18" charset="0"/>
              </a:rPr>
              <a:t> identifies the number of rows and columns. </a:t>
            </a:r>
          </a:p>
          <a:p>
            <a:pPr marL="342900" lvl="0" indent="-342900">
              <a:buFont typeface="Arial" panose="020B0604020202020204" pitchFamily="34" charset="0"/>
              <a:buChar char="•"/>
            </a:pPr>
            <a:r>
              <a:rPr lang="en-IN" sz="2400" dirty="0" err="1">
                <a:latin typeface="Times New Roman" panose="02020603050405020304" pitchFamily="18" charset="0"/>
                <a:cs typeface="Times New Roman" panose="02020603050405020304" pitchFamily="18" charset="0"/>
              </a:rPr>
              <a:t>df.columns</a:t>
            </a:r>
            <a:r>
              <a:rPr lang="en-IN" sz="2400" dirty="0">
                <a:latin typeface="Times New Roman" panose="02020603050405020304" pitchFamily="18" charset="0"/>
                <a:cs typeface="Times New Roman" panose="02020603050405020304" pitchFamily="18" charset="0"/>
              </a:rPr>
              <a:t> displays the column names. </a:t>
            </a:r>
          </a:p>
          <a:p>
            <a:pPr marL="342900" lvl="0" indent="-342900">
              <a:buFont typeface="Arial" panose="020B0604020202020204" pitchFamily="34" charset="0"/>
              <a:buChar char="•"/>
            </a:pPr>
            <a:r>
              <a:rPr lang="en-IN" sz="2400" dirty="0" err="1">
                <a:latin typeface="Times New Roman" panose="02020603050405020304" pitchFamily="18" charset="0"/>
                <a:cs typeface="Times New Roman" panose="02020603050405020304" pitchFamily="18" charset="0"/>
              </a:rPr>
              <a:t>df.dtypes</a:t>
            </a:r>
            <a:r>
              <a:rPr lang="en-IN" sz="2400" dirty="0">
                <a:latin typeface="Times New Roman" panose="02020603050405020304" pitchFamily="18" charset="0"/>
                <a:cs typeface="Times New Roman" panose="02020603050405020304" pitchFamily="18" charset="0"/>
              </a:rPr>
              <a:t> identifies the data type of each column. </a:t>
            </a:r>
          </a:p>
          <a:p>
            <a:pPr marL="342900" lvl="0" indent="-342900">
              <a:buFont typeface="Arial" panose="020B0604020202020204" pitchFamily="34" charset="0"/>
              <a:buChar char="•"/>
            </a:pPr>
            <a:r>
              <a:rPr lang="en-IN" sz="2400" dirty="0" err="1">
                <a:latin typeface="Times New Roman" panose="02020603050405020304" pitchFamily="18" charset="0"/>
                <a:cs typeface="Times New Roman" panose="02020603050405020304" pitchFamily="18" charset="0"/>
              </a:rPr>
              <a:t>df.describe</a:t>
            </a:r>
            <a:r>
              <a:rPr lang="en-IN" sz="2400" dirty="0">
                <a:latin typeface="Times New Roman" panose="02020603050405020304" pitchFamily="18" charset="0"/>
                <a:cs typeface="Times New Roman" panose="02020603050405020304" pitchFamily="18" charset="0"/>
              </a:rPr>
              <a:t>(include="all") provides a statistical summary. </a:t>
            </a:r>
          </a:p>
          <a:p>
            <a:pPr marL="342900" lvl="0" indent="-342900">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These operations help identify the dataset structure, data types, missing values, and duplicate records before cleaning.</a:t>
            </a:r>
          </a:p>
          <a:p>
            <a:pPr>
              <a:spcBef>
                <a:spcPts val="1200"/>
              </a:spcBef>
            </a:pPr>
            <a:endParaRPr lang="en-IN" sz="2400" dirty="0">
              <a:latin typeface="Times New Roman" panose="02020603050405020304" pitchFamily="18" charset="0"/>
              <a:cs typeface="Times New Roman" panose="02020603050405020304" pitchFamily="18" charset="0"/>
            </a:endParaRPr>
          </a:p>
        </p:txBody>
      </p:sp>
      <p:pic>
        <p:nvPicPr>
          <p:cNvPr id="17" name="object 3">
            <a:extLst>
              <a:ext uri="{FF2B5EF4-FFF2-40B4-BE49-F238E27FC236}">
                <a16:creationId xmlns:a16="http://schemas.microsoft.com/office/drawing/2014/main" id="{AA0FBA6A-68F0-84BF-E602-A4ACBA72113B}"/>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37809327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DF1CAB-4CDF-633F-EB4F-C27C2227F6FF}"/>
            </a:ext>
          </a:extLst>
        </p:cNvPr>
        <p:cNvGrpSpPr/>
        <p:nvPr/>
      </p:nvGrpSpPr>
      <p:grpSpPr>
        <a:xfrm>
          <a:off x="0" y="0"/>
          <a:ext cx="0" cy="0"/>
          <a:chOff x="0" y="0"/>
          <a:chExt cx="0" cy="0"/>
        </a:xfrm>
      </p:grpSpPr>
      <p:grpSp>
        <p:nvGrpSpPr>
          <p:cNvPr id="4" name="object 3">
            <a:extLst>
              <a:ext uri="{FF2B5EF4-FFF2-40B4-BE49-F238E27FC236}">
                <a16:creationId xmlns:a16="http://schemas.microsoft.com/office/drawing/2014/main" id="{F4FCC883-70F9-B611-BA71-FA996CF818A2}"/>
              </a:ext>
            </a:extLst>
          </p:cNvPr>
          <p:cNvGrpSpPr/>
          <p:nvPr/>
        </p:nvGrpSpPr>
        <p:grpSpPr>
          <a:xfrm>
            <a:off x="2477248" y="-79669"/>
            <a:ext cx="5103904" cy="2200992"/>
            <a:chOff x="2648188" y="47148"/>
            <a:chExt cx="5103904" cy="1198311"/>
          </a:xfrm>
        </p:grpSpPr>
        <p:pic>
          <p:nvPicPr>
            <p:cNvPr id="5" name="object 4">
              <a:extLst>
                <a:ext uri="{FF2B5EF4-FFF2-40B4-BE49-F238E27FC236}">
                  <a16:creationId xmlns:a16="http://schemas.microsoft.com/office/drawing/2014/main" id="{1CE74398-EA8A-50EC-054A-196479DAD457}"/>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D76FB44A-3E5F-2F41-1293-AFE051B81449}"/>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9734755C-A7BA-1940-46F6-8E1EDAB1F026}"/>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B5C9DA5A-AB22-44C3-5819-0CE2DABD18AE}"/>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4E7F0103-D494-6F6B-7D9F-B4F757806958}"/>
              </a:ext>
            </a:extLst>
          </p:cNvPr>
          <p:cNvSpPr txBox="1"/>
          <p:nvPr/>
        </p:nvSpPr>
        <p:spPr>
          <a:xfrm>
            <a:off x="2749918" y="367521"/>
            <a:ext cx="4493335" cy="707886"/>
          </a:xfrm>
          <a:prstGeom prst="rect">
            <a:avLst/>
          </a:prstGeom>
          <a:noFill/>
        </p:spPr>
        <p:txBody>
          <a:bodyPr wrap="square">
            <a:spAutoFit/>
          </a:bodyPr>
          <a:lstStyle/>
          <a:p>
            <a:r>
              <a:rPr lang="en-IN" sz="2000" b="1" dirty="0">
                <a:solidFill>
                  <a:schemeClr val="bg1"/>
                </a:solidFill>
              </a:rPr>
              <a:t>DATASET DETAILS BEFORE AND</a:t>
            </a:r>
          </a:p>
          <a:p>
            <a:r>
              <a:rPr lang="en-IN" sz="2000" b="1" dirty="0">
                <a:solidFill>
                  <a:schemeClr val="bg1"/>
                </a:solidFill>
              </a:rPr>
              <a:t> AFTER CLEANING</a:t>
            </a:r>
            <a:endParaRPr lang="en-IN" sz="2000" b="1" dirty="0">
              <a:solidFill>
                <a:schemeClr val="bg1"/>
              </a:solidFill>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DBAF6034-71E9-90BF-72FC-0A6E79BE2134}"/>
              </a:ext>
            </a:extLst>
          </p:cNvPr>
          <p:cNvSpPr txBox="1"/>
          <p:nvPr/>
        </p:nvSpPr>
        <p:spPr>
          <a:xfrm>
            <a:off x="342900" y="1223220"/>
            <a:ext cx="9563100" cy="6740307"/>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Dataset After Cleaning</a:t>
            </a:r>
          </a:p>
          <a:p>
            <a:endParaRPr lang="en-IN" sz="2400" b="1"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The dataset is cleaned to improve its quality and consistency before analysis.</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Duplicate records are removed using </a:t>
            </a:r>
            <a:r>
              <a:rPr lang="en-IN" sz="2400" dirty="0" err="1">
                <a:latin typeface="Times New Roman" panose="02020603050405020304" pitchFamily="18" charset="0"/>
                <a:cs typeface="Times New Roman" panose="02020603050405020304" pitchFamily="18" charset="0"/>
              </a:rPr>
              <a:t>df.drop_duplicates</a:t>
            </a:r>
            <a:r>
              <a:rPr lang="en-IN" sz="2400" dirty="0">
                <a:latin typeface="Times New Roman" panose="02020603050405020304" pitchFamily="18" charset="0"/>
                <a:cs typeface="Times New Roman" panose="02020603050405020304" pitchFamily="18" charset="0"/>
              </a:rPr>
              <a:t>().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Column names are converted to lowercase, and unnecessary spaces are removed.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Relevant date columns are converted into datetime format.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Price, amount, total, shipping, and other selected columns are converted into numeric format.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Missing numerical values are replaced with the median when valid numerical values exist.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Missing values in non-date, non-numeric columns are replaced with "Unknown".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The cleaned dataset is exported to cleaned_ecommerce_data.csv. </a:t>
            </a:r>
          </a:p>
          <a:p>
            <a:r>
              <a:rPr lang="en-IN" sz="2400" dirty="0">
                <a:latin typeface="Times New Roman" panose="02020603050405020304" pitchFamily="18" charset="0"/>
                <a:cs typeface="Times New Roman" panose="02020603050405020304" pitchFamily="18" charset="0"/>
              </a:rPr>
              <a:t>The cleaned dataset is more suitable for statistical analysis and visualization. The exact number of records before and after cleaning depends on the actual dataset.</a:t>
            </a:r>
          </a:p>
          <a:p>
            <a:endParaRPr lang="en-IN" sz="2400" dirty="0">
              <a:latin typeface="Times New Roman" panose="02020603050405020304" pitchFamily="18" charset="0"/>
              <a:cs typeface="Times New Roman" panose="02020603050405020304" pitchFamily="18" charset="0"/>
            </a:endParaRPr>
          </a:p>
        </p:txBody>
      </p:sp>
      <p:pic>
        <p:nvPicPr>
          <p:cNvPr id="17" name="object 3">
            <a:extLst>
              <a:ext uri="{FF2B5EF4-FFF2-40B4-BE49-F238E27FC236}">
                <a16:creationId xmlns:a16="http://schemas.microsoft.com/office/drawing/2014/main" id="{575B803B-D4F3-9F8D-490D-19C0271E8ECB}"/>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4057512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743200" y="20170"/>
            <a:ext cx="5103904" cy="1829130"/>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D80E80D0-6F89-D49C-8F71-3B704975761E}"/>
              </a:ext>
            </a:extLst>
          </p:cNvPr>
          <p:cNvSpPr txBox="1"/>
          <p:nvPr/>
        </p:nvSpPr>
        <p:spPr>
          <a:xfrm>
            <a:off x="2943634" y="348471"/>
            <a:ext cx="5029200" cy="707886"/>
          </a:xfrm>
          <a:prstGeom prst="rect">
            <a:avLst/>
          </a:prstGeom>
          <a:noFill/>
        </p:spPr>
        <p:txBody>
          <a:bodyPr wrap="square">
            <a:spAutoFit/>
          </a:bodyPr>
          <a:lstStyle/>
          <a:p>
            <a:r>
              <a:rPr lang="en-IN" sz="2000" b="1" dirty="0">
                <a:solidFill>
                  <a:schemeClr val="bg1"/>
                </a:solidFill>
                <a:latin typeface="Times New Roman" panose="02020603050405020304" pitchFamily="18" charset="0"/>
                <a:cs typeface="Times New Roman" panose="02020603050405020304" pitchFamily="18" charset="0"/>
              </a:rPr>
              <a:t>MISSING VALUES AND DUPLICATE             RECORDS</a:t>
            </a:r>
          </a:p>
        </p:txBody>
      </p:sp>
      <p:sp>
        <p:nvSpPr>
          <p:cNvPr id="16" name="TextBox 15">
            <a:extLst>
              <a:ext uri="{FF2B5EF4-FFF2-40B4-BE49-F238E27FC236}">
                <a16:creationId xmlns:a16="http://schemas.microsoft.com/office/drawing/2014/main" id="{85EA2366-D5A3-7AD8-E7B4-472C3227ADC8}"/>
              </a:ext>
            </a:extLst>
          </p:cNvPr>
          <p:cNvSpPr txBox="1"/>
          <p:nvPr/>
        </p:nvSpPr>
        <p:spPr>
          <a:xfrm>
            <a:off x="457200" y="934735"/>
            <a:ext cx="9296400" cy="6818020"/>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Missing-Value Detection</a:t>
            </a:r>
          </a:p>
          <a:p>
            <a:endParaRPr lang="en-IN" sz="2400" b="1"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Missing values occur when information is unavailable in one or more dataset columns. They may affect calculations and the interpretation of results.</a:t>
            </a:r>
          </a:p>
          <a:p>
            <a:r>
              <a:rPr lang="en-IN" sz="2400" dirty="0">
                <a:latin typeface="Times New Roman" panose="02020603050405020304" pitchFamily="18" charset="0"/>
                <a:cs typeface="Times New Roman" panose="02020603050405020304" pitchFamily="18" charset="0"/>
              </a:rPr>
              <a:t>The statement </a:t>
            </a:r>
            <a:r>
              <a:rPr lang="en-IN" sz="2400" dirty="0" err="1">
                <a:latin typeface="Times New Roman" panose="02020603050405020304" pitchFamily="18" charset="0"/>
                <a:cs typeface="Times New Roman" panose="02020603050405020304" pitchFamily="18" charset="0"/>
              </a:rPr>
              <a:t>df.isnull</a:t>
            </a:r>
            <a:r>
              <a:rPr lang="en-IN" sz="2400" dirty="0">
                <a:latin typeface="Times New Roman" panose="02020603050405020304" pitchFamily="18" charset="0"/>
                <a:cs typeface="Times New Roman" panose="02020603050405020304" pitchFamily="18" charset="0"/>
              </a:rPr>
              <a:t>().sum() identifies the number of missing values in each column. The project handles these values according to the column data type.</a:t>
            </a:r>
          </a:p>
          <a:p>
            <a:endParaRPr lang="en-IN" sz="24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Numerical columns:</a:t>
            </a:r>
            <a:r>
              <a:rPr lang="en-IN" sz="2400" dirty="0">
                <a:latin typeface="Times New Roman" panose="02020603050405020304" pitchFamily="18" charset="0"/>
                <a:cs typeface="Times New Roman" panose="02020603050405020304" pitchFamily="18" charset="0"/>
              </a:rPr>
              <a:t> Missing values are replaced with the column median if valid numerical values are available. </a:t>
            </a:r>
          </a:p>
          <a:p>
            <a:pPr marL="342900" lvl="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Text columns:</a:t>
            </a:r>
            <a:r>
              <a:rPr lang="en-IN" sz="2400" dirty="0">
                <a:latin typeface="Times New Roman" panose="02020603050405020304" pitchFamily="18" charset="0"/>
                <a:cs typeface="Times New Roman" panose="02020603050405020304" pitchFamily="18" charset="0"/>
              </a:rPr>
              <a:t> Missing values are replaced with "Unknown". </a:t>
            </a:r>
          </a:p>
          <a:p>
            <a:pPr marL="342900" lvl="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Date columns:</a:t>
            </a:r>
            <a:r>
              <a:rPr lang="en-IN" sz="2400" dirty="0">
                <a:latin typeface="Times New Roman" panose="02020603050405020304" pitchFamily="18" charset="0"/>
                <a:cs typeface="Times New Roman" panose="02020603050405020304" pitchFamily="18" charset="0"/>
              </a:rPr>
              <a:t> Missing values are retained to avoid introducing incorrect dates. </a:t>
            </a:r>
          </a:p>
          <a:p>
            <a:pPr lvl="0"/>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After cleaning, </a:t>
            </a:r>
            <a:r>
              <a:rPr lang="en-IN" sz="2400" dirty="0" err="1">
                <a:latin typeface="Times New Roman" panose="02020603050405020304" pitchFamily="18" charset="0"/>
                <a:cs typeface="Times New Roman" panose="02020603050405020304" pitchFamily="18" charset="0"/>
              </a:rPr>
              <a:t>df.isnull</a:t>
            </a:r>
            <a:r>
              <a:rPr lang="en-IN" sz="2400" dirty="0">
                <a:latin typeface="Times New Roman" panose="02020603050405020304" pitchFamily="18" charset="0"/>
                <a:cs typeface="Times New Roman" panose="02020603050405020304" pitchFamily="18" charset="0"/>
              </a:rPr>
              <a:t>().sum() is executed again to check the remaining missing values.</a:t>
            </a:r>
          </a:p>
          <a:p>
            <a:pPr>
              <a:lnSpc>
                <a:spcPct val="150000"/>
              </a:lnSpc>
            </a:pPr>
            <a:endParaRPr lang="en-IN" sz="2200" dirty="0">
              <a:latin typeface="Times New Roman" panose="02020603050405020304" pitchFamily="18" charset="0"/>
              <a:cs typeface="Times New Roman" panose="02020603050405020304" pitchFamily="18" charset="0"/>
            </a:endParaRPr>
          </a:p>
        </p:txBody>
      </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22720524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1271227-37A8-BD2E-DA5F-9D1409CD539E}"/>
              </a:ext>
            </a:extLst>
          </p:cNvPr>
          <p:cNvSpPr txBox="1"/>
          <p:nvPr/>
        </p:nvSpPr>
        <p:spPr>
          <a:xfrm>
            <a:off x="381000" y="1157123"/>
            <a:ext cx="7924801" cy="461665"/>
          </a:xfrm>
          <a:prstGeom prst="rect">
            <a:avLst/>
          </a:prstGeom>
          <a:noFill/>
        </p:spPr>
        <p:txBody>
          <a:bodyPr wrap="square" rtlCol="0">
            <a:spAutoFit/>
          </a:bodyPr>
          <a:lstStyle/>
          <a:p>
            <a:pPr algn="just">
              <a:lnSpc>
                <a:spcPct val="100000"/>
              </a:lnSpc>
            </a:pPr>
            <a:r>
              <a:rPr lang="en-IN" sz="2400" b="1" dirty="0">
                <a:latin typeface="Times New Roman" panose="02020603050405020304" pitchFamily="18" charset="0"/>
                <a:cs typeface="Times New Roman" panose="02020603050405020304" pitchFamily="18" charset="0"/>
              </a:rPr>
              <a:t>Duplicate-Record Removal</a:t>
            </a:r>
          </a:p>
        </p:txBody>
      </p:sp>
      <p:grpSp>
        <p:nvGrpSpPr>
          <p:cNvPr id="5" name="object 3">
            <a:extLst>
              <a:ext uri="{FF2B5EF4-FFF2-40B4-BE49-F238E27FC236}">
                <a16:creationId xmlns:a16="http://schemas.microsoft.com/office/drawing/2014/main" id="{21ABBE52-8710-4E6B-00A1-6AE2E264A905}"/>
              </a:ext>
            </a:extLst>
          </p:cNvPr>
          <p:cNvGrpSpPr/>
          <p:nvPr/>
        </p:nvGrpSpPr>
        <p:grpSpPr>
          <a:xfrm>
            <a:off x="2896347" y="157885"/>
            <a:ext cx="5103904" cy="1772554"/>
            <a:chOff x="2648188" y="47148"/>
            <a:chExt cx="5103904" cy="1198311"/>
          </a:xfrm>
        </p:grpSpPr>
        <p:pic>
          <p:nvPicPr>
            <p:cNvPr id="6" name="object 4">
              <a:extLst>
                <a:ext uri="{FF2B5EF4-FFF2-40B4-BE49-F238E27FC236}">
                  <a16:creationId xmlns:a16="http://schemas.microsoft.com/office/drawing/2014/main" id="{BB01548A-FFE9-E3D8-12A9-78CF21156550}"/>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C2274CD8-F01F-9319-4AED-E01AFBB7B3F4}"/>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798807C2-A29E-0BF3-6CFE-592456DB3D5A}"/>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0012A6F5-DCDD-5346-54A8-BF352762053D}"/>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3953B3A5-B246-55AD-515B-436ED9F0D042}"/>
              </a:ext>
            </a:extLst>
          </p:cNvPr>
          <p:cNvSpPr txBox="1">
            <a:spLocks noGrp="1"/>
          </p:cNvSpPr>
          <p:nvPr>
            <p:ph type="title"/>
          </p:nvPr>
        </p:nvSpPr>
        <p:spPr>
          <a:xfrm>
            <a:off x="3335838" y="548903"/>
            <a:ext cx="4479289" cy="1147750"/>
          </a:xfrm>
          <a:prstGeom prst="rect">
            <a:avLst/>
          </a:prstGeom>
        </p:spPr>
        <p:txBody>
          <a:bodyPr vert="horz" wrap="square" lIns="0" tIns="16510" rIns="0" bIns="0" rtlCol="0">
            <a:spAutoFit/>
          </a:bodyPr>
          <a:lstStyle/>
          <a:p>
            <a:pPr marL="12700">
              <a:spcBef>
                <a:spcPts val="130"/>
              </a:spcBef>
            </a:pPr>
            <a:r>
              <a:rPr lang="en-IN" sz="1800" dirty="0">
                <a:solidFill>
                  <a:schemeClr val="bg1"/>
                </a:solidFill>
                <a:latin typeface="Times New Roman" panose="02020603050405020304" pitchFamily="18" charset="0"/>
                <a:cs typeface="Times New Roman" panose="02020603050405020304" pitchFamily="18" charset="0"/>
              </a:rPr>
              <a:t>MISSING VALUES AND DUPLICATE      RECORDS</a:t>
            </a:r>
            <a:br>
              <a:rPr lang="en-IN" sz="1800" dirty="0">
                <a:solidFill>
                  <a:schemeClr val="bg1"/>
                </a:solidFill>
                <a:latin typeface="Times New Roman" panose="02020603050405020304" pitchFamily="18" charset="0"/>
                <a:cs typeface="Times New Roman" panose="02020603050405020304" pitchFamily="18" charset="0"/>
              </a:rPr>
            </a:br>
            <a:br>
              <a:rPr lang="en-IN" sz="1800" dirty="0">
                <a:solidFill>
                  <a:schemeClr val="bg1"/>
                </a:solidFill>
                <a:latin typeface="Times New Roman" panose="02020603050405020304" pitchFamily="18" charset="0"/>
                <a:cs typeface="Times New Roman" panose="02020603050405020304" pitchFamily="18" charset="0"/>
              </a:rPr>
            </a:br>
            <a:endParaRPr lang="en-IN" sz="1950" dirty="0">
              <a:solidFill>
                <a:schemeClr val="bg1"/>
              </a:solidFill>
              <a:latin typeface="Times New Roman" panose="02020603050405020304" pitchFamily="18" charset="0"/>
              <a:cs typeface="Times New Roman" panose="02020603050405020304" pitchFamily="18" charset="0"/>
            </a:endParaRPr>
          </a:p>
        </p:txBody>
      </p:sp>
      <p:pic>
        <p:nvPicPr>
          <p:cNvPr id="11" name="object 3">
            <a:extLst>
              <a:ext uri="{FF2B5EF4-FFF2-40B4-BE49-F238E27FC236}">
                <a16:creationId xmlns:a16="http://schemas.microsoft.com/office/drawing/2014/main" id="{A01798C2-99DE-A723-BAF6-CF11F4E8C1FC}"/>
              </a:ext>
            </a:extLst>
          </p:cNvPr>
          <p:cNvPicPr/>
          <p:nvPr/>
        </p:nvPicPr>
        <p:blipFill>
          <a:blip r:embed="rId6" cstate="print"/>
          <a:stretch>
            <a:fillRect/>
          </a:stretch>
        </p:blipFill>
        <p:spPr>
          <a:xfrm>
            <a:off x="290750" y="204311"/>
            <a:ext cx="1163002" cy="424338"/>
          </a:xfrm>
          <a:prstGeom prst="rect">
            <a:avLst/>
          </a:prstGeom>
        </p:spPr>
      </p:pic>
      <p:sp>
        <p:nvSpPr>
          <p:cNvPr id="12" name="TextBox 11">
            <a:extLst>
              <a:ext uri="{FF2B5EF4-FFF2-40B4-BE49-F238E27FC236}">
                <a16:creationId xmlns:a16="http://schemas.microsoft.com/office/drawing/2014/main" id="{2E698EF3-6CC5-CB2B-B3DF-1F2230442C23}"/>
              </a:ext>
            </a:extLst>
          </p:cNvPr>
          <p:cNvSpPr txBox="1"/>
          <p:nvPr/>
        </p:nvSpPr>
        <p:spPr>
          <a:xfrm>
            <a:off x="495300" y="2056309"/>
            <a:ext cx="9067800" cy="3785652"/>
          </a:xfrm>
          <a:prstGeom prst="rect">
            <a:avLst/>
          </a:prstGeom>
          <a:noFill/>
        </p:spPr>
        <p:txBody>
          <a:bodyPr wrap="square">
            <a:spAutoFit/>
          </a:bodyPr>
          <a:lstStyle/>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Duplicate records are repeated rows that may affect statistical calculations and data analysis.</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statement </a:t>
            </a:r>
            <a:r>
              <a:rPr lang="en-IN" sz="2000" dirty="0" err="1">
                <a:latin typeface="Times New Roman" panose="02020603050405020304" pitchFamily="18" charset="0"/>
                <a:cs typeface="Times New Roman" panose="02020603050405020304" pitchFamily="18" charset="0"/>
              </a:rPr>
              <a:t>df.duplicated</a:t>
            </a:r>
            <a:r>
              <a:rPr lang="en-IN" sz="2000" dirty="0">
                <a:latin typeface="Times New Roman" panose="02020603050405020304" pitchFamily="18" charset="0"/>
                <a:cs typeface="Times New Roman" panose="02020603050405020304" pitchFamily="18" charset="0"/>
              </a:rPr>
              <a:t>().sum() calculates the number of duplicate rows before cleaning.</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statement </a:t>
            </a:r>
            <a:r>
              <a:rPr lang="en-IN" sz="2000" dirty="0" err="1">
                <a:latin typeface="Times New Roman" panose="02020603050405020304" pitchFamily="18" charset="0"/>
                <a:cs typeface="Times New Roman" panose="02020603050405020304" pitchFamily="18" charset="0"/>
              </a:rPr>
              <a:t>df.drop_duplicates</a:t>
            </a:r>
            <a:r>
              <a:rPr lang="en-IN" sz="2000" dirty="0">
                <a:latin typeface="Times New Roman" panose="02020603050405020304" pitchFamily="18" charset="0"/>
                <a:cs typeface="Times New Roman" panose="02020603050405020304" pitchFamily="18" charset="0"/>
              </a:rPr>
              <a:t>().copy() removes duplicate rows and creates a copy of the cleaned dataset.</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program then checks the dataset shape and missing values again to examine the results of cleaning.</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Duplicate records are removed, and missing values are handled according to the implemented rules. However, some missing values may remain in date columns or entirely empty numerical columns.</a:t>
            </a:r>
          </a:p>
        </p:txBody>
      </p:sp>
    </p:spTree>
    <p:extLst>
      <p:ext uri="{BB962C8B-B14F-4D97-AF65-F5344CB8AC3E}">
        <p14:creationId xmlns:p14="http://schemas.microsoft.com/office/powerpoint/2010/main" val="3144958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FBE1A7-3004-3B9A-3BDF-6F0CD676F783}"/>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D8057B3F-5DAB-DD41-AECE-F331B855040E}"/>
              </a:ext>
            </a:extLst>
          </p:cNvPr>
          <p:cNvGrpSpPr/>
          <p:nvPr/>
        </p:nvGrpSpPr>
        <p:grpSpPr>
          <a:xfrm>
            <a:off x="2590800" y="161097"/>
            <a:ext cx="5103904" cy="1820103"/>
            <a:chOff x="2648188" y="47148"/>
            <a:chExt cx="5103904" cy="1198311"/>
          </a:xfrm>
        </p:grpSpPr>
        <p:pic>
          <p:nvPicPr>
            <p:cNvPr id="6" name="object 4">
              <a:extLst>
                <a:ext uri="{FF2B5EF4-FFF2-40B4-BE49-F238E27FC236}">
                  <a16:creationId xmlns:a16="http://schemas.microsoft.com/office/drawing/2014/main" id="{2087F558-D85F-5AC0-F454-1F63CE0A07E2}"/>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DA168F22-39BB-5B7D-3CF6-D85FE785C626}"/>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37D54020-DB2F-8565-330C-84D2218CC66C}"/>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9E7A54A0-4068-FC5A-C8B6-7CD6DED089A8}"/>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5F015672-148D-A104-60CF-C6A88B194918}"/>
              </a:ext>
            </a:extLst>
          </p:cNvPr>
          <p:cNvSpPr txBox="1">
            <a:spLocks noGrp="1"/>
          </p:cNvSpPr>
          <p:nvPr>
            <p:ph type="title"/>
          </p:nvPr>
        </p:nvSpPr>
        <p:spPr>
          <a:xfrm>
            <a:off x="2922899" y="494428"/>
            <a:ext cx="4031457" cy="632224"/>
          </a:xfrm>
          <a:prstGeom prst="rect">
            <a:avLst/>
          </a:prstGeom>
        </p:spPr>
        <p:txBody>
          <a:bodyPr vert="horz" wrap="square" lIns="0" tIns="16510" rIns="0" bIns="0" rtlCol="0">
            <a:spAutoFit/>
          </a:bodyPr>
          <a:lstStyle/>
          <a:p>
            <a:pPr marL="12700">
              <a:lnSpc>
                <a:spcPct val="100000"/>
              </a:lnSpc>
              <a:spcBef>
                <a:spcPts val="130"/>
              </a:spcBef>
            </a:pPr>
            <a:r>
              <a:rPr lang="en-IN" sz="2000" dirty="0">
                <a:solidFill>
                  <a:schemeClr val="bg1"/>
                </a:solidFill>
                <a:latin typeface="Times New Roman" panose="02020603050405020304" pitchFamily="18" charset="0"/>
                <a:cs typeface="Times New Roman" panose="02020603050405020304" pitchFamily="18" charset="0"/>
              </a:rPr>
              <a:t>Coding Implementation with Step-by-Step Explanation</a:t>
            </a:r>
            <a:endParaRPr lang="en-IN" sz="1950" dirty="0">
              <a:solidFill>
                <a:schemeClr val="bg1"/>
              </a:solidFill>
              <a:latin typeface="Times New Roman" panose="02020603050405020304" pitchFamily="18" charset="0"/>
              <a:cs typeface="Times New Roman" panose="02020603050405020304" pitchFamily="18" charset="0"/>
            </a:endParaRPr>
          </a:p>
        </p:txBody>
      </p:sp>
      <p:pic>
        <p:nvPicPr>
          <p:cNvPr id="11" name="object 3">
            <a:extLst>
              <a:ext uri="{FF2B5EF4-FFF2-40B4-BE49-F238E27FC236}">
                <a16:creationId xmlns:a16="http://schemas.microsoft.com/office/drawing/2014/main" id="{A6C365DC-19B7-1764-968A-F9C87D5E4951}"/>
              </a:ext>
            </a:extLst>
          </p:cNvPr>
          <p:cNvPicPr/>
          <p:nvPr/>
        </p:nvPicPr>
        <p:blipFill>
          <a:blip r:embed="rId6" cstate="print"/>
          <a:stretch>
            <a:fillRect/>
          </a:stretch>
        </p:blipFill>
        <p:spPr>
          <a:xfrm>
            <a:off x="290750" y="204311"/>
            <a:ext cx="1163002" cy="424338"/>
          </a:xfrm>
          <a:prstGeom prst="rect">
            <a:avLst/>
          </a:prstGeom>
        </p:spPr>
      </p:pic>
      <p:sp>
        <p:nvSpPr>
          <p:cNvPr id="3" name="TextBox 2">
            <a:extLst>
              <a:ext uri="{FF2B5EF4-FFF2-40B4-BE49-F238E27FC236}">
                <a16:creationId xmlns:a16="http://schemas.microsoft.com/office/drawing/2014/main" id="{1AE4A60C-B72D-15B2-9548-3CECDB5C5EEA}"/>
              </a:ext>
            </a:extLst>
          </p:cNvPr>
          <p:cNvSpPr txBox="1"/>
          <p:nvPr/>
        </p:nvSpPr>
        <p:spPr>
          <a:xfrm>
            <a:off x="493819" y="1343777"/>
            <a:ext cx="9044226" cy="6370975"/>
          </a:xfrm>
          <a:prstGeom prst="rect">
            <a:avLst/>
          </a:prstGeom>
          <a:noFill/>
        </p:spPr>
        <p:txBody>
          <a:bodyPr wrap="square">
            <a:spAutoFit/>
          </a:bodyPr>
          <a:lstStyle/>
          <a:p>
            <a:pPr>
              <a:buNone/>
            </a:pPr>
            <a:r>
              <a:rPr lang="en-IN" sz="2400" b="1" dirty="0">
                <a:latin typeface="Times New Roman" panose="02020603050405020304" pitchFamily="18" charset="0"/>
                <a:cs typeface="Times New Roman" panose="02020603050405020304" pitchFamily="18" charset="0"/>
              </a:rPr>
              <a:t>Data Collection and Inspection</a:t>
            </a:r>
          </a:p>
          <a:p>
            <a:pPr>
              <a:buNone/>
            </a:pPr>
            <a:endParaRPr lang="en-IN" sz="2400" b="1" dirty="0">
              <a:latin typeface="Times New Roman" panose="02020603050405020304" pitchFamily="18" charset="0"/>
              <a:cs typeface="Times New Roman" panose="02020603050405020304" pitchFamily="18" charset="0"/>
            </a:endParaRPr>
          </a:p>
          <a:p>
            <a:pPr>
              <a:buNone/>
            </a:pPr>
            <a:r>
              <a:rPr lang="en-IN" sz="2400" dirty="0">
                <a:latin typeface="Times New Roman" panose="02020603050405020304" pitchFamily="18" charset="0"/>
                <a:cs typeface="Times New Roman" panose="02020603050405020304" pitchFamily="18" charset="0"/>
              </a:rPr>
              <a:t>The project uses Python libraries to retrieve, load, and inspect e-commerce data.</a:t>
            </a:r>
          </a:p>
          <a:p>
            <a:pPr>
              <a:buNone/>
            </a:pPr>
            <a:r>
              <a:rPr lang="en-IN" sz="2400" b="1" dirty="0">
                <a:latin typeface="Times New Roman" panose="02020603050405020304" pitchFamily="18" charset="0"/>
                <a:cs typeface="Times New Roman" panose="02020603050405020304" pitchFamily="18" charset="0"/>
              </a:rPr>
              <a:t>Step 1: Import libraries</a:t>
            </a:r>
            <a:endParaRPr lang="en-IN" sz="2400" dirty="0">
              <a:latin typeface="Times New Roman" panose="02020603050405020304" pitchFamily="18" charset="0"/>
              <a:cs typeface="Times New Roman" panose="02020603050405020304" pitchFamily="18" charset="0"/>
            </a:endParaRPr>
          </a:p>
          <a:p>
            <a:pPr>
              <a:buNone/>
            </a:pPr>
            <a:r>
              <a:rPr lang="en-IN" sz="2400" dirty="0">
                <a:latin typeface="Times New Roman" panose="02020603050405020304" pitchFamily="18" charset="0"/>
                <a:cs typeface="Times New Roman" panose="02020603050405020304" pitchFamily="18" charset="0"/>
              </a:rPr>
              <a:t>Requests, Pandas, NumPy, Matplotlib, </a:t>
            </a:r>
            <a:r>
              <a:rPr lang="en-IN" sz="2400" dirty="0" err="1">
                <a:latin typeface="Times New Roman" panose="02020603050405020304" pitchFamily="18" charset="0"/>
                <a:cs typeface="Times New Roman" panose="02020603050405020304" pitchFamily="18" charset="0"/>
              </a:rPr>
              <a:t>BeautifulSoup</a:t>
            </a:r>
            <a:r>
              <a:rPr lang="en-IN" sz="2400" dirty="0">
                <a:latin typeface="Times New Roman" panose="02020603050405020304" pitchFamily="18" charset="0"/>
                <a:cs typeface="Times New Roman" panose="02020603050405020304" pitchFamily="18" charset="0"/>
              </a:rPr>
              <a:t>, and </a:t>
            </a:r>
            <a:r>
              <a:rPr lang="en-IN" sz="2400" dirty="0" err="1">
                <a:latin typeface="Times New Roman" panose="02020603050405020304" pitchFamily="18" charset="0"/>
                <a:cs typeface="Times New Roman" panose="02020603050405020304" pitchFamily="18" charset="0"/>
              </a:rPr>
              <a:t>StringIO</a:t>
            </a:r>
            <a:r>
              <a:rPr lang="en-IN" sz="2400" dirty="0">
                <a:latin typeface="Times New Roman" panose="02020603050405020304" pitchFamily="18" charset="0"/>
                <a:cs typeface="Times New Roman" panose="02020603050405020304" pitchFamily="18" charset="0"/>
              </a:rPr>
              <a:t> are imported for web requests, data processing, numerical operations, visualization, HTML parsing, and CSV loading.</a:t>
            </a:r>
          </a:p>
          <a:p>
            <a:pPr>
              <a:buNone/>
            </a:pPr>
            <a:r>
              <a:rPr lang="en-IN" sz="2400" b="1" dirty="0">
                <a:latin typeface="Times New Roman" panose="02020603050405020304" pitchFamily="18" charset="0"/>
                <a:cs typeface="Times New Roman" panose="02020603050405020304" pitchFamily="18" charset="0"/>
              </a:rPr>
              <a:t>Step 2: Extract website information</a:t>
            </a:r>
            <a:endParaRPr lang="en-IN" sz="2400" dirty="0">
              <a:latin typeface="Times New Roman" panose="02020603050405020304" pitchFamily="18" charset="0"/>
              <a:cs typeface="Times New Roman" panose="02020603050405020304" pitchFamily="18" charset="0"/>
            </a:endParaRPr>
          </a:p>
          <a:p>
            <a:pPr>
              <a:buNone/>
            </a:pPr>
            <a:r>
              <a:rPr lang="en-IN" sz="2400" dirty="0" err="1">
                <a:latin typeface="Times New Roman" panose="02020603050405020304" pitchFamily="18" charset="0"/>
                <a:cs typeface="Times New Roman" panose="02020603050405020304" pitchFamily="18" charset="0"/>
              </a:rPr>
              <a:t>requests.get</a:t>
            </a:r>
            <a:r>
              <a:rPr lang="en-IN" sz="2400" dirty="0">
                <a:latin typeface="Times New Roman" panose="02020603050405020304" pitchFamily="18" charset="0"/>
                <a:cs typeface="Times New Roman" panose="02020603050405020304" pitchFamily="18" charset="0"/>
              </a:rPr>
              <a:t>() retrieves the webpage, while </a:t>
            </a:r>
            <a:r>
              <a:rPr lang="en-IN" sz="2400" dirty="0" err="1">
                <a:latin typeface="Times New Roman" panose="02020603050405020304" pitchFamily="18" charset="0"/>
                <a:cs typeface="Times New Roman" panose="02020603050405020304" pitchFamily="18" charset="0"/>
              </a:rPr>
              <a:t>BeautifulSoup</a:t>
            </a:r>
            <a:r>
              <a:rPr lang="en-IN" sz="2400" dirty="0">
                <a:latin typeface="Times New Roman" panose="02020603050405020304" pitchFamily="18" charset="0"/>
                <a:cs typeface="Times New Roman" panose="02020603050405020304" pitchFamily="18" charset="0"/>
              </a:rPr>
              <a:t> extracts the website title and the first ten available links.</a:t>
            </a:r>
          </a:p>
          <a:p>
            <a:pPr>
              <a:buNone/>
            </a:pPr>
            <a:r>
              <a:rPr lang="en-IN" sz="2400" b="1" dirty="0">
                <a:latin typeface="Times New Roman" panose="02020603050405020304" pitchFamily="18" charset="0"/>
                <a:cs typeface="Times New Roman" panose="02020603050405020304" pitchFamily="18" charset="0"/>
              </a:rPr>
              <a:t>Step 3: Load the dataset</a:t>
            </a:r>
            <a:endParaRPr lang="en-IN" sz="2400" dirty="0">
              <a:latin typeface="Times New Roman" panose="02020603050405020304" pitchFamily="18" charset="0"/>
              <a:cs typeface="Times New Roman" panose="02020603050405020304" pitchFamily="18" charset="0"/>
            </a:endParaRPr>
          </a:p>
          <a:p>
            <a:pPr>
              <a:buNone/>
            </a:pPr>
            <a:r>
              <a:rPr lang="en-IN" sz="2400" dirty="0">
                <a:latin typeface="Times New Roman" panose="02020603050405020304" pitchFamily="18" charset="0"/>
                <a:cs typeface="Times New Roman" panose="02020603050405020304" pitchFamily="18" charset="0"/>
              </a:rPr>
              <a:t>The e-commerce CSV file is downloaded and loaded into a Pandas </a:t>
            </a:r>
            <a:r>
              <a:rPr lang="en-IN" sz="2400" dirty="0" err="1">
                <a:latin typeface="Times New Roman" panose="02020603050405020304" pitchFamily="18" charset="0"/>
                <a:cs typeface="Times New Roman" panose="02020603050405020304" pitchFamily="18" charset="0"/>
              </a:rPr>
              <a:t>DataFrame</a:t>
            </a:r>
            <a:r>
              <a:rPr lang="en-IN" sz="2400" dirty="0">
                <a:latin typeface="Times New Roman" panose="02020603050405020304" pitchFamily="18" charset="0"/>
                <a:cs typeface="Times New Roman" panose="02020603050405020304" pitchFamily="18" charset="0"/>
              </a:rPr>
              <a:t> using </a:t>
            </a:r>
            <a:r>
              <a:rPr lang="en-IN" sz="2400" dirty="0" err="1">
                <a:latin typeface="Times New Roman" panose="02020603050405020304" pitchFamily="18" charset="0"/>
                <a:cs typeface="Times New Roman" panose="02020603050405020304" pitchFamily="18" charset="0"/>
              </a:rPr>
              <a:t>pd.read_csv</a:t>
            </a:r>
            <a:r>
              <a:rPr lang="en-IN" sz="2400" dirty="0">
                <a:latin typeface="Times New Roman" panose="02020603050405020304" pitchFamily="18" charset="0"/>
                <a:cs typeface="Times New Roman" panose="02020603050405020304" pitchFamily="18" charset="0"/>
              </a:rPr>
              <a:t>().</a:t>
            </a:r>
          </a:p>
          <a:p>
            <a:pPr>
              <a:buNone/>
            </a:pPr>
            <a:r>
              <a:rPr lang="en-IN" sz="2400" b="1" dirty="0">
                <a:latin typeface="Times New Roman" panose="02020603050405020304" pitchFamily="18" charset="0"/>
                <a:cs typeface="Times New Roman" panose="02020603050405020304" pitchFamily="18" charset="0"/>
              </a:rPr>
              <a:t>Step 4: Inspect the dataset</a:t>
            </a:r>
            <a:endParaRPr lang="en-IN" sz="2400" dirty="0">
              <a:latin typeface="Times New Roman" panose="02020603050405020304" pitchFamily="18" charset="0"/>
              <a:cs typeface="Times New Roman" panose="02020603050405020304" pitchFamily="18" charset="0"/>
            </a:endParaRPr>
          </a:p>
          <a:p>
            <a:pPr>
              <a:buNone/>
            </a:pPr>
            <a:r>
              <a:rPr lang="en-IN" sz="2400" dirty="0">
                <a:latin typeface="Times New Roman" panose="02020603050405020304" pitchFamily="18" charset="0"/>
                <a:cs typeface="Times New Roman" panose="02020603050405020304" pitchFamily="18" charset="0"/>
              </a:rPr>
              <a:t>Functions such as head(), tail(), sample(), info(), and describe() are used to examine the data.</a:t>
            </a:r>
          </a:p>
        </p:txBody>
      </p:sp>
    </p:spTree>
    <p:extLst>
      <p:ext uri="{BB962C8B-B14F-4D97-AF65-F5344CB8AC3E}">
        <p14:creationId xmlns:p14="http://schemas.microsoft.com/office/powerpoint/2010/main" val="37442172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837F02-9D49-8A18-C014-8C8A374228ED}"/>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3E54B014-C43E-D47E-F170-4F0B54EA1FD8}"/>
              </a:ext>
            </a:extLst>
          </p:cNvPr>
          <p:cNvGrpSpPr/>
          <p:nvPr/>
        </p:nvGrpSpPr>
        <p:grpSpPr>
          <a:xfrm>
            <a:off x="2590800" y="161097"/>
            <a:ext cx="5103904" cy="1820103"/>
            <a:chOff x="2648188" y="47148"/>
            <a:chExt cx="5103904" cy="1198311"/>
          </a:xfrm>
        </p:grpSpPr>
        <p:pic>
          <p:nvPicPr>
            <p:cNvPr id="6" name="object 4">
              <a:extLst>
                <a:ext uri="{FF2B5EF4-FFF2-40B4-BE49-F238E27FC236}">
                  <a16:creationId xmlns:a16="http://schemas.microsoft.com/office/drawing/2014/main" id="{B37BECC9-C415-665C-CF45-96BEBC75B184}"/>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FA96008B-E031-4EAA-661F-DFC20E85D412}"/>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A32656F9-EBCB-7425-034E-2B835BB682F2}"/>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B30BACF4-19C0-B795-F148-DB609D2E861D}"/>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0413B2D9-3D2D-126F-4656-91541DF8F00C}"/>
              </a:ext>
            </a:extLst>
          </p:cNvPr>
          <p:cNvSpPr txBox="1">
            <a:spLocks noGrp="1"/>
          </p:cNvSpPr>
          <p:nvPr>
            <p:ph type="title"/>
          </p:nvPr>
        </p:nvSpPr>
        <p:spPr>
          <a:xfrm>
            <a:off x="2922899" y="494428"/>
            <a:ext cx="4031457" cy="632224"/>
          </a:xfrm>
          <a:prstGeom prst="rect">
            <a:avLst/>
          </a:prstGeom>
        </p:spPr>
        <p:txBody>
          <a:bodyPr vert="horz" wrap="square" lIns="0" tIns="16510" rIns="0" bIns="0" rtlCol="0">
            <a:spAutoFit/>
          </a:bodyPr>
          <a:lstStyle/>
          <a:p>
            <a:pPr marL="12700">
              <a:lnSpc>
                <a:spcPct val="100000"/>
              </a:lnSpc>
              <a:spcBef>
                <a:spcPts val="130"/>
              </a:spcBef>
            </a:pPr>
            <a:r>
              <a:rPr lang="en-IN" sz="2000" dirty="0">
                <a:solidFill>
                  <a:schemeClr val="bg1"/>
                </a:solidFill>
                <a:latin typeface="Times New Roman" panose="02020603050405020304" pitchFamily="18" charset="0"/>
                <a:cs typeface="Times New Roman" panose="02020603050405020304" pitchFamily="18" charset="0"/>
              </a:rPr>
              <a:t>Coding Implementation with Step-by-Step Explanation</a:t>
            </a:r>
            <a:endParaRPr lang="en-IN" sz="1950" dirty="0">
              <a:solidFill>
                <a:schemeClr val="bg1"/>
              </a:solidFill>
              <a:latin typeface="Times New Roman" panose="02020603050405020304" pitchFamily="18" charset="0"/>
              <a:cs typeface="Times New Roman" panose="02020603050405020304" pitchFamily="18" charset="0"/>
            </a:endParaRPr>
          </a:p>
        </p:txBody>
      </p:sp>
      <p:pic>
        <p:nvPicPr>
          <p:cNvPr id="11" name="object 3">
            <a:extLst>
              <a:ext uri="{FF2B5EF4-FFF2-40B4-BE49-F238E27FC236}">
                <a16:creationId xmlns:a16="http://schemas.microsoft.com/office/drawing/2014/main" id="{54F896A5-CBC2-0698-4860-00DF0B9A2F85}"/>
              </a:ext>
            </a:extLst>
          </p:cNvPr>
          <p:cNvPicPr/>
          <p:nvPr/>
        </p:nvPicPr>
        <p:blipFill>
          <a:blip r:embed="rId6" cstate="print"/>
          <a:stretch>
            <a:fillRect/>
          </a:stretch>
        </p:blipFill>
        <p:spPr>
          <a:xfrm>
            <a:off x="290750" y="204311"/>
            <a:ext cx="1163002" cy="424338"/>
          </a:xfrm>
          <a:prstGeom prst="rect">
            <a:avLst/>
          </a:prstGeom>
        </p:spPr>
      </p:pic>
      <p:sp>
        <p:nvSpPr>
          <p:cNvPr id="3" name="TextBox 2">
            <a:extLst>
              <a:ext uri="{FF2B5EF4-FFF2-40B4-BE49-F238E27FC236}">
                <a16:creationId xmlns:a16="http://schemas.microsoft.com/office/drawing/2014/main" id="{8BCA3502-24D2-8003-9911-BA1FAE9850F6}"/>
              </a:ext>
            </a:extLst>
          </p:cNvPr>
          <p:cNvSpPr txBox="1"/>
          <p:nvPr/>
        </p:nvSpPr>
        <p:spPr>
          <a:xfrm>
            <a:off x="493819" y="1343777"/>
            <a:ext cx="9044226" cy="6740307"/>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Data Cleaning and Analysis</a:t>
            </a:r>
          </a:p>
          <a:p>
            <a:endParaRPr lang="en-IN" sz="2400" b="1"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Step 5: Clean the dataset</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Duplicate rows are removed, relevant date and numerical columns are converted, and missing values are handled.</a:t>
            </a:r>
          </a:p>
          <a:p>
            <a:r>
              <a:rPr lang="en-IN" sz="2400" b="1" dirty="0">
                <a:latin typeface="Times New Roman" panose="02020603050405020304" pitchFamily="18" charset="0"/>
                <a:cs typeface="Times New Roman" panose="02020603050405020304" pitchFamily="18" charset="0"/>
              </a:rPr>
              <a:t>Step 6: Filter and sort records</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The program selects columns, filters records above the mean of the first numerical column, and sorts records in descending order.</a:t>
            </a:r>
          </a:p>
          <a:p>
            <a:r>
              <a:rPr lang="en-IN" sz="2400" b="1" dirty="0">
                <a:latin typeface="Times New Roman" panose="02020603050405020304" pitchFamily="18" charset="0"/>
                <a:cs typeface="Times New Roman" panose="02020603050405020304" pitchFamily="18" charset="0"/>
              </a:rPr>
              <a:t>Step 7: Perform statistical analysis</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The code calculates category frequencies, grouped averages, numerical aggregations, and correlations when suitable columns are available.</a:t>
            </a:r>
          </a:p>
          <a:p>
            <a:r>
              <a:rPr lang="en-IN" sz="2400" b="1" dirty="0">
                <a:latin typeface="Times New Roman" panose="02020603050405020304" pitchFamily="18" charset="0"/>
                <a:cs typeface="Times New Roman" panose="02020603050405020304" pitchFamily="18" charset="0"/>
              </a:rPr>
              <a:t>Step 8: Generate visualizations</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Different charts are created to understand category distributions, numerical patterns, and relationships between variables.</a:t>
            </a:r>
          </a:p>
          <a:p>
            <a:r>
              <a:rPr lang="en-IN" sz="2400" b="1" dirty="0">
                <a:latin typeface="Times New Roman" panose="02020603050405020304" pitchFamily="18" charset="0"/>
                <a:cs typeface="Times New Roman" panose="02020603050405020304" pitchFamily="18" charset="0"/>
              </a:rPr>
              <a:t>Step 9: Save results</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The cleaned dataset and numerical summary are exported to CSV files for future reference.</a:t>
            </a:r>
          </a:p>
          <a:p>
            <a:pPr>
              <a:buNone/>
            </a:pP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233921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736072-48CF-7A07-3283-0CB79F29AB1D}"/>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8C17C9B2-E7CC-1C9A-D7F8-2089A03BE5C7}"/>
              </a:ext>
            </a:extLst>
          </p:cNvPr>
          <p:cNvSpPr txBox="1"/>
          <p:nvPr/>
        </p:nvSpPr>
        <p:spPr>
          <a:xfrm>
            <a:off x="152400" y="1028476"/>
            <a:ext cx="9025890" cy="6370975"/>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The project is expected to display website information, dataset records, statistical summaries, and data-cleaning results. It also performs numerical calculations and generates charts to support data analysis.</a:t>
            </a:r>
          </a:p>
          <a:p>
            <a:r>
              <a:rPr lang="en-IN" sz="2400" dirty="0">
                <a:latin typeface="Times New Roman" panose="02020603050405020304" pitchFamily="18" charset="0"/>
                <a:cs typeface="Times New Roman" panose="02020603050405020304" pitchFamily="18" charset="0"/>
              </a:rPr>
              <a:t>The main expected outputs are:</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Website title and links.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Dataset records and dimensions.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Missing-value and duplicate counts.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NumPy calculations.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Cleaned dataset.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Filtered and sorted records.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Grouped averages and numerical</a:t>
            </a:r>
          </a:p>
          <a:p>
            <a:pPr lvl="0"/>
            <a:r>
              <a:rPr lang="en-IN" sz="2400" dirty="0">
                <a:latin typeface="Times New Roman" panose="02020603050405020304" pitchFamily="18" charset="0"/>
                <a:cs typeface="Times New Roman" panose="02020603050405020304" pitchFamily="18" charset="0"/>
              </a:rPr>
              <a:t>     aggregations.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Correlation matrix.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Data visualization charts.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Cleaned CSV and numerical summary </a:t>
            </a:r>
          </a:p>
          <a:p>
            <a:pPr lvl="0"/>
            <a:r>
              <a:rPr lang="en-IN" sz="2400" dirty="0">
                <a:latin typeface="Times New Roman" panose="02020603050405020304" pitchFamily="18" charset="0"/>
                <a:cs typeface="Times New Roman" panose="02020603050405020304" pitchFamily="18" charset="0"/>
              </a:rPr>
              <a:t>    files</a:t>
            </a:r>
          </a:p>
          <a:p>
            <a:endParaRPr lang="en-IN" sz="2400" dirty="0"/>
          </a:p>
        </p:txBody>
      </p:sp>
      <p:grpSp>
        <p:nvGrpSpPr>
          <p:cNvPr id="7" name="object 3">
            <a:extLst>
              <a:ext uri="{FF2B5EF4-FFF2-40B4-BE49-F238E27FC236}">
                <a16:creationId xmlns:a16="http://schemas.microsoft.com/office/drawing/2014/main" id="{1D05E8A7-0BAB-CD52-0FC4-DBD8F083248D}"/>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2B30C952-F60A-FB38-53A3-CC89BA08827C}"/>
                </a:ext>
              </a:extLst>
            </p:cNvPr>
            <p:cNvPicPr/>
            <p:nvPr/>
          </p:nvPicPr>
          <p:blipFill>
            <a:blip r:embed="rId3"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7866CFA0-4F50-28F0-EFC2-86D038EB2112}"/>
                </a:ext>
              </a:extLst>
            </p:cNvPr>
            <p:cNvPicPr/>
            <p:nvPr/>
          </p:nvPicPr>
          <p:blipFill>
            <a:blip r:embed="rId4"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3F09A4D8-A400-E0F8-0CA6-063B8B882E67}"/>
                </a:ext>
              </a:extLst>
            </p:cNvPr>
            <p:cNvPicPr/>
            <p:nvPr/>
          </p:nvPicPr>
          <p:blipFill>
            <a:blip r:embed="rId5"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F8E97D79-7FA8-D140-E726-79CFA9A5B812}"/>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E0F701E1-161B-537E-CE8F-F2E5197F401F}"/>
              </a:ext>
            </a:extLst>
          </p:cNvPr>
          <p:cNvSpPr txBox="1">
            <a:spLocks noGrp="1"/>
          </p:cNvSpPr>
          <p:nvPr>
            <p:ph type="title"/>
          </p:nvPr>
        </p:nvSpPr>
        <p:spPr>
          <a:xfrm>
            <a:off x="3945254" y="432593"/>
            <a:ext cx="26079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EXPECTED OUTPUTS</a:t>
            </a:r>
          </a:p>
        </p:txBody>
      </p:sp>
      <p:pic>
        <p:nvPicPr>
          <p:cNvPr id="13" name="object 3">
            <a:extLst>
              <a:ext uri="{FF2B5EF4-FFF2-40B4-BE49-F238E27FC236}">
                <a16:creationId xmlns:a16="http://schemas.microsoft.com/office/drawing/2014/main" id="{F12DBFE6-BE52-C24E-9E8E-C14765A305F3}"/>
              </a:ext>
            </a:extLst>
          </p:cNvPr>
          <p:cNvPicPr/>
          <p:nvPr/>
        </p:nvPicPr>
        <p:blipFill>
          <a:blip r:embed="rId6" cstate="print"/>
          <a:stretch>
            <a:fillRect/>
          </a:stretch>
        </p:blipFill>
        <p:spPr>
          <a:xfrm>
            <a:off x="290750" y="204311"/>
            <a:ext cx="1163002" cy="424338"/>
          </a:xfrm>
          <a:prstGeom prst="rect">
            <a:avLst/>
          </a:prstGeom>
        </p:spPr>
      </p:pic>
      <p:pic>
        <p:nvPicPr>
          <p:cNvPr id="5" name="Picture 4">
            <a:extLst>
              <a:ext uri="{FF2B5EF4-FFF2-40B4-BE49-F238E27FC236}">
                <a16:creationId xmlns:a16="http://schemas.microsoft.com/office/drawing/2014/main" id="{3064A614-877E-1884-5F3F-349965220B56}"/>
              </a:ext>
            </a:extLst>
          </p:cNvPr>
          <p:cNvPicPr>
            <a:picLocks noChangeAspect="1"/>
          </p:cNvPicPr>
          <p:nvPr/>
        </p:nvPicPr>
        <p:blipFill>
          <a:blip r:embed="rId7"/>
          <a:stretch>
            <a:fillRect/>
          </a:stretch>
        </p:blipFill>
        <p:spPr>
          <a:xfrm>
            <a:off x="5330064" y="2743200"/>
            <a:ext cx="4575936" cy="3446965"/>
          </a:xfrm>
          <a:prstGeom prst="rect">
            <a:avLst/>
          </a:prstGeom>
        </p:spPr>
      </p:pic>
    </p:spTree>
    <p:extLst>
      <p:ext uri="{BB962C8B-B14F-4D97-AF65-F5344CB8AC3E}">
        <p14:creationId xmlns:p14="http://schemas.microsoft.com/office/powerpoint/2010/main" val="39420597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23A530-EC1B-3EB6-62DF-0DE8034CE844}"/>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F66D394E-5574-0366-F4B2-28CA2DD48D91}"/>
              </a:ext>
            </a:extLst>
          </p:cNvPr>
          <p:cNvSpPr txBox="1"/>
          <p:nvPr/>
        </p:nvSpPr>
        <p:spPr>
          <a:xfrm>
            <a:off x="290751" y="1421956"/>
            <a:ext cx="9025890" cy="4154984"/>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The actual outputs are the values and charts produced when the Python program executes successfully in Google </a:t>
            </a:r>
            <a:r>
              <a:rPr lang="en-IN" sz="2400" dirty="0" err="1">
                <a:latin typeface="Times New Roman" panose="02020603050405020304" pitchFamily="18" charset="0"/>
                <a:cs typeface="Times New Roman" panose="02020603050405020304" pitchFamily="18" charset="0"/>
              </a:rPr>
              <a:t>Colab</a:t>
            </a:r>
            <a:r>
              <a:rPr lang="en-IN" sz="2400" dirty="0">
                <a:latin typeface="Times New Roman" panose="02020603050405020304" pitchFamily="18" charset="0"/>
                <a:cs typeface="Times New Roman" panose="02020603050405020304" pitchFamily="18" charset="0"/>
              </a:rPr>
              <a:t> or another Python environment.</a:t>
            </a:r>
          </a:p>
          <a:p>
            <a:r>
              <a:rPr lang="en-IN" sz="2400" dirty="0">
                <a:latin typeface="Times New Roman" panose="02020603050405020304" pitchFamily="18" charset="0"/>
                <a:cs typeface="Times New Roman" panose="02020603050405020304" pitchFamily="18" charset="0"/>
              </a:rPr>
              <a:t>The program displays dataset information, cleaning results, statistical calculations, and visualizations. It also saves cleaned_ecommerce_data.csv and, when numerical columns are available, numeric_summary.csv.</a:t>
            </a:r>
          </a:p>
          <a:p>
            <a:r>
              <a:rPr lang="en-IN" sz="2400" dirty="0">
                <a:latin typeface="Times New Roman" panose="02020603050405020304" pitchFamily="18" charset="0"/>
                <a:cs typeface="Times New Roman" panose="02020603050405020304" pitchFamily="18" charset="0"/>
              </a:rPr>
              <a:t>Actual record counts, missing values, and statistical values depend on the dataset downloaded during execution. Therefore, screenshots from the actual program should be included in the project report.</a:t>
            </a:r>
          </a:p>
          <a:p>
            <a:endParaRPr lang="en-IN" sz="2400" dirty="0"/>
          </a:p>
        </p:txBody>
      </p:sp>
      <p:grpSp>
        <p:nvGrpSpPr>
          <p:cNvPr id="7" name="object 3">
            <a:extLst>
              <a:ext uri="{FF2B5EF4-FFF2-40B4-BE49-F238E27FC236}">
                <a16:creationId xmlns:a16="http://schemas.microsoft.com/office/drawing/2014/main" id="{1550B74E-9F93-20AF-D6B7-F67E2253B0ED}"/>
              </a:ext>
            </a:extLst>
          </p:cNvPr>
          <p:cNvGrpSpPr/>
          <p:nvPr/>
        </p:nvGrpSpPr>
        <p:grpSpPr>
          <a:xfrm>
            <a:off x="2477248" y="150190"/>
            <a:ext cx="5103904" cy="1198311"/>
            <a:chOff x="2648188" y="47148"/>
            <a:chExt cx="5103904" cy="1198311"/>
          </a:xfrm>
        </p:grpSpPr>
        <p:pic>
          <p:nvPicPr>
            <p:cNvPr id="8" name="object 4">
              <a:extLst>
                <a:ext uri="{FF2B5EF4-FFF2-40B4-BE49-F238E27FC236}">
                  <a16:creationId xmlns:a16="http://schemas.microsoft.com/office/drawing/2014/main" id="{5CBB77BB-697D-B309-A269-691A916A0474}"/>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1CA10C90-9A55-5EEF-8F37-44AAAE8BF760}"/>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8169A4AA-2AEA-FAE4-10FF-402D5A07591E}"/>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ABF70317-2743-00A5-796E-CBC94275F51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1EA78DA2-6FE6-B04E-7651-DFE98408BA0B}"/>
              </a:ext>
            </a:extLst>
          </p:cNvPr>
          <p:cNvSpPr txBox="1">
            <a:spLocks noGrp="1"/>
          </p:cNvSpPr>
          <p:nvPr>
            <p:ph type="title"/>
          </p:nvPr>
        </p:nvSpPr>
        <p:spPr>
          <a:xfrm>
            <a:off x="3945254" y="432593"/>
            <a:ext cx="26079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ACTUAL OUTPUTS</a:t>
            </a:r>
          </a:p>
        </p:txBody>
      </p:sp>
      <p:pic>
        <p:nvPicPr>
          <p:cNvPr id="13" name="object 3">
            <a:extLst>
              <a:ext uri="{FF2B5EF4-FFF2-40B4-BE49-F238E27FC236}">
                <a16:creationId xmlns:a16="http://schemas.microsoft.com/office/drawing/2014/main" id="{3CA09D0F-6F84-8D78-4690-4FE120431546}"/>
              </a:ext>
            </a:extLst>
          </p:cNvPr>
          <p:cNvPicPr/>
          <p:nvPr/>
        </p:nvPicPr>
        <p:blipFill>
          <a:blip r:embed="rId5" cstate="print"/>
          <a:stretch>
            <a:fillRect/>
          </a:stretch>
        </p:blipFill>
        <p:spPr>
          <a:xfrm>
            <a:off x="290750" y="204311"/>
            <a:ext cx="1163002" cy="424338"/>
          </a:xfrm>
          <a:prstGeom prst="rect">
            <a:avLst/>
          </a:prstGeom>
        </p:spPr>
      </p:pic>
      <p:pic>
        <p:nvPicPr>
          <p:cNvPr id="3" name="Picture 2">
            <a:extLst>
              <a:ext uri="{FF2B5EF4-FFF2-40B4-BE49-F238E27FC236}">
                <a16:creationId xmlns:a16="http://schemas.microsoft.com/office/drawing/2014/main" id="{C7C2255F-B3E8-FDC2-4134-370CF372977C}"/>
              </a:ext>
            </a:extLst>
          </p:cNvPr>
          <p:cNvPicPr>
            <a:picLocks noChangeAspect="1"/>
          </p:cNvPicPr>
          <p:nvPr/>
        </p:nvPicPr>
        <p:blipFill>
          <a:blip r:embed="rId6"/>
          <a:stretch>
            <a:fillRect/>
          </a:stretch>
        </p:blipFill>
        <p:spPr>
          <a:xfrm>
            <a:off x="457200" y="5824236"/>
            <a:ext cx="5638800" cy="1262364"/>
          </a:xfrm>
          <a:prstGeom prst="rect">
            <a:avLst/>
          </a:prstGeom>
        </p:spPr>
      </p:pic>
    </p:spTree>
    <p:extLst>
      <p:ext uri="{BB962C8B-B14F-4D97-AF65-F5344CB8AC3E}">
        <p14:creationId xmlns:p14="http://schemas.microsoft.com/office/powerpoint/2010/main" val="2683377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79DF49-E088-024B-1B83-E9F7818F22EE}"/>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3F9EEDE-4BE5-4969-0334-620E51261167}"/>
              </a:ext>
            </a:extLst>
          </p:cNvPr>
          <p:cNvSpPr txBox="1"/>
          <p:nvPr/>
        </p:nvSpPr>
        <p:spPr>
          <a:xfrm>
            <a:off x="290750" y="934827"/>
            <a:ext cx="9386650" cy="3785652"/>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Data Quality and Reliability</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The current project focuses on data cleaning and exploratory data analysis rather than machine-learning predictions. Its reliability is assessed by checking whether duplicate rows are removed, missing values are handled as intended, data types are converted correctly, and statistical calculations execute successfully.</a:t>
            </a:r>
          </a:p>
          <a:p>
            <a:r>
              <a:rPr lang="en-IN" sz="2400" dirty="0">
                <a:latin typeface="Times New Roman" panose="02020603050405020304" pitchFamily="18" charset="0"/>
                <a:cs typeface="Times New Roman" panose="02020603050405020304" pitchFamily="18" charset="0"/>
              </a:rPr>
              <a:t>The before-and-after dataset dimensions and missing-value counts help evaluate the results of preprocessing.</a:t>
            </a:r>
          </a:p>
          <a:p>
            <a:endParaRPr lang="en-IN" sz="2400" dirty="0"/>
          </a:p>
        </p:txBody>
      </p:sp>
      <p:grpSp>
        <p:nvGrpSpPr>
          <p:cNvPr id="7" name="object 3">
            <a:extLst>
              <a:ext uri="{FF2B5EF4-FFF2-40B4-BE49-F238E27FC236}">
                <a16:creationId xmlns:a16="http://schemas.microsoft.com/office/drawing/2014/main" id="{E5214643-B519-94BC-D4C0-AB69EE515CD0}"/>
              </a:ext>
            </a:extLst>
          </p:cNvPr>
          <p:cNvGrpSpPr/>
          <p:nvPr/>
        </p:nvGrpSpPr>
        <p:grpSpPr>
          <a:xfrm>
            <a:off x="2477248" y="150190"/>
            <a:ext cx="5103904" cy="1198311"/>
            <a:chOff x="2648188" y="47148"/>
            <a:chExt cx="5103904" cy="1198311"/>
          </a:xfrm>
        </p:grpSpPr>
        <p:pic>
          <p:nvPicPr>
            <p:cNvPr id="8" name="object 4">
              <a:extLst>
                <a:ext uri="{FF2B5EF4-FFF2-40B4-BE49-F238E27FC236}">
                  <a16:creationId xmlns:a16="http://schemas.microsoft.com/office/drawing/2014/main" id="{5E83A23B-DE80-C8A8-0F9B-1F3FFEBA3C8A}"/>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DACE7488-9A54-CB2D-91B4-F45E7AE9F949}"/>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E17CBFC4-863B-B837-2D08-3622968B102D}"/>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47F9835C-F4B6-86C2-7399-C23B5EC00A1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A318E5E1-F2DF-31C7-D423-1B0C3A6ADD16}"/>
              </a:ext>
            </a:extLst>
          </p:cNvPr>
          <p:cNvSpPr txBox="1">
            <a:spLocks noGrp="1"/>
          </p:cNvSpPr>
          <p:nvPr>
            <p:ph type="title"/>
          </p:nvPr>
        </p:nvSpPr>
        <p:spPr>
          <a:xfrm>
            <a:off x="3414259" y="388809"/>
            <a:ext cx="3229881"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ACCURACY  DETAILS</a:t>
            </a:r>
          </a:p>
        </p:txBody>
      </p:sp>
      <p:pic>
        <p:nvPicPr>
          <p:cNvPr id="13" name="object 3">
            <a:extLst>
              <a:ext uri="{FF2B5EF4-FFF2-40B4-BE49-F238E27FC236}">
                <a16:creationId xmlns:a16="http://schemas.microsoft.com/office/drawing/2014/main" id="{1881D8E4-29C3-9B5A-9920-1894CD2ECE21}"/>
              </a:ext>
            </a:extLst>
          </p:cNvPr>
          <p:cNvPicPr/>
          <p:nvPr/>
        </p:nvPicPr>
        <p:blipFill>
          <a:blip r:embed="rId5" cstate="print"/>
          <a:stretch>
            <a:fillRect/>
          </a:stretch>
        </p:blipFill>
        <p:spPr>
          <a:xfrm>
            <a:off x="290750" y="204311"/>
            <a:ext cx="1163002" cy="424338"/>
          </a:xfrm>
          <a:prstGeom prst="rect">
            <a:avLst/>
          </a:prstGeom>
        </p:spPr>
      </p:pic>
      <p:pic>
        <p:nvPicPr>
          <p:cNvPr id="14" name="Picture 13">
            <a:extLst>
              <a:ext uri="{FF2B5EF4-FFF2-40B4-BE49-F238E27FC236}">
                <a16:creationId xmlns:a16="http://schemas.microsoft.com/office/drawing/2014/main" id="{330DF73A-0AC7-0850-DED5-471E9779669F}"/>
              </a:ext>
            </a:extLst>
          </p:cNvPr>
          <p:cNvPicPr>
            <a:picLocks noChangeAspect="1"/>
          </p:cNvPicPr>
          <p:nvPr/>
        </p:nvPicPr>
        <p:blipFill>
          <a:blip r:embed="rId6"/>
          <a:stretch>
            <a:fillRect/>
          </a:stretch>
        </p:blipFill>
        <p:spPr>
          <a:xfrm>
            <a:off x="457200" y="4437036"/>
            <a:ext cx="4130279" cy="2057578"/>
          </a:xfrm>
          <a:prstGeom prst="rect">
            <a:avLst/>
          </a:prstGeom>
        </p:spPr>
      </p:pic>
      <p:sp>
        <p:nvSpPr>
          <p:cNvPr id="16" name="TextBox 15">
            <a:extLst>
              <a:ext uri="{FF2B5EF4-FFF2-40B4-BE49-F238E27FC236}">
                <a16:creationId xmlns:a16="http://schemas.microsoft.com/office/drawing/2014/main" id="{8469809F-5058-A9EE-8FE3-4E0C9ADC623C}"/>
              </a:ext>
            </a:extLst>
          </p:cNvPr>
          <p:cNvSpPr txBox="1"/>
          <p:nvPr/>
        </p:nvSpPr>
        <p:spPr>
          <a:xfrm>
            <a:off x="290750" y="6625704"/>
            <a:ext cx="9386650" cy="830997"/>
          </a:xfrm>
          <a:prstGeom prst="rect">
            <a:avLst/>
          </a:prstGeom>
          <a:noFill/>
        </p:spPr>
        <p:txBody>
          <a:bodyPr wrap="square">
            <a:spAutoFit/>
          </a:bodyPr>
          <a:lstStyle/>
          <a:p>
            <a:r>
              <a:rPr lang="en-IN" sz="2400" dirty="0">
                <a:latin typeface="Times New Roman" panose="02020603050405020304" pitchFamily="18" charset="0"/>
                <a:cs typeface="Times New Roman" panose="02020603050405020304" pitchFamily="18" charset="0"/>
              </a:rPr>
              <a:t>These checks help evaluate data quality, but they do not calculate a machine-learning accuracy score.</a:t>
            </a:r>
          </a:p>
        </p:txBody>
      </p:sp>
    </p:spTree>
    <p:extLst>
      <p:ext uri="{BB962C8B-B14F-4D97-AF65-F5344CB8AC3E}">
        <p14:creationId xmlns:p14="http://schemas.microsoft.com/office/powerpoint/2010/main" val="26361503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0CC318-2C9A-5345-C674-C746DB0C856F}"/>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6B9FF91E-7BD7-B960-3459-5B3CA849F664}"/>
              </a:ext>
            </a:extLst>
          </p:cNvPr>
          <p:cNvSpPr txBox="1"/>
          <p:nvPr/>
        </p:nvSpPr>
        <p:spPr>
          <a:xfrm>
            <a:off x="290750" y="934827"/>
            <a:ext cx="9386650" cy="3785652"/>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Prediction Accuracy</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The current code does not train or test a prediction model. Therefore, prediction accuracy, precision, recall, and F1-score cannot be reported for this implementation.</a:t>
            </a:r>
          </a:p>
          <a:p>
            <a:r>
              <a:rPr lang="en-IN" sz="2400" dirty="0">
                <a:latin typeface="Times New Roman" panose="02020603050405020304" pitchFamily="18" charset="0"/>
                <a:cs typeface="Times New Roman" panose="02020603050405020304" pitchFamily="18" charset="0"/>
              </a:rPr>
              <a:t>If a prediction model is added in the future, its performance can be evaluated using a separate test dataset and suitable evaluation metrics.</a:t>
            </a:r>
          </a:p>
          <a:p>
            <a:r>
              <a:rPr lang="en-IN" sz="2400" dirty="0">
                <a:latin typeface="Times New Roman" panose="02020603050405020304" pitchFamily="18" charset="0"/>
                <a:cs typeface="Times New Roman" panose="02020603050405020304" pitchFamily="18" charset="0"/>
              </a:rPr>
              <a:t>For numerical predictions, metrics such as Mean Absolute Error (MAE), Root Mean Squared Error (RMSE), and R² can be used.</a:t>
            </a:r>
          </a:p>
          <a:p>
            <a:endParaRPr lang="en-IN" sz="2400" dirty="0"/>
          </a:p>
        </p:txBody>
      </p:sp>
      <p:grpSp>
        <p:nvGrpSpPr>
          <p:cNvPr id="7" name="object 3">
            <a:extLst>
              <a:ext uri="{FF2B5EF4-FFF2-40B4-BE49-F238E27FC236}">
                <a16:creationId xmlns:a16="http://schemas.microsoft.com/office/drawing/2014/main" id="{A01F8257-E3F9-6AF2-44C6-557BF9267877}"/>
              </a:ext>
            </a:extLst>
          </p:cNvPr>
          <p:cNvGrpSpPr/>
          <p:nvPr/>
        </p:nvGrpSpPr>
        <p:grpSpPr>
          <a:xfrm>
            <a:off x="2477248" y="150190"/>
            <a:ext cx="5103904" cy="1198311"/>
            <a:chOff x="2648188" y="47148"/>
            <a:chExt cx="5103904" cy="1198311"/>
          </a:xfrm>
        </p:grpSpPr>
        <p:pic>
          <p:nvPicPr>
            <p:cNvPr id="8" name="object 4">
              <a:extLst>
                <a:ext uri="{FF2B5EF4-FFF2-40B4-BE49-F238E27FC236}">
                  <a16:creationId xmlns:a16="http://schemas.microsoft.com/office/drawing/2014/main" id="{57F09406-D136-DDD6-4A76-F78EE108415F}"/>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20DD523D-2378-CA72-FBF9-AFFD52A24E61}"/>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21FD28FC-EE31-1CC9-39C9-3CB6E7E4A446}"/>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F7288A0C-72DA-08DF-C7A0-4E69963556C9}"/>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DEE86D6E-7B13-48BD-894E-3A540E3B4C2F}"/>
              </a:ext>
            </a:extLst>
          </p:cNvPr>
          <p:cNvSpPr txBox="1">
            <a:spLocks noGrp="1"/>
          </p:cNvSpPr>
          <p:nvPr>
            <p:ph type="title"/>
          </p:nvPr>
        </p:nvSpPr>
        <p:spPr>
          <a:xfrm>
            <a:off x="3414259" y="388809"/>
            <a:ext cx="3229881"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ACCURACY  DETAILS</a:t>
            </a:r>
          </a:p>
        </p:txBody>
      </p:sp>
      <p:pic>
        <p:nvPicPr>
          <p:cNvPr id="13" name="object 3">
            <a:extLst>
              <a:ext uri="{FF2B5EF4-FFF2-40B4-BE49-F238E27FC236}">
                <a16:creationId xmlns:a16="http://schemas.microsoft.com/office/drawing/2014/main" id="{C5555304-88A2-E279-ACA6-58549312FACE}"/>
              </a:ext>
            </a:extLst>
          </p:cNvPr>
          <p:cNvPicPr/>
          <p:nvPr/>
        </p:nvPicPr>
        <p:blipFill>
          <a:blip r:embed="rId5" cstate="print"/>
          <a:stretch>
            <a:fillRect/>
          </a:stretch>
        </p:blipFill>
        <p:spPr>
          <a:xfrm>
            <a:off x="290750" y="204311"/>
            <a:ext cx="1163002" cy="424338"/>
          </a:xfrm>
          <a:prstGeom prst="rect">
            <a:avLst/>
          </a:prstGeom>
        </p:spPr>
      </p:pic>
      <p:sp>
        <p:nvSpPr>
          <p:cNvPr id="16" name="TextBox 15">
            <a:extLst>
              <a:ext uri="{FF2B5EF4-FFF2-40B4-BE49-F238E27FC236}">
                <a16:creationId xmlns:a16="http://schemas.microsoft.com/office/drawing/2014/main" id="{27F22AB4-3E5B-608E-1D70-63FFAA849928}"/>
              </a:ext>
            </a:extLst>
          </p:cNvPr>
          <p:cNvSpPr txBox="1"/>
          <p:nvPr/>
        </p:nvSpPr>
        <p:spPr>
          <a:xfrm>
            <a:off x="290750" y="6625704"/>
            <a:ext cx="9386650" cy="830997"/>
          </a:xfrm>
          <a:prstGeom prst="rect">
            <a:avLst/>
          </a:prstGeom>
          <a:noFill/>
        </p:spPr>
        <p:txBody>
          <a:bodyPr wrap="square">
            <a:spAutoFit/>
          </a:bodyPr>
          <a:lstStyle/>
          <a:p>
            <a:r>
              <a:rPr lang="en-IN" sz="2400" dirty="0">
                <a:latin typeface="Times New Roman" panose="02020603050405020304" pitchFamily="18" charset="0"/>
                <a:cs typeface="Times New Roman" panose="02020603050405020304" pitchFamily="18" charset="0"/>
              </a:rPr>
              <a:t>The current system evaluates data quality and patterns, not predictive accuracy</a:t>
            </a:r>
          </a:p>
        </p:txBody>
      </p:sp>
      <p:pic>
        <p:nvPicPr>
          <p:cNvPr id="3" name="Picture 2">
            <a:extLst>
              <a:ext uri="{FF2B5EF4-FFF2-40B4-BE49-F238E27FC236}">
                <a16:creationId xmlns:a16="http://schemas.microsoft.com/office/drawing/2014/main" id="{DF31D128-8EE9-AEEA-A0C3-D506668C8074}"/>
              </a:ext>
            </a:extLst>
          </p:cNvPr>
          <p:cNvPicPr>
            <a:picLocks noChangeAspect="1"/>
          </p:cNvPicPr>
          <p:nvPr/>
        </p:nvPicPr>
        <p:blipFill>
          <a:blip r:embed="rId6"/>
          <a:stretch>
            <a:fillRect/>
          </a:stretch>
        </p:blipFill>
        <p:spPr>
          <a:xfrm>
            <a:off x="676785" y="4751371"/>
            <a:ext cx="3962400" cy="1752600"/>
          </a:xfrm>
          <a:prstGeom prst="rect">
            <a:avLst/>
          </a:prstGeom>
        </p:spPr>
      </p:pic>
    </p:spTree>
    <p:extLst>
      <p:ext uri="{BB962C8B-B14F-4D97-AF65-F5344CB8AC3E}">
        <p14:creationId xmlns:p14="http://schemas.microsoft.com/office/powerpoint/2010/main" val="34393714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15E5BE-84DA-CF0E-E73B-557249F7E5C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80322576-6026-EF22-2C93-6C8F60BAA12B}"/>
              </a:ext>
            </a:extLst>
          </p:cNvPr>
          <p:cNvSpPr txBox="1"/>
          <p:nvPr/>
        </p:nvSpPr>
        <p:spPr>
          <a:xfrm>
            <a:off x="290750" y="1040682"/>
            <a:ext cx="9539050" cy="3785652"/>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Current Implementation</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The existing system uses Pandas, NumPy, and statistical operations to </a:t>
            </a:r>
            <a:r>
              <a:rPr lang="en-IN" sz="2400" dirty="0" err="1">
                <a:latin typeface="Times New Roman" panose="02020603050405020304" pitchFamily="18" charset="0"/>
                <a:cs typeface="Times New Roman" panose="02020603050405020304" pitchFamily="18" charset="0"/>
              </a:rPr>
              <a:t>analyze</a:t>
            </a:r>
            <a:r>
              <a:rPr lang="en-IN" sz="2400" dirty="0">
                <a:latin typeface="Times New Roman" panose="02020603050405020304" pitchFamily="18" charset="0"/>
                <a:cs typeface="Times New Roman" panose="02020603050405020304" pitchFamily="18" charset="0"/>
              </a:rPr>
              <a:t> e-commerce data. It calculates averages, numerical summaries, category frequencies, and correlations between numerical columns.</a:t>
            </a:r>
          </a:p>
          <a:p>
            <a:r>
              <a:rPr lang="en-IN" sz="2400" dirty="0">
                <a:latin typeface="Times New Roman" panose="02020603050405020304" pitchFamily="18" charset="0"/>
                <a:cs typeface="Times New Roman" panose="02020603050405020304" pitchFamily="18" charset="0"/>
              </a:rPr>
              <a:t>These operations help identify patterns in the data, but they do not constitute a trained machine-learning model.</a:t>
            </a:r>
          </a:p>
          <a:p>
            <a:r>
              <a:rPr lang="en-IN" sz="2400" dirty="0">
                <a:latin typeface="Times New Roman" panose="02020603050405020304" pitchFamily="18" charset="0"/>
                <a:cs typeface="Times New Roman" panose="02020603050405020304" pitchFamily="18" charset="0"/>
              </a:rPr>
              <a:t>The monthly line chart displays the number of records for each month. It does not forecast future prices, sales, or product demand.</a:t>
            </a:r>
          </a:p>
          <a:p>
            <a:endParaRPr lang="en-IN" sz="2400" dirty="0"/>
          </a:p>
        </p:txBody>
      </p:sp>
      <p:grpSp>
        <p:nvGrpSpPr>
          <p:cNvPr id="7" name="object 3">
            <a:extLst>
              <a:ext uri="{FF2B5EF4-FFF2-40B4-BE49-F238E27FC236}">
                <a16:creationId xmlns:a16="http://schemas.microsoft.com/office/drawing/2014/main" id="{8C4E67C3-A75E-D34E-742E-2E72347C2AE4}"/>
              </a:ext>
            </a:extLst>
          </p:cNvPr>
          <p:cNvGrpSpPr/>
          <p:nvPr/>
        </p:nvGrpSpPr>
        <p:grpSpPr>
          <a:xfrm>
            <a:off x="2477248" y="150190"/>
            <a:ext cx="5103904" cy="1198311"/>
            <a:chOff x="2648188" y="47148"/>
            <a:chExt cx="5103904" cy="1198311"/>
          </a:xfrm>
        </p:grpSpPr>
        <p:pic>
          <p:nvPicPr>
            <p:cNvPr id="8" name="object 4">
              <a:extLst>
                <a:ext uri="{FF2B5EF4-FFF2-40B4-BE49-F238E27FC236}">
                  <a16:creationId xmlns:a16="http://schemas.microsoft.com/office/drawing/2014/main" id="{969CE4AF-E460-808A-1B99-C31C3DEC9099}"/>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448B596A-6730-5D21-3707-6FABF04A7EA2}"/>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98478A0A-3A52-BCF6-8AB6-345F4B276A13}"/>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2E2A37C3-7587-520E-C000-0E507C83F2A2}"/>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BD801A5A-30D1-3124-3AF2-E8BBED815DB6}"/>
              </a:ext>
            </a:extLst>
          </p:cNvPr>
          <p:cNvSpPr txBox="1">
            <a:spLocks noGrp="1"/>
          </p:cNvSpPr>
          <p:nvPr>
            <p:ph type="title"/>
          </p:nvPr>
        </p:nvSpPr>
        <p:spPr>
          <a:xfrm>
            <a:off x="3414259" y="388809"/>
            <a:ext cx="3229881"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PREDICTION MODELS</a:t>
            </a:r>
          </a:p>
        </p:txBody>
      </p:sp>
      <p:pic>
        <p:nvPicPr>
          <p:cNvPr id="13" name="object 3">
            <a:extLst>
              <a:ext uri="{FF2B5EF4-FFF2-40B4-BE49-F238E27FC236}">
                <a16:creationId xmlns:a16="http://schemas.microsoft.com/office/drawing/2014/main" id="{4353065C-911D-C898-2326-A6C9FBD25AF1}"/>
              </a:ext>
            </a:extLst>
          </p:cNvPr>
          <p:cNvPicPr/>
          <p:nvPr/>
        </p:nvPicPr>
        <p:blipFill>
          <a:blip r:embed="rId5" cstate="print"/>
          <a:stretch>
            <a:fillRect/>
          </a:stretch>
        </p:blipFill>
        <p:spPr>
          <a:xfrm>
            <a:off x="290750" y="204311"/>
            <a:ext cx="1163002" cy="424338"/>
          </a:xfrm>
          <a:prstGeom prst="rect">
            <a:avLst/>
          </a:prstGeom>
        </p:spPr>
      </p:pic>
      <p:pic>
        <p:nvPicPr>
          <p:cNvPr id="4" name="Picture 3">
            <a:extLst>
              <a:ext uri="{FF2B5EF4-FFF2-40B4-BE49-F238E27FC236}">
                <a16:creationId xmlns:a16="http://schemas.microsoft.com/office/drawing/2014/main" id="{B877783B-A46B-D5DD-F145-20B3FF94540C}"/>
              </a:ext>
            </a:extLst>
          </p:cNvPr>
          <p:cNvPicPr>
            <a:picLocks noChangeAspect="1"/>
          </p:cNvPicPr>
          <p:nvPr/>
        </p:nvPicPr>
        <p:blipFill>
          <a:blip r:embed="rId6"/>
          <a:stretch>
            <a:fillRect/>
          </a:stretch>
        </p:blipFill>
        <p:spPr>
          <a:xfrm>
            <a:off x="533400" y="4608020"/>
            <a:ext cx="6110739" cy="2478580"/>
          </a:xfrm>
          <a:prstGeom prst="rect">
            <a:avLst/>
          </a:prstGeom>
        </p:spPr>
      </p:pic>
    </p:spTree>
    <p:extLst>
      <p:ext uri="{BB962C8B-B14F-4D97-AF65-F5344CB8AC3E}">
        <p14:creationId xmlns:p14="http://schemas.microsoft.com/office/powerpoint/2010/main" val="36322666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07BB31-7E2B-DFB1-1761-392421661870}"/>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CF17E8C1-4456-27C2-29B0-BAE2044FF01C}"/>
              </a:ext>
            </a:extLst>
          </p:cNvPr>
          <p:cNvSpPr txBox="1"/>
          <p:nvPr/>
        </p:nvSpPr>
        <p:spPr>
          <a:xfrm>
            <a:off x="290750" y="1072564"/>
            <a:ext cx="9539050" cy="830997"/>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Future Prediction Models</a:t>
            </a:r>
          </a:p>
          <a:p>
            <a:endParaRPr lang="en-IN" sz="2400" dirty="0"/>
          </a:p>
        </p:txBody>
      </p:sp>
      <p:grpSp>
        <p:nvGrpSpPr>
          <p:cNvPr id="7" name="object 3">
            <a:extLst>
              <a:ext uri="{FF2B5EF4-FFF2-40B4-BE49-F238E27FC236}">
                <a16:creationId xmlns:a16="http://schemas.microsoft.com/office/drawing/2014/main" id="{999A27CC-9DF3-C356-5C3F-7484E8689B01}"/>
              </a:ext>
            </a:extLst>
          </p:cNvPr>
          <p:cNvGrpSpPr/>
          <p:nvPr/>
        </p:nvGrpSpPr>
        <p:grpSpPr>
          <a:xfrm>
            <a:off x="2477248" y="150190"/>
            <a:ext cx="5103904" cy="1198311"/>
            <a:chOff x="2648188" y="47148"/>
            <a:chExt cx="5103904" cy="1198311"/>
          </a:xfrm>
        </p:grpSpPr>
        <p:pic>
          <p:nvPicPr>
            <p:cNvPr id="8" name="object 4">
              <a:extLst>
                <a:ext uri="{FF2B5EF4-FFF2-40B4-BE49-F238E27FC236}">
                  <a16:creationId xmlns:a16="http://schemas.microsoft.com/office/drawing/2014/main" id="{9C42DE75-765D-5353-0C3D-855C77101CD9}"/>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81B5AB53-4D5A-575E-8F29-67DD749B4CD8}"/>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CBE84EDC-437E-CEAF-5DEE-EEEFC391D79A}"/>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F786B3D7-343C-07BA-A2D6-D52B48D93B3D}"/>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77EF542D-F8F2-0D68-FE3F-243EB72A61B3}"/>
              </a:ext>
            </a:extLst>
          </p:cNvPr>
          <p:cNvSpPr txBox="1">
            <a:spLocks noGrp="1"/>
          </p:cNvSpPr>
          <p:nvPr>
            <p:ph type="title"/>
          </p:nvPr>
        </p:nvSpPr>
        <p:spPr>
          <a:xfrm>
            <a:off x="3414259" y="388809"/>
            <a:ext cx="3229881"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PREDICTION MODELS</a:t>
            </a:r>
          </a:p>
        </p:txBody>
      </p:sp>
      <p:pic>
        <p:nvPicPr>
          <p:cNvPr id="13" name="object 3">
            <a:extLst>
              <a:ext uri="{FF2B5EF4-FFF2-40B4-BE49-F238E27FC236}">
                <a16:creationId xmlns:a16="http://schemas.microsoft.com/office/drawing/2014/main" id="{9E9EC65C-CF2C-466A-511F-95218160A642}"/>
              </a:ext>
            </a:extLst>
          </p:cNvPr>
          <p:cNvPicPr/>
          <p:nvPr/>
        </p:nvPicPr>
        <p:blipFill>
          <a:blip r:embed="rId5" cstate="print"/>
          <a:stretch>
            <a:fillRect/>
          </a:stretch>
        </p:blipFill>
        <p:spPr>
          <a:xfrm>
            <a:off x="290750" y="204311"/>
            <a:ext cx="1163002" cy="424338"/>
          </a:xfrm>
          <a:prstGeom prst="rect">
            <a:avLst/>
          </a:prstGeom>
        </p:spPr>
      </p:pic>
      <p:sp>
        <p:nvSpPr>
          <p:cNvPr id="18" name="TextBox 17">
            <a:extLst>
              <a:ext uri="{FF2B5EF4-FFF2-40B4-BE49-F238E27FC236}">
                <a16:creationId xmlns:a16="http://schemas.microsoft.com/office/drawing/2014/main" id="{2925531C-2330-1FBB-1F5B-6F6E291A0E1C}"/>
              </a:ext>
            </a:extLst>
          </p:cNvPr>
          <p:cNvSpPr txBox="1"/>
          <p:nvPr/>
        </p:nvSpPr>
        <p:spPr>
          <a:xfrm>
            <a:off x="290750" y="1645699"/>
            <a:ext cx="9005650" cy="4893647"/>
          </a:xfrm>
          <a:prstGeom prst="rect">
            <a:avLst/>
          </a:prstGeom>
          <a:noFill/>
        </p:spPr>
        <p:txBody>
          <a:bodyPr wrap="square">
            <a:spAutoFit/>
          </a:bodyPr>
          <a:lstStyle/>
          <a:p>
            <a:pPr>
              <a:buNone/>
            </a:pPr>
            <a:r>
              <a:rPr lang="en-IN" sz="2400" dirty="0">
                <a:latin typeface="Times New Roman" panose="02020603050405020304" pitchFamily="18" charset="0"/>
                <a:cs typeface="Times New Roman" panose="02020603050405020304" pitchFamily="18" charset="0"/>
              </a:rPr>
              <a:t>Machine-learning techniques could be added to extend the system's functionality.</a:t>
            </a:r>
          </a:p>
          <a:p>
            <a:pPr marL="342900" lvl="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Linear Regression:</a:t>
            </a:r>
            <a:r>
              <a:rPr lang="en-IN" sz="2400" dirty="0">
                <a:latin typeface="Times New Roman" panose="02020603050405020304" pitchFamily="18" charset="0"/>
                <a:cs typeface="Times New Roman" panose="02020603050405020304" pitchFamily="18" charset="0"/>
              </a:rPr>
              <a:t> Could estimate numerical values, such as product prices or sales, using suitable features. </a:t>
            </a:r>
          </a:p>
          <a:p>
            <a:pPr marL="342900" lvl="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Time-Series Forecasting:</a:t>
            </a:r>
            <a:r>
              <a:rPr lang="en-IN" sz="2400" dirty="0">
                <a:latin typeface="Times New Roman" panose="02020603050405020304" pitchFamily="18" charset="0"/>
                <a:cs typeface="Times New Roman" panose="02020603050405020304" pitchFamily="18" charset="0"/>
              </a:rPr>
              <a:t> Could forecast future sales or prices using sufficient historical data. </a:t>
            </a:r>
          </a:p>
          <a:p>
            <a:pPr marL="342900" lvl="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Decision Tree Regression:</a:t>
            </a:r>
            <a:r>
              <a:rPr lang="en-IN" sz="2400" dirty="0">
                <a:latin typeface="Times New Roman" panose="02020603050405020304" pitchFamily="18" charset="0"/>
                <a:cs typeface="Times New Roman" panose="02020603050405020304" pitchFamily="18" charset="0"/>
              </a:rPr>
              <a:t> Could estimate numerical product-related values from relevant input features. </a:t>
            </a:r>
          </a:p>
          <a:p>
            <a:pPr marL="342900" lvl="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Classification Models:</a:t>
            </a:r>
            <a:r>
              <a:rPr lang="en-IN" sz="2400" dirty="0">
                <a:latin typeface="Times New Roman" panose="02020603050405020304" pitchFamily="18" charset="0"/>
                <a:cs typeface="Times New Roman" panose="02020603050405020304" pitchFamily="18" charset="0"/>
              </a:rPr>
              <a:t> Could categorize products into predefined groups when suitable labelled data is available. </a:t>
            </a:r>
          </a:p>
          <a:p>
            <a:pPr>
              <a:buNone/>
            </a:pPr>
            <a:r>
              <a:rPr lang="en-IN" sz="2400" dirty="0">
                <a:latin typeface="Times New Roman" panose="02020603050405020304" pitchFamily="18" charset="0"/>
                <a:cs typeface="Times New Roman" panose="02020603050405020304" pitchFamily="18" charset="0"/>
              </a:rPr>
              <a:t>Before implementing these models, the project would require a clearly defined target variable, appropriate features, and separate training and testing datasets.</a:t>
            </a:r>
          </a:p>
        </p:txBody>
      </p:sp>
    </p:spTree>
    <p:extLst>
      <p:ext uri="{BB962C8B-B14F-4D97-AF65-F5344CB8AC3E}">
        <p14:creationId xmlns:p14="http://schemas.microsoft.com/office/powerpoint/2010/main" val="11198395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object 3">
            <a:extLst>
              <a:ext uri="{FF2B5EF4-FFF2-40B4-BE49-F238E27FC236}">
                <a16:creationId xmlns:a16="http://schemas.microsoft.com/office/drawing/2014/main" id="{20B8B724-A73F-F006-222B-6A4FF27EB83E}"/>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8D96FE08-6C48-29F6-B8BF-733A1FE4EFC2}"/>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F663E0BF-F2C3-9990-10F0-85152F3B7499}"/>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AF92C391-8A67-101D-C7DE-D42721562E91}"/>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5C67209A-2109-EE49-1C12-165FDE2056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F513CBE2-66AF-A982-0CC5-B24C79BA9503}"/>
              </a:ext>
            </a:extLst>
          </p:cNvPr>
          <p:cNvSpPr txBox="1">
            <a:spLocks noGrp="1"/>
          </p:cNvSpPr>
          <p:nvPr>
            <p:ph type="title"/>
          </p:nvPr>
        </p:nvSpPr>
        <p:spPr>
          <a:xfrm>
            <a:off x="3456146" y="421077"/>
            <a:ext cx="29889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DATA VISUALIZATION</a:t>
            </a:r>
          </a:p>
        </p:txBody>
      </p:sp>
      <p:pic>
        <p:nvPicPr>
          <p:cNvPr id="13" name="object 3">
            <a:extLst>
              <a:ext uri="{FF2B5EF4-FFF2-40B4-BE49-F238E27FC236}">
                <a16:creationId xmlns:a16="http://schemas.microsoft.com/office/drawing/2014/main" id="{A2CEDFE4-2383-831F-CDEE-1CF3B0215E16}"/>
              </a:ext>
            </a:extLst>
          </p:cNvPr>
          <p:cNvPicPr/>
          <p:nvPr/>
        </p:nvPicPr>
        <p:blipFill>
          <a:blip r:embed="rId5" cstate="print"/>
          <a:stretch>
            <a:fillRect/>
          </a:stretch>
        </p:blipFill>
        <p:spPr>
          <a:xfrm>
            <a:off x="290750" y="204311"/>
            <a:ext cx="1163002" cy="424338"/>
          </a:xfrm>
          <a:prstGeom prst="rect">
            <a:avLst/>
          </a:prstGeom>
        </p:spPr>
      </p:pic>
      <p:sp>
        <p:nvSpPr>
          <p:cNvPr id="3" name="TextBox 2">
            <a:extLst>
              <a:ext uri="{FF2B5EF4-FFF2-40B4-BE49-F238E27FC236}">
                <a16:creationId xmlns:a16="http://schemas.microsoft.com/office/drawing/2014/main" id="{80312DE3-6052-01AA-71C2-AB93F54027F4}"/>
              </a:ext>
            </a:extLst>
          </p:cNvPr>
          <p:cNvSpPr txBox="1"/>
          <p:nvPr/>
        </p:nvSpPr>
        <p:spPr>
          <a:xfrm>
            <a:off x="395050" y="1390891"/>
            <a:ext cx="9372600" cy="461665"/>
          </a:xfrm>
          <a:prstGeom prst="rect">
            <a:avLst/>
          </a:prstGeom>
          <a:noFill/>
        </p:spPr>
        <p:txBody>
          <a:bodyPr wrap="square">
            <a:spAutoFit/>
          </a:bodyPr>
          <a:lstStyle/>
          <a:p>
            <a:pPr>
              <a:buNone/>
            </a:pPr>
            <a:r>
              <a:rPr lang="en-IN" sz="2400" b="1" dirty="0">
                <a:latin typeface="Times New Roman" panose="02020603050405020304" pitchFamily="18" charset="0"/>
                <a:cs typeface="Times New Roman" panose="02020603050405020304" pitchFamily="18" charset="0"/>
              </a:rPr>
              <a:t>Bar Graph                                                                  Pie Chart</a:t>
            </a:r>
          </a:p>
        </p:txBody>
      </p:sp>
      <p:pic>
        <p:nvPicPr>
          <p:cNvPr id="4" name="Picture 3">
            <a:extLst>
              <a:ext uri="{FF2B5EF4-FFF2-40B4-BE49-F238E27FC236}">
                <a16:creationId xmlns:a16="http://schemas.microsoft.com/office/drawing/2014/main" id="{603A6A98-6E2B-B098-9804-71325F7A97AA}"/>
              </a:ext>
            </a:extLst>
          </p:cNvPr>
          <p:cNvPicPr>
            <a:picLocks noChangeAspect="1"/>
          </p:cNvPicPr>
          <p:nvPr/>
        </p:nvPicPr>
        <p:blipFill>
          <a:blip r:embed="rId6"/>
          <a:stretch>
            <a:fillRect/>
          </a:stretch>
        </p:blipFill>
        <p:spPr>
          <a:xfrm>
            <a:off x="0" y="1923097"/>
            <a:ext cx="5522934" cy="3926205"/>
          </a:xfrm>
          <a:prstGeom prst="rect">
            <a:avLst/>
          </a:prstGeom>
        </p:spPr>
      </p:pic>
      <p:pic>
        <p:nvPicPr>
          <p:cNvPr id="5" name="Picture 4">
            <a:extLst>
              <a:ext uri="{FF2B5EF4-FFF2-40B4-BE49-F238E27FC236}">
                <a16:creationId xmlns:a16="http://schemas.microsoft.com/office/drawing/2014/main" id="{ADD2EDE5-752E-C437-9150-9621A0B81D40}"/>
              </a:ext>
            </a:extLst>
          </p:cNvPr>
          <p:cNvPicPr>
            <a:picLocks noChangeAspect="1"/>
          </p:cNvPicPr>
          <p:nvPr/>
        </p:nvPicPr>
        <p:blipFill>
          <a:blip r:embed="rId7"/>
          <a:stretch>
            <a:fillRect/>
          </a:stretch>
        </p:blipFill>
        <p:spPr>
          <a:xfrm>
            <a:off x="5029200" y="2094103"/>
            <a:ext cx="5029200" cy="3771900"/>
          </a:xfrm>
          <a:prstGeom prst="rect">
            <a:avLst/>
          </a:prstGeom>
        </p:spPr>
      </p:pic>
      <p:sp>
        <p:nvSpPr>
          <p:cNvPr id="15" name="TextBox 14">
            <a:extLst>
              <a:ext uri="{FF2B5EF4-FFF2-40B4-BE49-F238E27FC236}">
                <a16:creationId xmlns:a16="http://schemas.microsoft.com/office/drawing/2014/main" id="{8747B437-5D4A-43F8-0612-042AE201FD38}"/>
              </a:ext>
            </a:extLst>
          </p:cNvPr>
          <p:cNvSpPr txBox="1"/>
          <p:nvPr/>
        </p:nvSpPr>
        <p:spPr>
          <a:xfrm>
            <a:off x="37352" y="6090849"/>
            <a:ext cx="5029200" cy="923330"/>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This bar chart displays the frequency of each order ID in the dataset. Each order ID appears once in the displayed records, so every bar has a count of 1.</a:t>
            </a:r>
          </a:p>
        </p:txBody>
      </p:sp>
      <p:sp>
        <p:nvSpPr>
          <p:cNvPr id="17" name="TextBox 16">
            <a:extLst>
              <a:ext uri="{FF2B5EF4-FFF2-40B4-BE49-F238E27FC236}">
                <a16:creationId xmlns:a16="http://schemas.microsoft.com/office/drawing/2014/main" id="{1A7DF59F-38E0-F94D-BCB9-102D57E43FE4}"/>
              </a:ext>
            </a:extLst>
          </p:cNvPr>
          <p:cNvSpPr txBox="1"/>
          <p:nvPr/>
        </p:nvSpPr>
        <p:spPr>
          <a:xfrm>
            <a:off x="5081350" y="6107550"/>
            <a:ext cx="5029200" cy="1200329"/>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This pie chart shows the distribution of six order IDs. Each order ID represents approximately </a:t>
            </a:r>
            <a:r>
              <a:rPr lang="en-IN" b="1" dirty="0">
                <a:latin typeface="Times New Roman" panose="02020603050405020304" pitchFamily="18" charset="0"/>
                <a:cs typeface="Times New Roman" panose="02020603050405020304" pitchFamily="18" charset="0"/>
              </a:rPr>
              <a:t>16.7%</a:t>
            </a:r>
            <a:r>
              <a:rPr lang="en-IN" dirty="0">
                <a:latin typeface="Times New Roman" panose="02020603050405020304" pitchFamily="18" charset="0"/>
                <a:cs typeface="Times New Roman" panose="02020603050405020304" pitchFamily="18" charset="0"/>
              </a:rPr>
              <a:t> of the displayed categories, indicating an equal share in this selection.</a:t>
            </a:r>
          </a:p>
        </p:txBody>
      </p:sp>
    </p:spTree>
    <p:extLst>
      <p:ext uri="{BB962C8B-B14F-4D97-AF65-F5344CB8AC3E}">
        <p14:creationId xmlns:p14="http://schemas.microsoft.com/office/powerpoint/2010/main" val="26941927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1DE94-40B8-C08E-276D-12010886C3A2}"/>
            </a:ext>
          </a:extLst>
        </p:cNvPr>
        <p:cNvGrpSpPr/>
        <p:nvPr/>
      </p:nvGrpSpPr>
      <p:grpSpPr>
        <a:xfrm>
          <a:off x="0" y="0"/>
          <a:ext cx="0" cy="0"/>
          <a:chOff x="0" y="0"/>
          <a:chExt cx="0" cy="0"/>
        </a:xfrm>
      </p:grpSpPr>
      <p:grpSp>
        <p:nvGrpSpPr>
          <p:cNvPr id="7" name="object 3">
            <a:extLst>
              <a:ext uri="{FF2B5EF4-FFF2-40B4-BE49-F238E27FC236}">
                <a16:creationId xmlns:a16="http://schemas.microsoft.com/office/drawing/2014/main" id="{7F1CC8F1-0E6C-7C47-467C-85577438E3D2}"/>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553113F3-B43A-3B61-3805-701350EA16F8}"/>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E7FB5DE3-D26F-25C0-9F07-388D0F94E9C0}"/>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251EA08E-FC79-9143-8E1C-1295431166EF}"/>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F19B4A8F-6941-5ADE-F3E6-DBB063CE13B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3E6681FA-AAFF-009C-D2D1-B99E75DF66C7}"/>
              </a:ext>
            </a:extLst>
          </p:cNvPr>
          <p:cNvSpPr txBox="1">
            <a:spLocks noGrp="1"/>
          </p:cNvSpPr>
          <p:nvPr>
            <p:ph type="title"/>
          </p:nvPr>
        </p:nvSpPr>
        <p:spPr>
          <a:xfrm>
            <a:off x="3456146" y="421077"/>
            <a:ext cx="29889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DATA VISUALIZATION</a:t>
            </a:r>
          </a:p>
        </p:txBody>
      </p:sp>
      <p:pic>
        <p:nvPicPr>
          <p:cNvPr id="13" name="object 3">
            <a:extLst>
              <a:ext uri="{FF2B5EF4-FFF2-40B4-BE49-F238E27FC236}">
                <a16:creationId xmlns:a16="http://schemas.microsoft.com/office/drawing/2014/main" id="{DAA5D10B-2156-3B67-B130-F7CBF460C489}"/>
              </a:ext>
            </a:extLst>
          </p:cNvPr>
          <p:cNvPicPr/>
          <p:nvPr/>
        </p:nvPicPr>
        <p:blipFill>
          <a:blip r:embed="rId5" cstate="print"/>
          <a:stretch>
            <a:fillRect/>
          </a:stretch>
        </p:blipFill>
        <p:spPr>
          <a:xfrm>
            <a:off x="290750" y="204311"/>
            <a:ext cx="1163002" cy="424338"/>
          </a:xfrm>
          <a:prstGeom prst="rect">
            <a:avLst/>
          </a:prstGeom>
        </p:spPr>
      </p:pic>
      <p:sp>
        <p:nvSpPr>
          <p:cNvPr id="3" name="TextBox 2">
            <a:extLst>
              <a:ext uri="{FF2B5EF4-FFF2-40B4-BE49-F238E27FC236}">
                <a16:creationId xmlns:a16="http://schemas.microsoft.com/office/drawing/2014/main" id="{3CC7684B-D95D-A385-AFD7-E80BA21A4C93}"/>
              </a:ext>
            </a:extLst>
          </p:cNvPr>
          <p:cNvSpPr txBox="1"/>
          <p:nvPr/>
        </p:nvSpPr>
        <p:spPr>
          <a:xfrm>
            <a:off x="342900" y="1350711"/>
            <a:ext cx="9372600" cy="461665"/>
          </a:xfrm>
          <a:prstGeom prst="rect">
            <a:avLst/>
          </a:prstGeom>
          <a:noFill/>
        </p:spPr>
        <p:txBody>
          <a:bodyPr wrap="square">
            <a:spAutoFit/>
          </a:bodyPr>
          <a:lstStyle/>
          <a:p>
            <a:pPr>
              <a:buNone/>
            </a:pPr>
            <a:r>
              <a:rPr lang="en-IN" sz="2400" b="1" dirty="0">
                <a:latin typeface="Times New Roman" panose="02020603050405020304" pitchFamily="18" charset="0"/>
                <a:cs typeface="Times New Roman" panose="02020603050405020304" pitchFamily="18" charset="0"/>
              </a:rPr>
              <a:t>Histogram                                           Line Chart </a:t>
            </a:r>
          </a:p>
        </p:txBody>
      </p:sp>
      <p:pic>
        <p:nvPicPr>
          <p:cNvPr id="4" name="Picture 3">
            <a:extLst>
              <a:ext uri="{FF2B5EF4-FFF2-40B4-BE49-F238E27FC236}">
                <a16:creationId xmlns:a16="http://schemas.microsoft.com/office/drawing/2014/main" id="{C7801549-7CCE-81B5-14AC-90D80988F927}"/>
              </a:ext>
            </a:extLst>
          </p:cNvPr>
          <p:cNvPicPr>
            <a:picLocks noChangeAspect="1"/>
          </p:cNvPicPr>
          <p:nvPr/>
        </p:nvPicPr>
        <p:blipFill>
          <a:blip r:embed="rId6"/>
          <a:stretch>
            <a:fillRect/>
          </a:stretch>
        </p:blipFill>
        <p:spPr>
          <a:xfrm>
            <a:off x="0" y="1923097"/>
            <a:ext cx="5522934" cy="3926205"/>
          </a:xfrm>
          <a:prstGeom prst="rect">
            <a:avLst/>
          </a:prstGeom>
        </p:spPr>
      </p:pic>
      <p:pic>
        <p:nvPicPr>
          <p:cNvPr id="2" name="Picture 1">
            <a:extLst>
              <a:ext uri="{FF2B5EF4-FFF2-40B4-BE49-F238E27FC236}">
                <a16:creationId xmlns:a16="http://schemas.microsoft.com/office/drawing/2014/main" id="{A85EFB10-E84A-EA1D-4D09-E3A544C46DAB}"/>
              </a:ext>
            </a:extLst>
          </p:cNvPr>
          <p:cNvPicPr>
            <a:picLocks noChangeAspect="1"/>
          </p:cNvPicPr>
          <p:nvPr/>
        </p:nvPicPr>
        <p:blipFill>
          <a:blip r:embed="rId7"/>
          <a:stretch>
            <a:fillRect/>
          </a:stretch>
        </p:blipFill>
        <p:spPr>
          <a:xfrm>
            <a:off x="5029200" y="2069677"/>
            <a:ext cx="5029200" cy="3498850"/>
          </a:xfrm>
          <a:prstGeom prst="rect">
            <a:avLst/>
          </a:prstGeom>
        </p:spPr>
      </p:pic>
      <p:sp>
        <p:nvSpPr>
          <p:cNvPr id="14" name="TextBox 13">
            <a:extLst>
              <a:ext uri="{FF2B5EF4-FFF2-40B4-BE49-F238E27FC236}">
                <a16:creationId xmlns:a16="http://schemas.microsoft.com/office/drawing/2014/main" id="{C3697392-D940-BE69-BF85-4204A4E4FB49}"/>
              </a:ext>
            </a:extLst>
          </p:cNvPr>
          <p:cNvSpPr txBox="1"/>
          <p:nvPr/>
        </p:nvSpPr>
        <p:spPr>
          <a:xfrm>
            <a:off x="5015422" y="5995882"/>
            <a:ext cx="5029200" cy="1200329"/>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This line chart shows the number of records for each month in 2024. The number of records remains mostly between 15 and 17, reaches a peak of 17 in August, and decreases to 11 in November.</a:t>
            </a:r>
          </a:p>
        </p:txBody>
      </p:sp>
    </p:spTree>
    <p:extLst>
      <p:ext uri="{BB962C8B-B14F-4D97-AF65-F5344CB8AC3E}">
        <p14:creationId xmlns:p14="http://schemas.microsoft.com/office/powerpoint/2010/main" val="6104795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AB26AD-EA93-8F54-C791-F575CA2C18AA}"/>
            </a:ext>
          </a:extLst>
        </p:cNvPr>
        <p:cNvGrpSpPr/>
        <p:nvPr/>
      </p:nvGrpSpPr>
      <p:grpSpPr>
        <a:xfrm>
          <a:off x="0" y="0"/>
          <a:ext cx="0" cy="0"/>
          <a:chOff x="0" y="0"/>
          <a:chExt cx="0" cy="0"/>
        </a:xfrm>
      </p:grpSpPr>
      <p:grpSp>
        <p:nvGrpSpPr>
          <p:cNvPr id="7" name="object 3">
            <a:extLst>
              <a:ext uri="{FF2B5EF4-FFF2-40B4-BE49-F238E27FC236}">
                <a16:creationId xmlns:a16="http://schemas.microsoft.com/office/drawing/2014/main" id="{C98D7B72-9EE5-F89F-5045-B1BB1BFF8350}"/>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3A7F4F61-6E17-55DB-3641-D9B53CB69F13}"/>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F1B942D1-B2D6-0BF5-D54B-461458F9EE59}"/>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A6CBEB21-3854-031E-4E2C-DAA589E06ECC}"/>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187802FE-1355-C290-6E61-317D58875DF0}"/>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78A82AEC-B09E-F2DB-BB1A-50B08BECF2B6}"/>
              </a:ext>
            </a:extLst>
          </p:cNvPr>
          <p:cNvSpPr txBox="1">
            <a:spLocks noGrp="1"/>
          </p:cNvSpPr>
          <p:nvPr>
            <p:ph type="title"/>
          </p:nvPr>
        </p:nvSpPr>
        <p:spPr>
          <a:xfrm>
            <a:off x="3456146" y="421077"/>
            <a:ext cx="29889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DATA VISUALIZATION</a:t>
            </a:r>
          </a:p>
        </p:txBody>
      </p:sp>
      <p:pic>
        <p:nvPicPr>
          <p:cNvPr id="13" name="object 3">
            <a:extLst>
              <a:ext uri="{FF2B5EF4-FFF2-40B4-BE49-F238E27FC236}">
                <a16:creationId xmlns:a16="http://schemas.microsoft.com/office/drawing/2014/main" id="{78934359-B3CA-7F86-2B53-E077567AC110}"/>
              </a:ext>
            </a:extLst>
          </p:cNvPr>
          <p:cNvPicPr/>
          <p:nvPr/>
        </p:nvPicPr>
        <p:blipFill>
          <a:blip r:embed="rId5" cstate="print"/>
          <a:stretch>
            <a:fillRect/>
          </a:stretch>
        </p:blipFill>
        <p:spPr>
          <a:xfrm>
            <a:off x="290750" y="204311"/>
            <a:ext cx="1163002" cy="424338"/>
          </a:xfrm>
          <a:prstGeom prst="rect">
            <a:avLst/>
          </a:prstGeom>
        </p:spPr>
      </p:pic>
      <p:sp>
        <p:nvSpPr>
          <p:cNvPr id="3" name="TextBox 2">
            <a:extLst>
              <a:ext uri="{FF2B5EF4-FFF2-40B4-BE49-F238E27FC236}">
                <a16:creationId xmlns:a16="http://schemas.microsoft.com/office/drawing/2014/main" id="{4D248473-35B2-85B3-40FB-F981A906A180}"/>
              </a:ext>
            </a:extLst>
          </p:cNvPr>
          <p:cNvSpPr txBox="1"/>
          <p:nvPr/>
        </p:nvSpPr>
        <p:spPr>
          <a:xfrm>
            <a:off x="342900" y="1350711"/>
            <a:ext cx="9372600" cy="461665"/>
          </a:xfrm>
          <a:prstGeom prst="rect">
            <a:avLst/>
          </a:prstGeom>
          <a:noFill/>
        </p:spPr>
        <p:txBody>
          <a:bodyPr wrap="square">
            <a:spAutoFit/>
          </a:bodyPr>
          <a:lstStyle/>
          <a:p>
            <a:pPr>
              <a:buNone/>
            </a:pPr>
            <a:r>
              <a:rPr lang="en-IN" sz="2400" b="1" dirty="0">
                <a:latin typeface="Times New Roman" panose="02020603050405020304" pitchFamily="18" charset="0"/>
                <a:cs typeface="Times New Roman" panose="02020603050405020304" pitchFamily="18" charset="0"/>
              </a:rPr>
              <a:t>Box Plot                                                  Scatter Plot</a:t>
            </a:r>
          </a:p>
        </p:txBody>
      </p:sp>
      <p:pic>
        <p:nvPicPr>
          <p:cNvPr id="5" name="Picture 4">
            <a:extLst>
              <a:ext uri="{FF2B5EF4-FFF2-40B4-BE49-F238E27FC236}">
                <a16:creationId xmlns:a16="http://schemas.microsoft.com/office/drawing/2014/main" id="{454D81F3-6D87-A0C6-5BE1-231D56D8D640}"/>
              </a:ext>
            </a:extLst>
          </p:cNvPr>
          <p:cNvPicPr>
            <a:picLocks noChangeAspect="1"/>
          </p:cNvPicPr>
          <p:nvPr/>
        </p:nvPicPr>
        <p:blipFill>
          <a:blip r:embed="rId6"/>
          <a:stretch>
            <a:fillRect/>
          </a:stretch>
        </p:blipFill>
        <p:spPr>
          <a:xfrm>
            <a:off x="5029200" y="2094103"/>
            <a:ext cx="5029200" cy="3771900"/>
          </a:xfrm>
          <a:prstGeom prst="rect">
            <a:avLst/>
          </a:prstGeom>
        </p:spPr>
      </p:pic>
      <p:pic>
        <p:nvPicPr>
          <p:cNvPr id="2" name="Picture 1">
            <a:extLst>
              <a:ext uri="{FF2B5EF4-FFF2-40B4-BE49-F238E27FC236}">
                <a16:creationId xmlns:a16="http://schemas.microsoft.com/office/drawing/2014/main" id="{A62B22ED-5BFB-C0EA-DDB4-D052E8A5A8F6}"/>
              </a:ext>
            </a:extLst>
          </p:cNvPr>
          <p:cNvPicPr>
            <a:picLocks noChangeAspect="1"/>
          </p:cNvPicPr>
          <p:nvPr/>
        </p:nvPicPr>
        <p:blipFill>
          <a:blip r:embed="rId7"/>
          <a:stretch>
            <a:fillRect/>
          </a:stretch>
        </p:blipFill>
        <p:spPr>
          <a:xfrm>
            <a:off x="15511" y="2228850"/>
            <a:ext cx="5029200" cy="3314700"/>
          </a:xfrm>
          <a:prstGeom prst="rect">
            <a:avLst/>
          </a:prstGeom>
        </p:spPr>
      </p:pic>
      <p:sp>
        <p:nvSpPr>
          <p:cNvPr id="14" name="TextBox 13">
            <a:extLst>
              <a:ext uri="{FF2B5EF4-FFF2-40B4-BE49-F238E27FC236}">
                <a16:creationId xmlns:a16="http://schemas.microsoft.com/office/drawing/2014/main" id="{B7216160-368E-9358-7250-9FD7CCB29017}"/>
              </a:ext>
            </a:extLst>
          </p:cNvPr>
          <p:cNvSpPr txBox="1"/>
          <p:nvPr/>
        </p:nvSpPr>
        <p:spPr>
          <a:xfrm>
            <a:off x="198391" y="5858696"/>
            <a:ext cx="5029200" cy="1200329"/>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This box plot represents the distribution of the items column. Values range from 1 to 7, with a median of 4 and the middle 50% of values between 3 and 6. No outliers are visibly displayed.</a:t>
            </a:r>
          </a:p>
        </p:txBody>
      </p:sp>
    </p:spTree>
    <p:extLst>
      <p:ext uri="{BB962C8B-B14F-4D97-AF65-F5344CB8AC3E}">
        <p14:creationId xmlns:p14="http://schemas.microsoft.com/office/powerpoint/2010/main" val="35252380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F977D4-23AD-9472-1133-EEA87CA9C6FA}"/>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7D40C41D-B942-C17B-A79E-B87F8EF2E226}"/>
              </a:ext>
            </a:extLst>
          </p:cNvPr>
          <p:cNvSpPr txBox="1"/>
          <p:nvPr/>
        </p:nvSpPr>
        <p:spPr>
          <a:xfrm>
            <a:off x="290750" y="1423788"/>
            <a:ext cx="9462849" cy="4893647"/>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The Web-Based Product Tracking System demonstrates how Python can be used to collect, clean, process, and </a:t>
            </a:r>
            <a:r>
              <a:rPr lang="en-IN" sz="2400" dirty="0" err="1">
                <a:latin typeface="Times New Roman" panose="02020603050405020304" pitchFamily="18" charset="0"/>
                <a:cs typeface="Times New Roman" panose="02020603050405020304" pitchFamily="18" charset="0"/>
              </a:rPr>
              <a:t>analyze</a:t>
            </a:r>
            <a:r>
              <a:rPr lang="en-IN" sz="2400" dirty="0">
                <a:latin typeface="Times New Roman" panose="02020603050405020304" pitchFamily="18" charset="0"/>
                <a:cs typeface="Times New Roman" panose="02020603050405020304" pitchFamily="18" charset="0"/>
              </a:rPr>
              <a:t> e-commerce data. Pandas and NumPy support data manipulation and statistical analysis, while Matplotlib provides visual representations of the results.</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The project handles duplicate records and selected missing values, converts relevant data types, performs filtering and aggregation, and generates charts to reveal patterns in the dataset. The cleaned data and numerical summary are saved as CSV files for further analysis.</a:t>
            </a:r>
          </a:p>
          <a:p>
            <a:r>
              <a:rPr lang="en-IN" sz="2400" dirty="0">
                <a:latin typeface="Times New Roman" panose="02020603050405020304" pitchFamily="18" charset="0"/>
                <a:cs typeface="Times New Roman" panose="02020603050405020304" pitchFamily="18" charset="0"/>
              </a:rPr>
              <a:t>Future enhancements could include live product-price monitoring, inventory tracking, automated data updates, and machine-learning-based forecasting.</a:t>
            </a:r>
          </a:p>
          <a:p>
            <a:endParaRPr lang="en-IN" sz="2400" b="1" dirty="0">
              <a:latin typeface="Times New Roman" panose="02020603050405020304" pitchFamily="18" charset="0"/>
              <a:cs typeface="Times New Roman" panose="02020603050405020304" pitchFamily="18" charset="0"/>
            </a:endParaRPr>
          </a:p>
        </p:txBody>
      </p:sp>
      <p:grpSp>
        <p:nvGrpSpPr>
          <p:cNvPr id="7" name="object 3">
            <a:extLst>
              <a:ext uri="{FF2B5EF4-FFF2-40B4-BE49-F238E27FC236}">
                <a16:creationId xmlns:a16="http://schemas.microsoft.com/office/drawing/2014/main" id="{0227EBAC-2CBE-7AE1-C205-EEBFED3DDD63}"/>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C87A52C6-4E17-63A4-EEB7-60C0A81628E2}"/>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F5746EA0-AA9E-C5C0-639D-7463960D15A9}"/>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6F98D599-2ABA-1FA8-572A-D153357D6D5D}"/>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64FCC29C-741E-9333-F1B7-B0C64851F6EE}"/>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0B47FE09-BBAA-702B-FDD1-567E43169F63}"/>
              </a:ext>
            </a:extLst>
          </p:cNvPr>
          <p:cNvSpPr txBox="1">
            <a:spLocks noGrp="1"/>
          </p:cNvSpPr>
          <p:nvPr>
            <p:ph type="title"/>
          </p:nvPr>
        </p:nvSpPr>
        <p:spPr>
          <a:xfrm>
            <a:off x="3945255" y="432593"/>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CONCLUSION</a:t>
            </a:r>
          </a:p>
        </p:txBody>
      </p:sp>
      <p:pic>
        <p:nvPicPr>
          <p:cNvPr id="13" name="object 3">
            <a:extLst>
              <a:ext uri="{FF2B5EF4-FFF2-40B4-BE49-F238E27FC236}">
                <a16:creationId xmlns:a16="http://schemas.microsoft.com/office/drawing/2014/main" id="{C71FD346-A23D-7D62-9834-98C88318A006}"/>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26101597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5B32A-9B14-7FA0-D59B-AF32355B7813}"/>
              </a:ext>
            </a:extLst>
          </p:cNvPr>
          <p:cNvSpPr>
            <a:spLocks noGrp="1"/>
          </p:cNvSpPr>
          <p:nvPr>
            <p:ph type="ctrTitle"/>
          </p:nvPr>
        </p:nvSpPr>
        <p:spPr>
          <a:xfrm>
            <a:off x="3200400" y="3352800"/>
            <a:ext cx="4038600" cy="738664"/>
          </a:xfrm>
        </p:spPr>
        <p:txBody>
          <a:bodyPr/>
          <a:lstStyle/>
          <a:p>
            <a:r>
              <a:rPr lang="en-IN" sz="4800" dirty="0">
                <a:solidFill>
                  <a:schemeClr val="accent6">
                    <a:lumMod val="75000"/>
                  </a:schemeClr>
                </a:solidFill>
              </a:rPr>
              <a:t>THANK YOU</a:t>
            </a:r>
          </a:p>
        </p:txBody>
      </p:sp>
      <p:pic>
        <p:nvPicPr>
          <p:cNvPr id="4" name="object 3">
            <a:extLst>
              <a:ext uri="{FF2B5EF4-FFF2-40B4-BE49-F238E27FC236}">
                <a16:creationId xmlns:a16="http://schemas.microsoft.com/office/drawing/2014/main" id="{82A927C3-140A-7ABC-91C2-249562DF33FB}"/>
              </a:ext>
            </a:extLst>
          </p:cNvPr>
          <p:cNvPicPr/>
          <p:nvPr/>
        </p:nvPicPr>
        <p:blipFill>
          <a:blip r:embed="rId2"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7467787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2664</TotalTime>
  <Words>2088</Words>
  <Application>Microsoft Office PowerPoint</Application>
  <PresentationFormat>Custom</PresentationFormat>
  <Paragraphs>171</Paragraphs>
  <Slides>22</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Cambria</vt:lpstr>
      <vt:lpstr>Palatino Linotype</vt:lpstr>
      <vt:lpstr>Times New Roman</vt:lpstr>
      <vt:lpstr>Office Theme</vt:lpstr>
      <vt:lpstr>Data Analysis Essentials Cornerstone Project Review  3</vt:lpstr>
      <vt:lpstr>PowerPoint Presentation</vt:lpstr>
      <vt:lpstr>ABSTRACT</vt:lpstr>
      <vt:lpstr>PowerPoint Presentation</vt:lpstr>
      <vt:lpstr>PowerPoint Presentation</vt:lpstr>
      <vt:lpstr>PowerPoint Presentation</vt:lpstr>
      <vt:lpstr>PowerPoint Presentation</vt:lpstr>
      <vt:lpstr>PowerPoint Presentation</vt:lpstr>
      <vt:lpstr>MISSING VALUES AND DUPLICATE      RECORDS  </vt:lpstr>
      <vt:lpstr>Coding Implementation with Step-by-Step Explanation</vt:lpstr>
      <vt:lpstr>Coding Implementation with Step-by-Step Explanation</vt:lpstr>
      <vt:lpstr>EXPECTED OUTPUTS</vt:lpstr>
      <vt:lpstr>ACTUAL OUTPUTS</vt:lpstr>
      <vt:lpstr>ACCURACY  DETAILS</vt:lpstr>
      <vt:lpstr>ACCURACY  DETAILS</vt:lpstr>
      <vt:lpstr>PREDICTION MODELS</vt:lpstr>
      <vt:lpstr>PREDICTION MODELS</vt:lpstr>
      <vt:lpstr>DATA VISUALIZATION</vt:lpstr>
      <vt:lpstr>DATA VISUALIZATION</vt:lpstr>
      <vt:lpstr>DATA VISUALIZATION</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Zeroth Review</dc:title>
  <dc:creator>RESHMA BASAPATHI</dc:creator>
  <cp:lastModifiedBy>NAGA SAI ASMITHA</cp:lastModifiedBy>
  <cp:revision>48</cp:revision>
  <cp:lastPrinted>2025-10-14T18:21:49Z</cp:lastPrinted>
  <dcterms:created xsi:type="dcterms:W3CDTF">2025-10-10T08:28:06Z</dcterms:created>
  <dcterms:modified xsi:type="dcterms:W3CDTF">2026-10-25T16:32:20Z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2025-09-12T00:00:00Z</vt:filetime>
  </property>
  <property fmtid="{D5CDD505-2E9C-101B-9397-08002B2CF9AE}" pid="3" name="LastSaved">
    <vt:filetime>2025-10-10T00:00:00Z</vt:filetime>
  </property>
</Properties>
</file>